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20"/>
  </p:notesMasterIdLst>
  <p:sldIdLst>
    <p:sldId id="256" r:id="rId2"/>
    <p:sldId id="259" r:id="rId3"/>
    <p:sldId id="260" r:id="rId4"/>
    <p:sldId id="261" r:id="rId5"/>
    <p:sldId id="264" r:id="rId6"/>
    <p:sldId id="265" r:id="rId7"/>
    <p:sldId id="266" r:id="rId8"/>
    <p:sldId id="267" r:id="rId9"/>
    <p:sldId id="293" r:id="rId10"/>
    <p:sldId id="268" r:id="rId11"/>
    <p:sldId id="294" r:id="rId12"/>
    <p:sldId id="269" r:id="rId13"/>
    <p:sldId id="270" r:id="rId14"/>
    <p:sldId id="274" r:id="rId15"/>
    <p:sldId id="275" r:id="rId16"/>
    <p:sldId id="277" r:id="rId17"/>
    <p:sldId id="278" r:id="rId18"/>
    <p:sldId id="292" r:id="rId19"/>
  </p:sldIdLst>
  <p:sldSz cx="12192000" cy="6858000"/>
  <p:notesSz cx="6858000" cy="9144000"/>
  <p:embeddedFontLst>
    <p:embeddedFont>
      <p:font typeface="Consolas" panose="020B0609020204030204" pitchFamily="49" charset="0"/>
      <p:regular r:id="rId21"/>
      <p:bold r:id="rId22"/>
      <p:italic r:id="rId23"/>
      <p:boldItalic r:id="rId24"/>
    </p:embeddedFont>
    <p:embeddedFont>
      <p:font typeface="Economica" panose="02000506040000020004" pitchFamily="2" charset="77"/>
      <p:regular r:id="rId25"/>
      <p:bold r:id="rId26"/>
      <p:italic r:id="rId27"/>
      <p:boldItalic r:id="rId28"/>
    </p:embeddedFont>
    <p:embeddedFont>
      <p:font typeface="Quicksand" pitchFamily="2" charset="77"/>
      <p:regular r:id="rId29"/>
      <p:bold r:id="rId30"/>
    </p:embeddedFont>
    <p:embeddedFont>
      <p:font typeface="Roboto" panose="02000000000000000000" pitchFamily="2"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1" roundtripDataSignature="AMtx7mg4MTa/PFjWeeH+1PYiaQkpJn1Tr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219"/>
  </p:normalViewPr>
  <p:slideViewPr>
    <p:cSldViewPr snapToGrid="0">
      <p:cViewPr varScale="1">
        <p:scale>
          <a:sx n="107" d="100"/>
          <a:sy n="107" d="100"/>
        </p:scale>
        <p:origin x="118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21" Type="http://schemas.openxmlformats.org/officeDocument/2006/relationships/font" Target="fonts/font1.fntdata"/><Relationship Id="rId34" Type="http://schemas.openxmlformats.org/officeDocument/2006/relationships/font" Target="fonts/font14.fntdata"/><Relationship Id="rId55"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font" Target="fonts/font1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font" Target="fonts/font12.fntdata"/><Relationship Id="rId53"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8" Type="http://schemas.openxmlformats.org/officeDocument/2006/relationships/slide" Target="slides/slide7.xml"/><Relationship Id="rId51" Type="http://customschemas.google.com/relationships/presentationmetadata" Target="NUL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0" name="Google Shape;8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a1cf8ce4d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g3a1cf8ce4d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If we have a bidirectional decoder, it will read ahead in the target sentence and cheat, using information that will not present at inference! There won’t be any error messages, but the model is essentially learning how to operate under the presence of information that will never be present in its sequence embeddings for the output generated thus far. </a:t>
            </a:r>
            <a:endParaRPr/>
          </a:p>
        </p:txBody>
      </p:sp>
      <p:sp>
        <p:nvSpPr>
          <p:cNvPr id="113" name="Google Shape;113;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3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Encoder is on the left and Decoder is on the right. Our Encoder learns attended representations of the English input sequence. Our decoder uses cross-attention to compare an attended representation of the Spanish output seen so far with the input attended English sequence, to decide what to spit out next. </a:t>
            </a:r>
            <a:endParaRPr/>
          </a:p>
        </p:txBody>
      </p:sp>
      <p:sp>
        <p:nvSpPr>
          <p:cNvPr id="120" name="Google Shape;120;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3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0" name="Google Shape;140;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3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TRANSITION: We've been looking at attention for generation (translation, next-token prediction). Now let's flip it — what if we use attention not to generate text, but to learn better representations of text? That's BERT.</a:t>
            </a:r>
          </a:p>
        </p:txBody>
      </p:sp>
      <p:sp>
        <p:nvSpPr>
          <p:cNvPr id="147" name="Google Shape;147;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3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BERT would also attempt to predict from one sentence whether another appeared next in the original document, to learn sentence-to-sentence relationships. </a:t>
            </a:r>
            <a:endParaRPr/>
          </a:p>
        </p:txBody>
      </p:sp>
      <p:sp>
        <p:nvSpPr>
          <p:cNvPr id="154" name="Google Shape;154;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4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BERT would also attempt to predict from one sentence whether another appeared next in the original document, to learn sentence-to-sentence relationships. </a:t>
            </a:r>
            <a:endParaRPr/>
          </a:p>
        </p:txBody>
      </p:sp>
      <p:sp>
        <p:nvSpPr>
          <p:cNvPr id="161" name="Google Shape;161;p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9B3632CC-1D12-6672-A7F9-F6E46408D707}"/>
            </a:ext>
          </a:extLst>
        </p:cNvPr>
        <p:cNvGrpSpPr/>
        <p:nvPr/>
      </p:nvGrpSpPr>
      <p:grpSpPr>
        <a:xfrm>
          <a:off x="0" y="0"/>
          <a:ext cx="0" cy="0"/>
          <a:chOff x="0" y="0"/>
          <a:chExt cx="0" cy="0"/>
        </a:xfrm>
      </p:grpSpPr>
      <p:sp>
        <p:nvSpPr>
          <p:cNvPr id="160" name="Google Shape;160;p40:notes">
            <a:extLst>
              <a:ext uri="{FF2B5EF4-FFF2-40B4-BE49-F238E27FC236}">
                <a16:creationId xmlns:a16="http://schemas.microsoft.com/office/drawing/2014/main" id="{324BA020-C76F-8D52-1687-C3193013FE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BERT would also attempt to predict from one sentence whether another appeared next in the original document, to learn sentence-to-sentence relationships. </a:t>
            </a:r>
            <a:endParaRPr/>
          </a:p>
        </p:txBody>
      </p:sp>
      <p:sp>
        <p:nvSpPr>
          <p:cNvPr id="161" name="Google Shape;161;p40:notes">
            <a:extLst>
              <a:ext uri="{FF2B5EF4-FFF2-40B4-BE49-F238E27FC236}">
                <a16:creationId xmlns:a16="http://schemas.microsoft.com/office/drawing/2014/main" id="{6F314FF6-C9F5-5110-4852-F0AA1EC68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28989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8" name="Google Shape;168;p4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we do something similar with a transformer. The difference, however, is that transformers do not process in sequence. As such, instead, we include a ‘causal mask’, such that predictions at different points in the sequence are made based on attention that ignores tokens later in the sequence. This forces the model to only consider information it will have at inference time.</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smtClean="0">
                <a:solidFill>
                  <a:schemeClr val="dk1"/>
                </a:solidFill>
                <a:latin typeface="Calibri"/>
                <a:ea typeface="Calibri"/>
                <a:cs typeface="Calibri"/>
                <a:sym typeface="Calibri"/>
              </a:rPr>
              <a:t>11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137890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4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5" name="Google Shape;175;p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4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3" name="Google Shape;183;p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The host of issues is very extensive. Be careful what intelligence you ascribe to these models, or what you trust them to do. </a:t>
            </a:r>
            <a:endParaRPr/>
          </a:p>
        </p:txBody>
      </p:sp>
      <p:sp>
        <p:nvSpPr>
          <p:cNvPr id="208" name="Google Shape;208;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4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5" name="Google Shape;215;p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5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9" name="Google Shape;229;p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6" name="Google Shape;23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a:extLst>
            <a:ext uri="{FF2B5EF4-FFF2-40B4-BE49-F238E27FC236}">
              <a16:creationId xmlns:a16="http://schemas.microsoft.com/office/drawing/2014/main" id="{1D678F0F-A4EE-1000-3ABF-3594198B22AA}"/>
            </a:ext>
          </a:extLst>
        </p:cNvPr>
        <p:cNvGrpSpPr/>
        <p:nvPr/>
      </p:nvGrpSpPr>
      <p:grpSpPr>
        <a:xfrm>
          <a:off x="0" y="0"/>
          <a:ext cx="0" cy="0"/>
          <a:chOff x="0" y="0"/>
          <a:chExt cx="0" cy="0"/>
        </a:xfrm>
      </p:grpSpPr>
      <p:sp>
        <p:nvSpPr>
          <p:cNvPr id="336" name="Google Shape;336;p17:notes">
            <a:extLst>
              <a:ext uri="{FF2B5EF4-FFF2-40B4-BE49-F238E27FC236}">
                <a16:creationId xmlns:a16="http://schemas.microsoft.com/office/drawing/2014/main" id="{446C043D-1276-A0D8-8EE8-78E9577003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7" name="Google Shape;337;p17:notes">
            <a:extLst>
              <a:ext uri="{FF2B5EF4-FFF2-40B4-BE49-F238E27FC236}">
                <a16:creationId xmlns:a16="http://schemas.microsoft.com/office/drawing/2014/main" id="{D698BD29-8F39-A046-55BF-9D215E4F9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Weights are not initialized until you “build” the model (or compile it, which will first build). </a:t>
            </a:r>
            <a:endParaRPr/>
          </a:p>
        </p:txBody>
      </p:sp>
      <p:sp>
        <p:nvSpPr>
          <p:cNvPr id="338" name="Google Shape;338;p17:notes">
            <a:extLst>
              <a:ext uri="{FF2B5EF4-FFF2-40B4-BE49-F238E27FC236}">
                <a16:creationId xmlns:a16="http://schemas.microsoft.com/office/drawing/2014/main" id="{C831F1A4-6BB5-4C40-C83D-73565886A644}"/>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18</a:t>
            </a:fld>
            <a:endParaRPr/>
          </a:p>
        </p:txBody>
      </p:sp>
    </p:spTree>
    <p:extLst>
      <p:ext uri="{BB962C8B-B14F-4D97-AF65-F5344CB8AC3E}">
        <p14:creationId xmlns:p14="http://schemas.microsoft.com/office/powerpoint/2010/main" val="30918833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9"/>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1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20" name="Google Shape;20;p19"/>
          <p:cNvSpPr txBox="1"/>
          <p:nvPr/>
        </p:nvSpPr>
        <p:spPr>
          <a:xfrm>
            <a:off x="168440" y="6349018"/>
            <a:ext cx="1695083" cy="33855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0" i="0" u="none" strike="noStrike" cap="none">
                <a:solidFill>
                  <a:schemeClr val="dk1"/>
                </a:solidFill>
                <a:latin typeface="Economica"/>
                <a:ea typeface="Economica"/>
                <a:cs typeface="Economica"/>
                <a:sym typeface="Economica"/>
              </a:rPr>
              <a:t>© Gordon Burtch, 2026</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2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2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4" name="Google Shape;24;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2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2"/>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0" name="Google Shape;30;p22"/>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1" name="Google Shape;31;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4"/>
        <p:cNvGrpSpPr/>
        <p:nvPr/>
      </p:nvGrpSpPr>
      <p:grpSpPr>
        <a:xfrm>
          <a:off x="0" y="0"/>
          <a:ext cx="0" cy="0"/>
          <a:chOff x="0" y="0"/>
          <a:chExt cx="0" cy="0"/>
        </a:xfrm>
      </p:grpSpPr>
      <p:sp>
        <p:nvSpPr>
          <p:cNvPr id="35" name="Google Shape;35;p23"/>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2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7" name="Google Shape;37;p2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2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6"/>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7"/>
          <p:cNvSpPr>
            <a:spLocks noGrp="1"/>
          </p:cNvSpPr>
          <p:nvPr>
            <p:ph type="pic" idx="2"/>
          </p:nvPr>
        </p:nvSpPr>
        <p:spPr>
          <a:xfrm>
            <a:off x="5183188" y="987425"/>
            <a:ext cx="6172200" cy="4873625"/>
          </a:xfrm>
          <a:prstGeom prst="rect">
            <a:avLst/>
          </a:prstGeom>
          <a:noFill/>
          <a:ln>
            <a:noFill/>
          </a:ln>
        </p:spPr>
      </p:sp>
      <p:sp>
        <p:nvSpPr>
          <p:cNvPr id="62" name="Google Shape;62;p2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8"/>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9"/>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9"/>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grpSp>
        <p:nvGrpSpPr>
          <p:cNvPr id="82" name="Google Shape;82;p1"/>
          <p:cNvGrpSpPr/>
          <p:nvPr/>
        </p:nvGrpSpPr>
        <p:grpSpPr>
          <a:xfrm>
            <a:off x="3058028" y="1385048"/>
            <a:ext cx="5999745" cy="1657524"/>
            <a:chOff x="3164307" y="2588206"/>
            <a:chExt cx="5999745" cy="1657524"/>
          </a:xfrm>
        </p:grpSpPr>
        <p:grpSp>
          <p:nvGrpSpPr>
            <p:cNvPr id="84" name="Google Shape;84;p1"/>
            <p:cNvGrpSpPr/>
            <p:nvPr/>
          </p:nvGrpSpPr>
          <p:grpSpPr>
            <a:xfrm>
              <a:off x="3164307" y="2588206"/>
              <a:ext cx="1213182" cy="661736"/>
              <a:chOff x="3132555" y="2419542"/>
              <a:chExt cx="1651279" cy="1070810"/>
            </a:xfrm>
          </p:grpSpPr>
          <p:cxnSp>
            <p:nvCxnSpPr>
              <p:cNvPr id="85" name="Google Shape;85;p1"/>
              <p:cNvCxnSpPr/>
              <p:nvPr/>
            </p:nvCxnSpPr>
            <p:spPr>
              <a:xfrm>
                <a:off x="3132555" y="2419542"/>
                <a:ext cx="1651279" cy="0"/>
              </a:xfrm>
              <a:prstGeom prst="straightConnector1">
                <a:avLst/>
              </a:prstGeom>
              <a:noFill/>
              <a:ln w="38100" cap="flat" cmpd="sng">
                <a:solidFill>
                  <a:schemeClr val="accent1"/>
                </a:solidFill>
                <a:prstDash val="solid"/>
                <a:miter lim="800000"/>
                <a:headEnd type="none" w="sm" len="sm"/>
                <a:tailEnd type="none" w="sm" len="sm"/>
              </a:ln>
            </p:spPr>
          </p:cxnSp>
          <p:cxnSp>
            <p:nvCxnSpPr>
              <p:cNvPr id="86" name="Google Shape;86;p1"/>
              <p:cNvCxnSpPr/>
              <p:nvPr/>
            </p:nvCxnSpPr>
            <p:spPr>
              <a:xfrm rot="10800000">
                <a:off x="3132555" y="2419542"/>
                <a:ext cx="0" cy="1070810"/>
              </a:xfrm>
              <a:prstGeom prst="straightConnector1">
                <a:avLst/>
              </a:prstGeom>
              <a:noFill/>
              <a:ln w="38100" cap="flat" cmpd="sng">
                <a:solidFill>
                  <a:schemeClr val="accent1"/>
                </a:solidFill>
                <a:prstDash val="solid"/>
                <a:miter lim="800000"/>
                <a:headEnd type="none" w="sm" len="sm"/>
                <a:tailEnd type="none" w="sm" len="sm"/>
              </a:ln>
            </p:spPr>
          </p:cxnSp>
        </p:grpSp>
        <p:grpSp>
          <p:nvGrpSpPr>
            <p:cNvPr id="87" name="Google Shape;87;p1"/>
            <p:cNvGrpSpPr/>
            <p:nvPr/>
          </p:nvGrpSpPr>
          <p:grpSpPr>
            <a:xfrm rot="10800000">
              <a:off x="8071184" y="3583994"/>
              <a:ext cx="1092868" cy="661736"/>
              <a:chOff x="3269088" y="2458482"/>
              <a:chExt cx="1388919" cy="1070810"/>
            </a:xfrm>
          </p:grpSpPr>
          <p:cxnSp>
            <p:nvCxnSpPr>
              <p:cNvPr id="88" name="Google Shape;88;p1"/>
              <p:cNvCxnSpPr/>
              <p:nvPr/>
            </p:nvCxnSpPr>
            <p:spPr>
              <a:xfrm>
                <a:off x="3269088" y="2458484"/>
                <a:ext cx="1388919" cy="0"/>
              </a:xfrm>
              <a:prstGeom prst="straightConnector1">
                <a:avLst/>
              </a:prstGeom>
              <a:noFill/>
              <a:ln w="38100" cap="flat" cmpd="sng">
                <a:solidFill>
                  <a:schemeClr val="accent1"/>
                </a:solidFill>
                <a:prstDash val="solid"/>
                <a:miter lim="800000"/>
                <a:headEnd type="none" w="sm" len="sm"/>
                <a:tailEnd type="none" w="sm" len="sm"/>
              </a:ln>
            </p:spPr>
          </p:cxnSp>
          <p:cxnSp>
            <p:nvCxnSpPr>
              <p:cNvPr id="89" name="Google Shape;89;p1"/>
              <p:cNvCxnSpPr/>
              <p:nvPr/>
            </p:nvCxnSpPr>
            <p:spPr>
              <a:xfrm rot="10800000">
                <a:off x="3269088" y="2458482"/>
                <a:ext cx="0" cy="1070810"/>
              </a:xfrm>
              <a:prstGeom prst="straightConnector1">
                <a:avLst/>
              </a:prstGeom>
              <a:noFill/>
              <a:ln w="38100" cap="flat" cmpd="sng">
                <a:solidFill>
                  <a:schemeClr val="accent1"/>
                </a:solidFill>
                <a:prstDash val="solid"/>
                <a:miter lim="800000"/>
                <a:headEnd type="none" w="sm" len="sm"/>
                <a:tailEnd type="none" w="sm" len="sm"/>
              </a:ln>
            </p:spPr>
          </p:cxnSp>
        </p:grpSp>
      </p:grpSp>
      <p:sp>
        <p:nvSpPr>
          <p:cNvPr id="90" name="Google Shape;90;p1"/>
          <p:cNvSpPr txBox="1"/>
          <p:nvPr/>
        </p:nvSpPr>
        <p:spPr>
          <a:xfrm>
            <a:off x="3516233" y="1715916"/>
            <a:ext cx="4995106" cy="101562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6000" b="0" i="0" u="none" strike="noStrike" cap="none" dirty="0">
                <a:solidFill>
                  <a:schemeClr val="dk1"/>
                </a:solidFill>
                <a:latin typeface="Economica"/>
                <a:ea typeface="Economica"/>
                <a:cs typeface="Economica"/>
                <a:sym typeface="Economica"/>
              </a:rPr>
              <a:t>Generative Text</a:t>
            </a:r>
            <a:endParaRPr sz="3600" b="0" i="0" u="none" strike="noStrike" cap="none" dirty="0">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3a1cf8ce4d7_0_0"/>
          <p:cNvSpPr txBox="1"/>
          <p:nvPr/>
        </p:nvSpPr>
        <p:spPr>
          <a:xfrm>
            <a:off x="2865521" y="586938"/>
            <a:ext cx="6461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dirty="0">
                <a:solidFill>
                  <a:schemeClr val="dk1"/>
                </a:solidFill>
                <a:latin typeface="Economica"/>
                <a:ea typeface="Economica"/>
                <a:cs typeface="Economica"/>
                <a:sym typeface="Economica"/>
              </a:rPr>
              <a:t>This Week’s Agenda</a:t>
            </a:r>
            <a:endParaRPr sz="1400" b="0" i="0" u="none" strike="noStrike" cap="none" dirty="0">
              <a:solidFill>
                <a:srgbClr val="000000"/>
              </a:solidFill>
              <a:latin typeface="Arial"/>
              <a:ea typeface="Arial"/>
              <a:cs typeface="Arial"/>
              <a:sym typeface="Arial"/>
            </a:endParaRPr>
          </a:p>
        </p:txBody>
      </p:sp>
      <p:sp>
        <p:nvSpPr>
          <p:cNvPr id="109" name="Google Shape;109;g3a1cf8ce4d7_0_0"/>
          <p:cNvSpPr txBox="1"/>
          <p:nvPr/>
        </p:nvSpPr>
        <p:spPr>
          <a:xfrm>
            <a:off x="902212" y="2131744"/>
            <a:ext cx="6874500" cy="240061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Quicksand"/>
                <a:ea typeface="Quicksand"/>
                <a:cs typeface="Quicksand"/>
                <a:sym typeface="Quicksand"/>
              </a:rPr>
              <a:t>AI News</a:t>
            </a:r>
          </a:p>
          <a:p>
            <a:pPr marL="0" marR="0" lvl="0" indent="0" algn="l" rtl="0">
              <a:lnSpc>
                <a:spcPct val="100000"/>
              </a:lnSpc>
              <a:spcBef>
                <a:spcPts val="0"/>
              </a:spcBef>
              <a:spcAft>
                <a:spcPts val="0"/>
              </a:spcAft>
              <a:buClr>
                <a:srgbClr val="000000"/>
              </a:buClr>
              <a:buSzPts val="2000"/>
              <a:buFont typeface="Arial"/>
              <a:buNone/>
            </a:pPr>
            <a:endParaRPr lang="en-US" sz="2000" b="1" i="0" u="none" strike="noStrike" cap="none" dirty="0">
              <a:solidFill>
                <a:schemeClr val="dk1"/>
              </a:solidFill>
              <a:latin typeface="Quicksand"/>
              <a:ea typeface="Quicksand"/>
              <a:cs typeface="Quicksand"/>
              <a:sym typeface="Quicksand"/>
            </a:endParaRPr>
          </a:p>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Quicksand"/>
                <a:ea typeface="Quicksand"/>
                <a:cs typeface="Quicksand"/>
                <a:sym typeface="Quicksand"/>
              </a:rPr>
              <a:t>Generative Language Models</a:t>
            </a:r>
            <a:endParaRPr sz="1800" b="0" i="0" u="none" strike="noStrike" cap="none" dirty="0">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Machine translation</a:t>
            </a:r>
            <a:endParaRPr dirty="0"/>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Large language models</a:t>
            </a:r>
            <a:endParaRPr dirty="0"/>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Auto-regressive (large) language models</a:t>
            </a:r>
            <a:endParaRPr dirty="0"/>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Pre-trained LLMs</a:t>
            </a:r>
            <a:endParaRPr lang="en-US" sz="1800" dirty="0">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dirty="0">
                <a:solidFill>
                  <a:schemeClr val="dk1"/>
                </a:solidFill>
                <a:latin typeface="Quicksand"/>
                <a:sym typeface="Quicksand"/>
              </a:rPr>
              <a:t>LLM + RAG</a:t>
            </a:r>
            <a:endParaRPr dirty="0"/>
          </a:p>
        </p:txBody>
      </p:sp>
      <p:pic>
        <p:nvPicPr>
          <p:cNvPr id="110" name="Google Shape;110;g3a1cf8ce4d7_0_0" descr="Build an Effective Meeting Agenda Template | WorkPatterns"/>
          <p:cNvPicPr preferRelativeResize="0"/>
          <p:nvPr/>
        </p:nvPicPr>
        <p:blipFill rotWithShape="1">
          <a:blip r:embed="rId3">
            <a:alphaModFix/>
          </a:blip>
          <a:srcRect/>
          <a:stretch/>
        </p:blipFill>
        <p:spPr>
          <a:xfrm>
            <a:off x="7165298" y="2476129"/>
            <a:ext cx="5026701" cy="2642947"/>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33"/>
          <p:cNvSpPr txBox="1"/>
          <p:nvPr/>
        </p:nvSpPr>
        <p:spPr>
          <a:xfrm>
            <a:off x="2865521" y="586938"/>
            <a:ext cx="6460957" cy="92333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Recall: Machine Translation</a:t>
            </a:r>
            <a:endParaRPr sz="1400" b="0" i="0" u="none" strike="noStrike" cap="none">
              <a:solidFill>
                <a:srgbClr val="000000"/>
              </a:solidFill>
              <a:latin typeface="Arial"/>
              <a:ea typeface="Arial"/>
              <a:cs typeface="Arial"/>
              <a:sym typeface="Arial"/>
            </a:endParaRPr>
          </a:p>
        </p:txBody>
      </p:sp>
      <p:sp>
        <p:nvSpPr>
          <p:cNvPr id="116" name="Google Shape;116;p33"/>
          <p:cNvSpPr txBox="1"/>
          <p:nvPr/>
        </p:nvSpPr>
        <p:spPr>
          <a:xfrm>
            <a:off x="768888" y="1791969"/>
            <a:ext cx="4514485" cy="427805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chemeClr val="dk1"/>
                </a:solidFill>
                <a:latin typeface="Quicksand"/>
                <a:ea typeface="Quicksand"/>
                <a:cs typeface="Quicksand"/>
                <a:sym typeface="Quicksand"/>
              </a:rPr>
              <a:t>Similar Idea with Some Additions</a:t>
            </a:r>
            <a:br>
              <a:rPr lang="en-US" sz="2000" b="1" i="0" u="none" strike="noStrike" cap="none">
                <a:solidFill>
                  <a:schemeClr val="dk1"/>
                </a:solidFill>
                <a:latin typeface="Quicksand"/>
                <a:ea typeface="Quicksand"/>
                <a:cs typeface="Quicksand"/>
                <a:sym typeface="Quicksand"/>
              </a:rPr>
            </a:b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Include an ‘encoder’ that first processes the entire input sequence to obtain an embedded representation of the input text.</a:t>
            </a:r>
            <a:br>
              <a:rPr lang="en-US" sz="1800" b="0" i="0" u="none" strike="noStrike" cap="none">
                <a:solidFill>
                  <a:schemeClr val="dk1"/>
                </a:solidFill>
                <a:latin typeface="Quicksand"/>
                <a:ea typeface="Quicksand"/>
                <a:cs typeface="Quicksand"/>
                <a:sym typeface="Quicksand"/>
              </a:rPr>
            </a:b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We are not just generating ‘plausible’ text now; we are generating plausible text that aligns with (i.e., conditioned upon) the input text.</a:t>
            </a:r>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Our encoder can be bidirectional, but our decoder must be </a:t>
            </a:r>
            <a:r>
              <a:rPr lang="en-US" sz="1800" b="1" i="0" u="sng" strike="noStrike" cap="none">
                <a:solidFill>
                  <a:schemeClr val="dk1"/>
                </a:solidFill>
                <a:latin typeface="Quicksand"/>
                <a:ea typeface="Quicksand"/>
                <a:cs typeface="Quicksand"/>
                <a:sym typeface="Quicksand"/>
              </a:rPr>
              <a:t>unidirectional</a:t>
            </a:r>
            <a:r>
              <a:rPr lang="en-US" sz="1800" b="0" i="0" u="none" strike="noStrike" cap="none">
                <a:solidFill>
                  <a:schemeClr val="dk1"/>
                </a:solidFill>
                <a:latin typeface="Quicksand"/>
                <a:ea typeface="Quicksand"/>
                <a:cs typeface="Quicksand"/>
                <a:sym typeface="Quicksand"/>
              </a:rPr>
              <a:t>. Why? </a:t>
            </a:r>
            <a:endParaRPr sz="1800" b="0" i="0" u="none" strike="noStrike" cap="none">
              <a:solidFill>
                <a:schemeClr val="dk1"/>
              </a:solidFill>
              <a:latin typeface="Quicksand"/>
              <a:ea typeface="Quicksand"/>
              <a:cs typeface="Quicksand"/>
              <a:sym typeface="Quicksand"/>
            </a:endParaRPr>
          </a:p>
        </p:txBody>
      </p:sp>
      <p:pic>
        <p:nvPicPr>
          <p:cNvPr id="117" name="Google Shape;117;p33" descr="image"/>
          <p:cNvPicPr preferRelativeResize="0"/>
          <p:nvPr/>
        </p:nvPicPr>
        <p:blipFill rotWithShape="1">
          <a:blip r:embed="rId3">
            <a:alphaModFix/>
          </a:blip>
          <a:srcRect/>
          <a:stretch/>
        </p:blipFill>
        <p:spPr>
          <a:xfrm>
            <a:off x="5879047" y="2639249"/>
            <a:ext cx="5544065" cy="225299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34"/>
          <p:cNvSpPr txBox="1"/>
          <p:nvPr/>
        </p:nvSpPr>
        <p:spPr>
          <a:xfrm>
            <a:off x="1252151" y="537511"/>
            <a:ext cx="9687698"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Machine Translation with Transformers</a:t>
            </a:r>
            <a:endParaRPr sz="1400" b="0" i="0" u="none" strike="noStrike" cap="none">
              <a:solidFill>
                <a:srgbClr val="000000"/>
              </a:solidFill>
              <a:latin typeface="Arial"/>
              <a:ea typeface="Arial"/>
              <a:cs typeface="Arial"/>
              <a:sym typeface="Arial"/>
            </a:endParaRPr>
          </a:p>
        </p:txBody>
      </p:sp>
      <p:sp>
        <p:nvSpPr>
          <p:cNvPr id="123" name="Google Shape;123;p34"/>
          <p:cNvSpPr txBox="1"/>
          <p:nvPr/>
        </p:nvSpPr>
        <p:spPr>
          <a:xfrm>
            <a:off x="521752" y="1765436"/>
            <a:ext cx="6184287" cy="427805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chemeClr val="dk1"/>
                </a:solidFill>
                <a:latin typeface="Quicksand"/>
                <a:ea typeface="Quicksand"/>
                <a:cs typeface="Quicksand"/>
                <a:sym typeface="Quicksand"/>
              </a:rPr>
              <a:t>Replace RNNs with Transformers</a:t>
            </a:r>
            <a:br>
              <a:rPr lang="en-US" sz="2000" b="1" i="0" u="none" strike="noStrike" cap="none">
                <a:solidFill>
                  <a:schemeClr val="dk1"/>
                </a:solidFill>
                <a:latin typeface="Quicksand"/>
                <a:ea typeface="Quicksand"/>
                <a:cs typeface="Quicksand"/>
                <a:sym typeface="Quicksand"/>
              </a:rPr>
            </a:b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Transformers are an architecture that wraps MultiHeadAttention(). We have some residual connections inside and some LayerNormalization() operations, with a couple of Dense layers on the output. </a:t>
            </a:r>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We also need to create a special masking layer to prevent the Transformer from looking ahead in the target sequence.</a:t>
            </a:r>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Our decoder uses cross-attention. It compares the representation of the Spanish output seen thus far to the entire English sequence representation.  </a:t>
            </a:r>
            <a:endParaRPr sz="1800" b="0" i="0" u="none" strike="noStrike" cap="none">
              <a:solidFill>
                <a:schemeClr val="dk1"/>
              </a:solidFill>
              <a:latin typeface="Quicksand"/>
              <a:ea typeface="Quicksand"/>
              <a:cs typeface="Quicksand"/>
              <a:sym typeface="Quicksand"/>
            </a:endParaRPr>
          </a:p>
        </p:txBody>
      </p:sp>
      <p:pic>
        <p:nvPicPr>
          <p:cNvPr id="124" name="Google Shape;124;p34" descr="image"/>
          <p:cNvPicPr preferRelativeResize="0"/>
          <p:nvPr/>
        </p:nvPicPr>
        <p:blipFill rotWithShape="1">
          <a:blip r:embed="rId3">
            <a:alphaModFix/>
          </a:blip>
          <a:srcRect/>
          <a:stretch/>
        </p:blipFill>
        <p:spPr>
          <a:xfrm>
            <a:off x="7014959" y="2137718"/>
            <a:ext cx="4346369" cy="369467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7"/>
          <p:cNvSpPr txBox="1"/>
          <p:nvPr/>
        </p:nvSpPr>
        <p:spPr>
          <a:xfrm>
            <a:off x="1252151" y="537511"/>
            <a:ext cx="9687698"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Translation with Self- and Cross-Attention </a:t>
            </a:r>
            <a:endParaRPr sz="1400" b="0" i="0" u="none" strike="noStrike" cap="none">
              <a:solidFill>
                <a:srgbClr val="000000"/>
              </a:solidFill>
              <a:latin typeface="Arial"/>
              <a:ea typeface="Arial"/>
              <a:cs typeface="Arial"/>
              <a:sym typeface="Arial"/>
            </a:endParaRPr>
          </a:p>
        </p:txBody>
      </p:sp>
      <p:sp>
        <p:nvSpPr>
          <p:cNvPr id="143" name="Google Shape;143;p37"/>
          <p:cNvSpPr txBox="1"/>
          <p:nvPr/>
        </p:nvSpPr>
        <p:spPr>
          <a:xfrm>
            <a:off x="521752" y="1861301"/>
            <a:ext cx="7176507" cy="418572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1" i="0" u="none" strike="noStrike" cap="none">
                <a:solidFill>
                  <a:srgbClr val="1F1F1F"/>
                </a:solidFill>
                <a:latin typeface="Roboto"/>
                <a:ea typeface="Roboto"/>
                <a:cs typeface="Roboto"/>
                <a:sym typeface="Roboto"/>
              </a:rPr>
              <a:t>1. First, Self-Attention in Spanish Sequence (words output so far), </a:t>
            </a:r>
            <a:r>
              <a:rPr lang="en-US" sz="1400" b="0" i="0" u="none" strike="noStrike" cap="none">
                <a:solidFill>
                  <a:srgbClr val="1F1F1F"/>
                </a:solidFill>
                <a:latin typeface="Roboto"/>
                <a:ea typeface="Roboto"/>
                <a:cs typeface="Roboto"/>
                <a:sym typeface="Roboto"/>
              </a:rPr>
              <a:t>i.e., with masking. </a:t>
            </a:r>
            <a:br>
              <a:rPr lang="en-US" sz="1400" b="0" i="0" u="none" strike="noStrike" cap="none">
                <a:solidFill>
                  <a:srgbClr val="1F1F1F"/>
                </a:solidFill>
                <a:latin typeface="Roboto"/>
                <a:ea typeface="Roboto"/>
                <a:cs typeface="Roboto"/>
                <a:sym typeface="Roboto"/>
              </a:rPr>
            </a:br>
            <a:endParaRPr sz="1400" b="0" i="0" u="none" strike="noStrike" cap="none">
              <a:solidFill>
                <a:srgbClr val="1F1F1F"/>
              </a:solidFill>
              <a:latin typeface="Roboto"/>
              <a:ea typeface="Roboto"/>
              <a:cs typeface="Roboto"/>
              <a:sym typeface="Roboto"/>
            </a:endParaRPr>
          </a:p>
          <a:p>
            <a:pPr marL="0" marR="0" lvl="0" indent="0" algn="l" rtl="0">
              <a:lnSpc>
                <a:spcPct val="100000"/>
              </a:lnSpc>
              <a:spcBef>
                <a:spcPts val="0"/>
              </a:spcBef>
              <a:spcAft>
                <a:spcPts val="0"/>
              </a:spcAft>
              <a:buNone/>
            </a:pPr>
            <a:r>
              <a:rPr lang="en-US" sz="1400" b="1" i="0" u="none" strike="noStrike" cap="none">
                <a:solidFill>
                  <a:srgbClr val="1F1F1F"/>
                </a:solidFill>
                <a:latin typeface="Roboto"/>
                <a:ea typeface="Roboto"/>
                <a:cs typeface="Roboto"/>
                <a:sym typeface="Roboto"/>
              </a:rPr>
              <a:t>2. Second, Self-Attention in English Sequence (entire sequence).</a:t>
            </a:r>
            <a:r>
              <a:rPr lang="en-US" sz="1400" b="0" i="0" u="none" strike="noStrike" cap="none">
                <a:solidFill>
                  <a:srgbClr val="1F1F1F"/>
                </a:solidFill>
                <a:latin typeface="Roboto"/>
                <a:ea typeface="Roboto"/>
                <a:cs typeface="Roboto"/>
                <a:sym typeface="Roboto"/>
              </a:rPr>
              <a:t> </a:t>
            </a:r>
            <a:br>
              <a:rPr lang="en-US" sz="1400" b="0" i="0" u="none" strike="noStrike" cap="none">
                <a:solidFill>
                  <a:srgbClr val="1F1F1F"/>
                </a:solidFill>
                <a:latin typeface="Roboto"/>
                <a:ea typeface="Roboto"/>
                <a:cs typeface="Roboto"/>
                <a:sym typeface="Roboto"/>
              </a:rPr>
            </a:br>
            <a:endParaRPr sz="1400" b="0" i="0" u="none" strike="noStrike" cap="none">
              <a:solidFill>
                <a:srgbClr val="1F1F1F"/>
              </a:solidFill>
              <a:latin typeface="Roboto"/>
              <a:ea typeface="Roboto"/>
              <a:cs typeface="Roboto"/>
              <a:sym typeface="Roboto"/>
            </a:endParaRPr>
          </a:p>
          <a:p>
            <a:pPr marL="0" marR="0" lvl="0" indent="0" algn="l" rtl="0">
              <a:lnSpc>
                <a:spcPct val="100000"/>
              </a:lnSpc>
              <a:spcBef>
                <a:spcPts val="0"/>
              </a:spcBef>
              <a:spcAft>
                <a:spcPts val="0"/>
              </a:spcAft>
              <a:buNone/>
            </a:pPr>
            <a:r>
              <a:rPr lang="en-US" sz="1400" b="1" i="0" u="none" strike="noStrike" cap="none">
                <a:solidFill>
                  <a:srgbClr val="1F1F1F"/>
                </a:solidFill>
                <a:latin typeface="Roboto"/>
                <a:ea typeface="Roboto"/>
                <a:cs typeface="Roboto"/>
                <a:sym typeface="Roboto"/>
              </a:rPr>
              <a:t>3. Finally, Cross-Attention Comparison.</a:t>
            </a:r>
            <a:r>
              <a:rPr lang="en-US" sz="1400" b="0" i="0" u="none" strike="noStrike" cap="none">
                <a:solidFill>
                  <a:srgbClr val="1F1F1F"/>
                </a:solidFill>
                <a:latin typeface="Roboto"/>
                <a:ea typeface="Roboto"/>
                <a:cs typeface="Roboto"/>
                <a:sym typeface="Roboto"/>
              </a:rPr>
              <a:t> </a:t>
            </a:r>
            <a:endParaRPr sz="1400" b="0" i="0" u="none" strike="noStrike" cap="none">
              <a:solidFill>
                <a:srgbClr val="1F1F1F"/>
              </a:solidFill>
              <a:latin typeface="Roboto"/>
              <a:ea typeface="Roboto"/>
              <a:cs typeface="Roboto"/>
              <a:sym typeface="Roboto"/>
            </a:endParaRPr>
          </a:p>
          <a:p>
            <a:pPr marL="0" marR="0" lvl="2" indent="0" algn="l" rtl="0">
              <a:lnSpc>
                <a:spcPct val="100000"/>
              </a:lnSpc>
              <a:spcBef>
                <a:spcPts val="0"/>
              </a:spcBef>
              <a:spcAft>
                <a:spcPts val="0"/>
              </a:spcAft>
              <a:buNone/>
            </a:pPr>
            <a:endParaRPr sz="1400" b="1" i="0" u="none" strike="noStrike" cap="none">
              <a:solidFill>
                <a:srgbClr val="1F1F1F"/>
              </a:solidFill>
              <a:latin typeface="Roboto"/>
              <a:ea typeface="Roboto"/>
              <a:cs typeface="Roboto"/>
              <a:sym typeface="Roboto"/>
            </a:endParaRPr>
          </a:p>
          <a:p>
            <a:pPr marL="342900" marR="0" lvl="4" indent="-342900" algn="l" rtl="0">
              <a:lnSpc>
                <a:spcPct val="100000"/>
              </a:lnSpc>
              <a:spcBef>
                <a:spcPts val="0"/>
              </a:spcBef>
              <a:spcAft>
                <a:spcPts val="0"/>
              </a:spcAft>
              <a:buClr>
                <a:srgbClr val="000000"/>
              </a:buClr>
              <a:buSzPts val="1400"/>
              <a:buFont typeface="Arial"/>
              <a:buAutoNum type="alphaLcPeriod"/>
            </a:pPr>
            <a:r>
              <a:rPr lang="en-US" sz="1400" b="1" i="0" u="none" strike="noStrike" cap="none">
                <a:solidFill>
                  <a:srgbClr val="1F1F1F"/>
                </a:solidFill>
                <a:latin typeface="Roboto"/>
                <a:ea typeface="Roboto"/>
                <a:cs typeface="Roboto"/>
                <a:sym typeface="Roboto"/>
              </a:rPr>
              <a:t>Query:</a:t>
            </a:r>
            <a:r>
              <a:rPr lang="en-US" sz="1400" b="0" i="0" u="none" strike="noStrike" cap="none">
                <a:solidFill>
                  <a:srgbClr val="1F1F1F"/>
                </a:solidFill>
                <a:latin typeface="Roboto"/>
                <a:ea typeface="Roboto"/>
                <a:cs typeface="Roboto"/>
                <a:sym typeface="Roboto"/>
              </a:rPr>
              <a:t> The attended representation of the Spanish sequence (generated so far) acts as the query. "Given what I've generated in Spanish already, what information from the English sentence is most relevant to predicting the next word?”</a:t>
            </a:r>
            <a:br>
              <a:rPr lang="en-US" sz="1400" b="0" i="0" u="none" strike="noStrike" cap="none">
                <a:solidFill>
                  <a:srgbClr val="1F1F1F"/>
                </a:solidFill>
                <a:latin typeface="Roboto"/>
                <a:ea typeface="Roboto"/>
                <a:cs typeface="Roboto"/>
                <a:sym typeface="Roboto"/>
              </a:rPr>
            </a:br>
            <a:endParaRPr sz="1400" b="0" i="0" u="none" strike="noStrike" cap="none">
              <a:solidFill>
                <a:srgbClr val="1F1F1F"/>
              </a:solidFill>
              <a:latin typeface="Roboto"/>
              <a:ea typeface="Roboto"/>
              <a:cs typeface="Roboto"/>
              <a:sym typeface="Roboto"/>
            </a:endParaRPr>
          </a:p>
          <a:p>
            <a:pPr marL="342900" marR="0" lvl="4" indent="-342900" algn="l" rtl="0">
              <a:lnSpc>
                <a:spcPct val="100000"/>
              </a:lnSpc>
              <a:spcBef>
                <a:spcPts val="0"/>
              </a:spcBef>
              <a:spcAft>
                <a:spcPts val="0"/>
              </a:spcAft>
              <a:buClr>
                <a:srgbClr val="000000"/>
              </a:buClr>
              <a:buSzPts val="1400"/>
              <a:buFont typeface="Arial"/>
              <a:buAutoNum type="alphaLcPeriod"/>
            </a:pPr>
            <a:r>
              <a:rPr lang="en-US" sz="1400" b="1" i="0" u="none" strike="noStrike" cap="none">
                <a:solidFill>
                  <a:srgbClr val="1F1F1F"/>
                </a:solidFill>
                <a:latin typeface="Roboto"/>
                <a:ea typeface="Roboto"/>
                <a:cs typeface="Roboto"/>
                <a:sym typeface="Roboto"/>
              </a:rPr>
              <a:t>Key and Value:</a:t>
            </a:r>
            <a:r>
              <a:rPr lang="en-US" sz="1400" b="0" i="0" u="none" strike="noStrike" cap="none">
                <a:solidFill>
                  <a:srgbClr val="1F1F1F"/>
                </a:solidFill>
                <a:latin typeface="Roboto"/>
                <a:ea typeface="Roboto"/>
                <a:cs typeface="Roboto"/>
                <a:sym typeface="Roboto"/>
              </a:rPr>
              <a:t> The attended representation of the entire English sentence acts as both the "key" and "value." The "key" is used to compute attention weights (how much each English word should be attended to), and the "value" is the information that gets weighted and incorporated into the Spanish sequence.</a:t>
            </a:r>
            <a:endParaRPr/>
          </a:p>
          <a:p>
            <a:pPr marL="0" marR="0" lvl="0" indent="0" algn="l" rtl="0">
              <a:lnSpc>
                <a:spcPct val="100000"/>
              </a:lnSpc>
              <a:spcBef>
                <a:spcPts val="0"/>
              </a:spcBef>
              <a:spcAft>
                <a:spcPts val="0"/>
              </a:spcAft>
              <a:buNone/>
            </a:pPr>
            <a:endParaRPr sz="1400" b="0" i="0" u="none" strike="noStrike" cap="none">
              <a:solidFill>
                <a:srgbClr val="1F1F1F"/>
              </a:solidFill>
              <a:latin typeface="Roboto"/>
              <a:ea typeface="Roboto"/>
              <a:cs typeface="Roboto"/>
              <a:sym typeface="Roboto"/>
            </a:endParaRPr>
          </a:p>
          <a:p>
            <a:pPr marL="0" marR="0" lvl="0" indent="0" algn="l" rtl="0">
              <a:lnSpc>
                <a:spcPct val="100000"/>
              </a:lnSpc>
              <a:spcBef>
                <a:spcPts val="0"/>
              </a:spcBef>
              <a:spcAft>
                <a:spcPts val="0"/>
              </a:spcAft>
              <a:buNone/>
            </a:pPr>
            <a:r>
              <a:rPr lang="en-US" sz="1400" b="1" i="0" u="none" strike="noStrike" cap="none">
                <a:solidFill>
                  <a:srgbClr val="1F1F1F"/>
                </a:solidFill>
                <a:latin typeface="Roboto"/>
                <a:ea typeface="Roboto"/>
                <a:cs typeface="Roboto"/>
                <a:sym typeface="Roboto"/>
              </a:rPr>
              <a:t>4. Apply the Attention Weights to English Representation:</a:t>
            </a:r>
            <a:r>
              <a:rPr lang="en-US" sz="1400" b="0" i="0" u="none" strike="noStrike" cap="none">
                <a:solidFill>
                  <a:srgbClr val="1F1F1F"/>
                </a:solidFill>
                <a:latin typeface="Roboto"/>
                <a:ea typeface="Roboto"/>
                <a:cs typeface="Roboto"/>
                <a:sym typeface="Roboto"/>
              </a:rPr>
              <a:t> The attention weights from comparing the query (Spanish) and key (English) are applied to the value (English). This results in a context vector representing the most relevant information from the English sentence for predicting the next Spanish word.</a:t>
            </a:r>
            <a:endParaRPr/>
          </a:p>
        </p:txBody>
      </p:sp>
      <p:pic>
        <p:nvPicPr>
          <p:cNvPr id="144" name="Google Shape;144;p37" descr="image"/>
          <p:cNvPicPr preferRelativeResize="0"/>
          <p:nvPr/>
        </p:nvPicPr>
        <p:blipFill rotWithShape="1">
          <a:blip r:embed="rId3">
            <a:alphaModFix/>
          </a:blip>
          <a:srcRect/>
          <a:stretch/>
        </p:blipFill>
        <p:spPr>
          <a:xfrm>
            <a:off x="8123376" y="2446637"/>
            <a:ext cx="3546872" cy="30150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38"/>
          <p:cNvSpPr txBox="1"/>
          <p:nvPr/>
        </p:nvSpPr>
        <p:spPr>
          <a:xfrm>
            <a:off x="1252151" y="537511"/>
            <a:ext cx="9687698"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Multi-Head Attention in Other Text Tasks</a:t>
            </a:r>
            <a:endParaRPr sz="1400" b="0" i="0" u="none" strike="noStrike" cap="none">
              <a:solidFill>
                <a:srgbClr val="000000"/>
              </a:solidFill>
              <a:latin typeface="Arial"/>
              <a:ea typeface="Arial"/>
              <a:cs typeface="Arial"/>
              <a:sym typeface="Arial"/>
            </a:endParaRPr>
          </a:p>
        </p:txBody>
      </p:sp>
      <p:sp>
        <p:nvSpPr>
          <p:cNvPr id="150" name="Google Shape;150;p38"/>
          <p:cNvSpPr txBox="1"/>
          <p:nvPr/>
        </p:nvSpPr>
        <p:spPr>
          <a:xfrm>
            <a:off x="768888" y="1791969"/>
            <a:ext cx="6326393" cy="427805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chemeClr val="dk1"/>
                </a:solidFill>
                <a:latin typeface="Quicksand"/>
                <a:ea typeface="Quicksand"/>
                <a:cs typeface="Quicksand"/>
                <a:sym typeface="Quicksand"/>
              </a:rPr>
              <a:t>BERT Embeddings</a:t>
            </a:r>
            <a:br>
              <a:rPr lang="en-US" sz="2000" b="1" i="0" u="none" strike="noStrike" cap="none">
                <a:solidFill>
                  <a:schemeClr val="dk1"/>
                </a:solidFill>
                <a:latin typeface="Quicksand"/>
                <a:ea typeface="Quicksand"/>
                <a:cs typeface="Quicksand"/>
                <a:sym typeface="Quicksand"/>
              </a:rPr>
            </a:b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1" i="0" u="none" strike="noStrike" cap="none">
                <a:solidFill>
                  <a:schemeClr val="dk1"/>
                </a:solidFill>
                <a:latin typeface="Quicksand"/>
                <a:ea typeface="Quicksand"/>
                <a:cs typeface="Quicksand"/>
                <a:sym typeface="Quicksand"/>
              </a:rPr>
              <a:t>B</a:t>
            </a:r>
            <a:r>
              <a:rPr lang="en-US" sz="1800" b="0" i="0" u="none" strike="noStrike" cap="none">
                <a:solidFill>
                  <a:schemeClr val="dk1"/>
                </a:solidFill>
                <a:latin typeface="Quicksand"/>
                <a:ea typeface="Quicksand"/>
                <a:cs typeface="Quicksand"/>
                <a:sym typeface="Quicksand"/>
              </a:rPr>
              <a:t>idirectional </a:t>
            </a:r>
            <a:r>
              <a:rPr lang="en-US" sz="1800" b="1" i="0" u="none" strike="noStrike" cap="none">
                <a:solidFill>
                  <a:schemeClr val="dk1"/>
                </a:solidFill>
                <a:latin typeface="Quicksand"/>
                <a:ea typeface="Quicksand"/>
                <a:cs typeface="Quicksand"/>
                <a:sym typeface="Quicksand"/>
              </a:rPr>
              <a:t>E</a:t>
            </a:r>
            <a:r>
              <a:rPr lang="en-US" sz="1800" b="0" i="0" u="none" strike="noStrike" cap="none">
                <a:solidFill>
                  <a:schemeClr val="dk1"/>
                </a:solidFill>
                <a:latin typeface="Quicksand"/>
                <a:ea typeface="Quicksand"/>
                <a:cs typeface="Quicksand"/>
                <a:sym typeface="Quicksand"/>
              </a:rPr>
              <a:t>ncoder </a:t>
            </a:r>
            <a:r>
              <a:rPr lang="en-US" sz="1800" b="1" i="0" u="none" strike="noStrike" cap="none">
                <a:solidFill>
                  <a:schemeClr val="dk1"/>
                </a:solidFill>
                <a:latin typeface="Quicksand"/>
                <a:ea typeface="Quicksand"/>
                <a:cs typeface="Quicksand"/>
                <a:sym typeface="Quicksand"/>
              </a:rPr>
              <a:t>R</a:t>
            </a:r>
            <a:r>
              <a:rPr lang="en-US" sz="1800" b="0" i="0" u="none" strike="noStrike" cap="none">
                <a:solidFill>
                  <a:schemeClr val="dk1"/>
                </a:solidFill>
                <a:latin typeface="Quicksand"/>
                <a:ea typeface="Quicksand"/>
                <a:cs typeface="Quicksand"/>
                <a:sym typeface="Quicksand"/>
              </a:rPr>
              <a:t>epresentations from </a:t>
            </a:r>
            <a:r>
              <a:rPr lang="en-US" sz="1800" b="1" i="0" u="none" strike="noStrike" cap="none">
                <a:solidFill>
                  <a:schemeClr val="dk1"/>
                </a:solidFill>
                <a:latin typeface="Quicksand"/>
                <a:ea typeface="Quicksand"/>
                <a:cs typeface="Quicksand"/>
                <a:sym typeface="Quicksand"/>
              </a:rPr>
              <a:t>T</a:t>
            </a:r>
            <a:r>
              <a:rPr lang="en-US" sz="1800" b="0" i="0" u="none" strike="noStrike" cap="none">
                <a:solidFill>
                  <a:schemeClr val="dk1"/>
                </a:solidFill>
                <a:latin typeface="Quicksand"/>
                <a:ea typeface="Quicksand"/>
                <a:cs typeface="Quicksand"/>
                <a:sym typeface="Quicksand"/>
              </a:rPr>
              <a:t>ransformers. </a:t>
            </a:r>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Employs a similar (self-supervised learning) technique as Word2Vec. Mask 15% of words at random in any given sequence and then try to predict those using the words that are not masked. </a:t>
            </a:r>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Word2vec is nice but yields static (generic) embeddings for a given word. BERT learns context-dependent representations. This can dramatically improve the predictive performance of, say, a text classifier. </a:t>
            </a:r>
            <a:endParaRPr sz="1800" b="0" i="0" u="none" strike="noStrike" cap="none">
              <a:solidFill>
                <a:schemeClr val="dk1"/>
              </a:solidFill>
              <a:latin typeface="Quicksand"/>
              <a:ea typeface="Quicksand"/>
              <a:cs typeface="Quicksand"/>
              <a:sym typeface="Quicksand"/>
            </a:endParaRPr>
          </a:p>
        </p:txBody>
      </p:sp>
      <p:pic>
        <p:nvPicPr>
          <p:cNvPr id="151" name="Google Shape;151;p38" descr="Bert | Muppet Wiki | Fandom"/>
          <p:cNvPicPr preferRelativeResize="0"/>
          <p:nvPr/>
        </p:nvPicPr>
        <p:blipFill rotWithShape="1">
          <a:blip r:embed="rId3">
            <a:alphaModFix/>
          </a:blip>
          <a:srcRect/>
          <a:stretch/>
        </p:blipFill>
        <p:spPr>
          <a:xfrm>
            <a:off x="8229600" y="2187614"/>
            <a:ext cx="2254019" cy="375090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39"/>
          <p:cNvSpPr txBox="1"/>
          <p:nvPr/>
        </p:nvSpPr>
        <p:spPr>
          <a:xfrm>
            <a:off x="1252151" y="537511"/>
            <a:ext cx="9687698"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Common Use Case: Sentence Embeddings</a:t>
            </a:r>
            <a:endParaRPr sz="1400" b="0" i="0" u="none" strike="noStrike" cap="none">
              <a:solidFill>
                <a:srgbClr val="000000"/>
              </a:solidFill>
              <a:latin typeface="Arial"/>
              <a:ea typeface="Arial"/>
              <a:cs typeface="Arial"/>
              <a:sym typeface="Arial"/>
            </a:endParaRPr>
          </a:p>
        </p:txBody>
      </p:sp>
      <p:sp>
        <p:nvSpPr>
          <p:cNvPr id="157" name="Google Shape;157;p39"/>
          <p:cNvSpPr txBox="1"/>
          <p:nvPr/>
        </p:nvSpPr>
        <p:spPr>
          <a:xfrm>
            <a:off x="768888" y="1791969"/>
            <a:ext cx="10933117" cy="372405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chemeClr val="dk1"/>
                </a:solidFill>
                <a:latin typeface="Quicksand"/>
                <a:ea typeface="Quicksand"/>
                <a:cs typeface="Quicksand"/>
                <a:sym typeface="Quicksand"/>
              </a:rPr>
              <a:t>Mean Pooling of Contextual Word Embeddings</a:t>
            </a:r>
            <a:br>
              <a:rPr lang="en-US" sz="2000" b="1" i="0" u="none" strike="noStrike" cap="none">
                <a:solidFill>
                  <a:schemeClr val="dk1"/>
                </a:solidFill>
                <a:latin typeface="Quicksand"/>
                <a:ea typeface="Quicksand"/>
                <a:cs typeface="Quicksand"/>
                <a:sym typeface="Quicksand"/>
              </a:rPr>
            </a:b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For a given sentence, you can extract the contextual word embeddings from *after* the MultiHeadAttention layers and then average them. </a:t>
            </a:r>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0" marR="0" lvl="0" indent="0" algn="l" rtl="0">
              <a:lnSpc>
                <a:spcPct val="100000"/>
              </a:lnSpc>
              <a:spcBef>
                <a:spcPts val="0"/>
              </a:spcBef>
              <a:spcAft>
                <a:spcPts val="0"/>
              </a:spcAft>
              <a:buNone/>
            </a:pPr>
            <a:r>
              <a:rPr lang="en-US" sz="1800" b="1" i="0" u="none" strike="noStrike" cap="none">
                <a:solidFill>
                  <a:schemeClr val="dk1"/>
                </a:solidFill>
                <a:latin typeface="Quicksand"/>
                <a:ea typeface="Quicksand"/>
                <a:cs typeface="Quicksand"/>
                <a:sym typeface="Quicksand"/>
              </a:rPr>
              <a:t>Pre-Trained BERT Classifier</a:t>
            </a:r>
            <a:endParaRPr/>
          </a:p>
          <a:p>
            <a:pPr marL="0" marR="0" lvl="0" indent="0" algn="l" rtl="0">
              <a:lnSpc>
                <a:spcPct val="100000"/>
              </a:lnSpc>
              <a:spcBef>
                <a:spcPts val="0"/>
              </a:spcBef>
              <a:spcAft>
                <a:spcPts val="0"/>
              </a:spcAft>
              <a:buNone/>
            </a:pPr>
            <a:endParaRPr sz="1800" b="0" i="0" u="none" strike="noStrike" cap="none">
              <a:solidFill>
                <a:schemeClr val="dk1"/>
              </a:solidFill>
              <a:latin typeface="Quicksand"/>
              <a:ea typeface="Quicksand"/>
              <a:cs typeface="Quicksand"/>
              <a:sym typeface="Quicksand"/>
            </a:endParaRPr>
          </a:p>
          <a:p>
            <a:pPr marL="285750" marR="0" lvl="0" indent="-28575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Or load a pre-trained BERT model’s transformer and embedding layers (backbone / base layers) to pre-process your text and obtain contextual embeddings for a given prediction task.</a:t>
            </a:r>
            <a:endParaRPr/>
          </a:p>
          <a:p>
            <a:pPr marL="285750" marR="0" lvl="0" indent="-17145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285750" marR="0" lvl="0" indent="-28575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Or, load the embedding and attention layers, freeze them, and add your Dense layers on top like we did with pre-trained vision models.</a:t>
            </a:r>
            <a:endParaRPr/>
          </a:p>
          <a:p>
            <a:pPr marL="0" marR="0" lvl="0" indent="0" algn="l" rtl="0">
              <a:lnSpc>
                <a:spcPct val="100000"/>
              </a:lnSpc>
              <a:spcBef>
                <a:spcPts val="0"/>
              </a:spcBef>
              <a:spcAft>
                <a:spcPts val="0"/>
              </a:spcAft>
              <a:buNone/>
            </a:pPr>
            <a:endParaRPr sz="1800" b="0" i="0" u="none" strike="noStrike" cap="none">
              <a:solidFill>
                <a:schemeClr val="dk1"/>
              </a:solidFill>
              <a:latin typeface="Quicksand"/>
              <a:ea typeface="Quicksand"/>
              <a:cs typeface="Quicksand"/>
              <a:sym typeface="Quicksand"/>
            </a:endParaRPr>
          </a:p>
        </p:txBody>
      </p:sp>
      <p:pic>
        <p:nvPicPr>
          <p:cNvPr id="158" name="Google Shape;158;p39"/>
          <p:cNvPicPr preferRelativeResize="0"/>
          <p:nvPr/>
        </p:nvPicPr>
        <p:blipFill rotWithShape="1">
          <a:blip r:embed="rId3">
            <a:alphaModFix/>
          </a:blip>
          <a:srcRect/>
          <a:stretch/>
        </p:blipFill>
        <p:spPr>
          <a:xfrm>
            <a:off x="2641600" y="5516025"/>
            <a:ext cx="6908800" cy="9144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40"/>
          <p:cNvSpPr txBox="1"/>
          <p:nvPr/>
        </p:nvSpPr>
        <p:spPr>
          <a:xfrm>
            <a:off x="698890" y="603331"/>
            <a:ext cx="10794220"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Multi-Head Attention for Audio Representations</a:t>
            </a:r>
            <a:endParaRPr sz="1400" b="0" i="0" u="none" strike="noStrike" cap="none">
              <a:solidFill>
                <a:srgbClr val="000000"/>
              </a:solidFill>
              <a:latin typeface="Arial"/>
              <a:ea typeface="Arial"/>
              <a:cs typeface="Arial"/>
              <a:sym typeface="Arial"/>
            </a:endParaRPr>
          </a:p>
        </p:txBody>
      </p:sp>
      <p:sp>
        <p:nvSpPr>
          <p:cNvPr id="164" name="Google Shape;164;p40"/>
          <p:cNvSpPr txBox="1"/>
          <p:nvPr/>
        </p:nvSpPr>
        <p:spPr>
          <a:xfrm>
            <a:off x="768889" y="1791969"/>
            <a:ext cx="6337968" cy="427805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chemeClr val="dk1"/>
                </a:solidFill>
                <a:latin typeface="Quicksand"/>
                <a:ea typeface="Quicksand"/>
                <a:cs typeface="Quicksand"/>
                <a:sym typeface="Quicksand"/>
              </a:rPr>
              <a:t>Wav2Vec for Audio Understanding</a:t>
            </a:r>
            <a:br>
              <a:rPr lang="en-US" sz="2000" b="1" i="0" u="none" strike="noStrike" cap="none">
                <a:solidFill>
                  <a:schemeClr val="dk1"/>
                </a:solidFill>
                <a:latin typeface="Quicksand"/>
                <a:ea typeface="Quicksand"/>
                <a:cs typeface="Quicksand"/>
                <a:sym typeface="Quicksand"/>
              </a:rPr>
            </a:b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Wav2vec implements a self-supervised learning architecture with random masking of sequence input for audio. </a:t>
            </a:r>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The model first obtains 1D convolutional feature maps per chunk/segment of raw audio signal (spoken words), yielding sequences of feature maps.</a:t>
            </a:r>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A random subsample of feature maps is masked, and the model tries to predict them from the feature maps that remain visible. This model then yields audio embeddings highly representative of spoken semantic content in audio. </a:t>
            </a:r>
            <a:endParaRPr/>
          </a:p>
        </p:txBody>
      </p:sp>
      <p:pic>
        <p:nvPicPr>
          <p:cNvPr id="165" name="Google Shape;165;p40"/>
          <p:cNvPicPr preferRelativeResize="0"/>
          <p:nvPr/>
        </p:nvPicPr>
        <p:blipFill rotWithShape="1">
          <a:blip r:embed="rId3">
            <a:alphaModFix/>
          </a:blip>
          <a:srcRect/>
          <a:stretch/>
        </p:blipFill>
        <p:spPr>
          <a:xfrm>
            <a:off x="7222602" y="2595332"/>
            <a:ext cx="4565409" cy="2394328"/>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9CDBED6B-E7DD-2350-50BA-FEFE7DDC0637}"/>
            </a:ext>
          </a:extLst>
        </p:cNvPr>
        <p:cNvGrpSpPr/>
        <p:nvPr/>
      </p:nvGrpSpPr>
      <p:grpSpPr>
        <a:xfrm>
          <a:off x="0" y="0"/>
          <a:ext cx="0" cy="0"/>
          <a:chOff x="0" y="0"/>
          <a:chExt cx="0" cy="0"/>
        </a:xfrm>
      </p:grpSpPr>
      <p:sp>
        <p:nvSpPr>
          <p:cNvPr id="163" name="Google Shape;163;p40">
            <a:extLst>
              <a:ext uri="{FF2B5EF4-FFF2-40B4-BE49-F238E27FC236}">
                <a16:creationId xmlns:a16="http://schemas.microsoft.com/office/drawing/2014/main" id="{674DEE1F-F12B-EDEA-4644-960D08F836CE}"/>
              </a:ext>
            </a:extLst>
          </p:cNvPr>
          <p:cNvSpPr txBox="1"/>
          <p:nvPr/>
        </p:nvSpPr>
        <p:spPr>
          <a:xfrm>
            <a:off x="698890" y="603331"/>
            <a:ext cx="10794220"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dirty="0">
                <a:solidFill>
                  <a:schemeClr val="dk1"/>
                </a:solidFill>
                <a:latin typeface="Economica"/>
                <a:ea typeface="Arial"/>
                <a:cs typeface="Arial"/>
                <a:sym typeface="Economica"/>
              </a:rPr>
              <a:t>‘Physics’ Representations from Video</a:t>
            </a:r>
            <a:endParaRPr sz="1400" b="0" i="0" u="none" strike="noStrike" cap="none" dirty="0">
              <a:solidFill>
                <a:srgbClr val="000000"/>
              </a:solidFill>
              <a:latin typeface="Arial"/>
              <a:ea typeface="Arial"/>
              <a:cs typeface="Arial"/>
              <a:sym typeface="Arial"/>
            </a:endParaRPr>
          </a:p>
        </p:txBody>
      </p:sp>
      <p:pic>
        <p:nvPicPr>
          <p:cNvPr id="2" name="Picture 1">
            <a:extLst>
              <a:ext uri="{FF2B5EF4-FFF2-40B4-BE49-F238E27FC236}">
                <a16:creationId xmlns:a16="http://schemas.microsoft.com/office/drawing/2014/main" id="{0DF1832B-7635-6707-5887-FB9DE5B6C37E}"/>
              </a:ext>
            </a:extLst>
          </p:cNvPr>
          <p:cNvPicPr>
            <a:picLocks noChangeAspect="1"/>
          </p:cNvPicPr>
          <p:nvPr/>
        </p:nvPicPr>
        <p:blipFill>
          <a:blip r:embed="rId3"/>
          <a:stretch>
            <a:fillRect/>
          </a:stretch>
        </p:blipFill>
        <p:spPr>
          <a:xfrm>
            <a:off x="1406027" y="1795618"/>
            <a:ext cx="9379945" cy="4101966"/>
          </a:xfrm>
          <a:prstGeom prst="rect">
            <a:avLst/>
          </a:prstGeom>
        </p:spPr>
      </p:pic>
    </p:spTree>
    <p:extLst>
      <p:ext uri="{BB962C8B-B14F-4D97-AF65-F5344CB8AC3E}">
        <p14:creationId xmlns:p14="http://schemas.microsoft.com/office/powerpoint/2010/main" val="24401533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41"/>
          <p:cNvSpPr txBox="1"/>
          <p:nvPr/>
        </p:nvSpPr>
        <p:spPr>
          <a:xfrm>
            <a:off x="2865521" y="586938"/>
            <a:ext cx="6460957" cy="92333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dirty="0">
                <a:solidFill>
                  <a:schemeClr val="dk1"/>
                </a:solidFill>
                <a:latin typeface="Economica"/>
                <a:ea typeface="Economica"/>
                <a:cs typeface="Economica"/>
                <a:sym typeface="Economica"/>
              </a:rPr>
              <a:t>A Generative RNN</a:t>
            </a:r>
            <a:endParaRPr sz="1400" b="0" i="0" u="none" strike="noStrike" cap="none" dirty="0">
              <a:solidFill>
                <a:srgbClr val="000000"/>
              </a:solidFill>
              <a:latin typeface="Arial"/>
              <a:ea typeface="Arial"/>
              <a:cs typeface="Arial"/>
              <a:sym typeface="Arial"/>
            </a:endParaRPr>
          </a:p>
        </p:txBody>
      </p:sp>
      <p:sp>
        <p:nvSpPr>
          <p:cNvPr id="171" name="Google Shape;171;p41"/>
          <p:cNvSpPr txBox="1"/>
          <p:nvPr/>
        </p:nvSpPr>
        <p:spPr>
          <a:xfrm>
            <a:off x="890336" y="1940249"/>
            <a:ext cx="10490088" cy="206206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Quicksand"/>
                <a:ea typeface="Quicksand"/>
                <a:cs typeface="Quicksand"/>
                <a:sym typeface="Quicksand"/>
              </a:rPr>
              <a:t>Training a Generative Language Model</a:t>
            </a:r>
            <a:endParaRPr sz="1800" b="0" i="0" u="none" strike="noStrike" cap="none" dirty="0">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We train a model to predict the next token at every position in a sequence of observed input tokens.</a:t>
            </a:r>
            <a:endParaRPr dirty="0"/>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We will not use this exact model for inference; we will modify it slightly and add a feedback loop to make auto-regression possible. </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chemeClr val="dk1"/>
              </a:solidFill>
              <a:latin typeface="Quicksand"/>
              <a:ea typeface="Quicksand"/>
              <a:cs typeface="Quicksand"/>
              <a:sym typeface="Quicksand"/>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dirty="0">
              <a:solidFill>
                <a:srgbClr val="000000"/>
              </a:solidFill>
              <a:latin typeface="Arial"/>
              <a:ea typeface="Arial"/>
              <a:cs typeface="Arial"/>
              <a:sym typeface="Arial"/>
            </a:endParaRPr>
          </a:p>
        </p:txBody>
      </p:sp>
      <p:pic>
        <p:nvPicPr>
          <p:cNvPr id="172" name="Google Shape;172;p41"/>
          <p:cNvPicPr preferRelativeResize="0"/>
          <p:nvPr/>
        </p:nvPicPr>
        <p:blipFill rotWithShape="1">
          <a:blip r:embed="rId3">
            <a:alphaModFix/>
          </a:blip>
          <a:srcRect/>
          <a:stretch/>
        </p:blipFill>
        <p:spPr>
          <a:xfrm>
            <a:off x="3004732" y="3941565"/>
            <a:ext cx="6261295" cy="2329497"/>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609600" y="424892"/>
            <a:ext cx="10972800" cy="923289"/>
          </a:xfrm>
          <a:prstGeom prst="rect">
            <a:avLst/>
          </a:prstGeom>
          <a:noFill/>
        </p:spPr>
        <p:txBody>
          <a:bodyPr wrap="square">
            <a:spAutoFit/>
          </a:bodyPr>
          <a:lstStyle/>
          <a:p>
            <a:pPr algn="ctr"/>
            <a:r>
              <a:rPr lang="en-US" sz="5400" b="0" dirty="0">
                <a:latin typeface="Economica"/>
              </a:rPr>
              <a:t>In Training: Loss at Each Sequence Position</a:t>
            </a:r>
            <a:endParaRPr sz="5400" b="0" dirty="0">
              <a:latin typeface="Economica"/>
            </a:endParaRPr>
          </a:p>
        </p:txBody>
      </p:sp>
      <p:sp>
        <p:nvSpPr>
          <p:cNvPr id="6" name="TextBox 5"/>
          <p:cNvSpPr txBox="1"/>
          <p:nvPr/>
        </p:nvSpPr>
        <p:spPr>
          <a:xfrm>
            <a:off x="609600" y="1675364"/>
            <a:ext cx="10972800" cy="4683333"/>
          </a:xfrm>
          <a:prstGeom prst="rect">
            <a:avLst/>
          </a:prstGeom>
          <a:noFill/>
        </p:spPr>
        <p:txBody>
          <a:bodyPr wrap="square">
            <a:spAutoFit/>
          </a:bodyPr>
          <a:lstStyle/>
          <a:p>
            <a:r>
              <a:rPr sz="2000" b="1" dirty="0">
                <a:latin typeface="Quicksand"/>
              </a:rPr>
              <a:t>Training: Predict All Positions in Parallel</a:t>
            </a:r>
          </a:p>
          <a:p>
            <a:pPr>
              <a:spcBef>
                <a:spcPts val="600"/>
              </a:spcBef>
            </a:pPr>
            <a:r>
              <a:rPr sz="1600" b="0" dirty="0">
                <a:latin typeface="Quicksand"/>
              </a:rPr>
              <a:t>During training, we already know the full sequence. So</a:t>
            </a:r>
            <a:r>
              <a:rPr lang="en-US" sz="1600" b="0" dirty="0">
                <a:latin typeface="Quicksand"/>
              </a:rPr>
              <a:t>,</a:t>
            </a:r>
            <a:r>
              <a:rPr sz="1600" b="0" dirty="0">
                <a:latin typeface="Quicksand"/>
              </a:rPr>
              <a:t> we compute loss at every position simultaneously. This is purely an efficiency trick — it does not mean the model "sees the future."</a:t>
            </a:r>
            <a:r>
              <a:rPr lang="en-US" sz="1600" dirty="0">
                <a:latin typeface="Quicksand"/>
              </a:rPr>
              <a:t> Our model predicts one prediction per token in the sequence, in parallel.  </a:t>
            </a:r>
            <a:endParaRPr lang="en-US" sz="1600" b="0" dirty="0">
              <a:latin typeface="Quicksand"/>
            </a:endParaRPr>
          </a:p>
          <a:p>
            <a:pPr lvl="4">
              <a:spcBef>
                <a:spcPts val="1200"/>
              </a:spcBef>
            </a:pPr>
            <a:r>
              <a:rPr lang="en-US" sz="1600" b="1" dirty="0">
                <a:latin typeface="Quicksand"/>
              </a:rPr>
              <a:t>Example (character-level):</a:t>
            </a:r>
          </a:p>
          <a:p>
            <a:pPr lvl="4">
              <a:spcBef>
                <a:spcPts val="200"/>
              </a:spcBef>
            </a:pPr>
            <a:r>
              <a:rPr sz="1300" dirty="0">
                <a:latin typeface="Consolas"/>
              </a:rPr>
              <a:t>Position 0:  model sees [S]              → predicts 'h'</a:t>
            </a:r>
          </a:p>
          <a:p>
            <a:pPr lvl="4">
              <a:spcBef>
                <a:spcPts val="200"/>
              </a:spcBef>
            </a:pPr>
            <a:r>
              <a:rPr sz="1300" dirty="0">
                <a:latin typeface="Consolas"/>
              </a:rPr>
              <a:t>Position 1:  model sees [S, h]           → predicts 'a'</a:t>
            </a:r>
          </a:p>
          <a:p>
            <a:pPr lvl="4">
              <a:spcBef>
                <a:spcPts val="200"/>
              </a:spcBef>
            </a:pPr>
            <a:r>
              <a:rPr sz="1300" dirty="0">
                <a:latin typeface="Consolas"/>
              </a:rPr>
              <a:t>Position 2:  model sees [S, h, a]        → predicts 'k'</a:t>
            </a:r>
          </a:p>
          <a:p>
            <a:pPr lvl="4">
              <a:spcBef>
                <a:spcPts val="200"/>
              </a:spcBef>
            </a:pPr>
            <a:r>
              <a:rPr sz="1300" dirty="0">
                <a:latin typeface="Consolas"/>
              </a:rPr>
              <a:t>Position 3:  model sees [S, h, a, k]     → predicts 'e'</a:t>
            </a:r>
          </a:p>
          <a:p>
            <a:pPr lvl="4">
              <a:spcBef>
                <a:spcPts val="200"/>
              </a:spcBef>
            </a:pPr>
            <a:r>
              <a:rPr sz="1300" dirty="0">
                <a:latin typeface="Consolas"/>
              </a:rPr>
              <a:t>Position 4:  model sees [S, h, a, k, e]  → predicts 's'</a:t>
            </a:r>
          </a:p>
          <a:p>
            <a:pPr lvl="4">
              <a:spcBef>
                <a:spcPts val="600"/>
              </a:spcBef>
            </a:pPr>
            <a:r>
              <a:rPr sz="1600" b="0" dirty="0">
                <a:latin typeface="Quicksand"/>
              </a:rPr>
              <a:t>All 5 predictions happen in ONE forward pass</a:t>
            </a:r>
            <a:r>
              <a:rPr lang="en-US" sz="1600" b="0" dirty="0">
                <a:latin typeface="Quicksand"/>
              </a:rPr>
              <a:t>, together</a:t>
            </a:r>
            <a:r>
              <a:rPr sz="1600" b="0" dirty="0">
                <a:latin typeface="Quicksand"/>
              </a:rPr>
              <a:t>. </a:t>
            </a:r>
            <a:br>
              <a:rPr lang="en-US" sz="1600" b="0" dirty="0">
                <a:latin typeface="Quicksand"/>
              </a:rPr>
            </a:br>
            <a:r>
              <a:rPr sz="1600" b="0" dirty="0">
                <a:latin typeface="Quicksand"/>
              </a:rPr>
              <a:t>Loss = average of all 5 cross-entropy values.</a:t>
            </a:r>
          </a:p>
          <a:p>
            <a:endParaRPr sz="1600" b="0" dirty="0">
              <a:latin typeface="Quicksand"/>
            </a:endParaRPr>
          </a:p>
          <a:p>
            <a:r>
              <a:rPr sz="2000" b="1" dirty="0">
                <a:latin typeface="Quicksand"/>
              </a:rPr>
              <a:t>Inference: One Token at a Time</a:t>
            </a:r>
          </a:p>
          <a:p>
            <a:pPr>
              <a:spcBef>
                <a:spcPts val="600"/>
              </a:spcBef>
            </a:pPr>
            <a:r>
              <a:rPr sz="1600" b="0" dirty="0">
                <a:latin typeface="Quicksand"/>
              </a:rPr>
              <a:t>At inference, </a:t>
            </a:r>
            <a:r>
              <a:rPr lang="en-US" sz="1600" b="0" dirty="0">
                <a:latin typeface="Quicksand"/>
              </a:rPr>
              <a:t>we set </a:t>
            </a:r>
            <a:r>
              <a:rPr lang="en-US" sz="1600" b="0" dirty="0" err="1">
                <a:latin typeface="Quicksand"/>
              </a:rPr>
              <a:t>return_sequences</a:t>
            </a:r>
            <a:r>
              <a:rPr lang="en-US" sz="1600" b="0" dirty="0">
                <a:latin typeface="Quicksand"/>
              </a:rPr>
              <a:t> = False.</a:t>
            </a:r>
            <a:br>
              <a:rPr lang="en-US" sz="1600" b="0" dirty="0">
                <a:latin typeface="Quicksand"/>
              </a:rPr>
            </a:br>
            <a:r>
              <a:rPr lang="en-US" sz="1600" dirty="0">
                <a:latin typeface="Quicksand"/>
              </a:rPr>
              <a:t>W</a:t>
            </a:r>
            <a:r>
              <a:rPr sz="1600" b="0" dirty="0">
                <a:latin typeface="Quicksand"/>
              </a:rPr>
              <a:t>e generate one token</a:t>
            </a:r>
            <a:r>
              <a:rPr lang="en-US" sz="1600" b="0" dirty="0">
                <a:latin typeface="Quicksand"/>
              </a:rPr>
              <a:t> only</a:t>
            </a:r>
            <a:r>
              <a:rPr sz="1600" b="0" dirty="0">
                <a:latin typeface="Quicksand"/>
              </a:rPr>
              <a:t>, feed it back as input, </a:t>
            </a:r>
            <a:br>
              <a:rPr lang="en-US" sz="1600" b="0" dirty="0">
                <a:latin typeface="Quicksand"/>
              </a:rPr>
            </a:br>
            <a:r>
              <a:rPr sz="1600" b="0" dirty="0">
                <a:latin typeface="Quicksand"/>
              </a:rPr>
              <a:t>and repeat. Same weights, </a:t>
            </a:r>
            <a:r>
              <a:rPr lang="en-US" sz="1600" b="0" dirty="0">
                <a:latin typeface="Quicksand"/>
              </a:rPr>
              <a:t>just a </a:t>
            </a:r>
            <a:r>
              <a:rPr sz="1600" b="0" dirty="0">
                <a:latin typeface="Quicksand"/>
              </a:rPr>
              <a:t>different loop.</a:t>
            </a:r>
          </a:p>
        </p:txBody>
      </p:sp>
      <p:pic>
        <p:nvPicPr>
          <p:cNvPr id="2" name="Picture 1">
            <a:extLst>
              <a:ext uri="{FF2B5EF4-FFF2-40B4-BE49-F238E27FC236}">
                <a16:creationId xmlns:a16="http://schemas.microsoft.com/office/drawing/2014/main" id="{D2BC9EDA-C8B9-10F2-6A61-D0E56B313BBF}"/>
              </a:ext>
            </a:extLst>
          </p:cNvPr>
          <p:cNvPicPr>
            <a:picLocks noChangeAspect="1"/>
          </p:cNvPicPr>
          <p:nvPr/>
        </p:nvPicPr>
        <p:blipFill>
          <a:blip r:embed="rId3"/>
          <a:stretch>
            <a:fillRect/>
          </a:stretch>
        </p:blipFill>
        <p:spPr>
          <a:xfrm>
            <a:off x="6096000" y="3072300"/>
            <a:ext cx="5863482" cy="319826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42"/>
          <p:cNvSpPr txBox="1"/>
          <p:nvPr/>
        </p:nvSpPr>
        <p:spPr>
          <a:xfrm>
            <a:off x="2865521" y="586938"/>
            <a:ext cx="6460957" cy="92333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Generative Language Model</a:t>
            </a:r>
            <a:endParaRPr sz="1400" b="0" i="0" u="none" strike="noStrike" cap="none">
              <a:solidFill>
                <a:srgbClr val="000000"/>
              </a:solidFill>
              <a:latin typeface="Arial"/>
              <a:ea typeface="Arial"/>
              <a:cs typeface="Arial"/>
              <a:sym typeface="Arial"/>
            </a:endParaRPr>
          </a:p>
        </p:txBody>
      </p:sp>
      <p:sp>
        <p:nvSpPr>
          <p:cNvPr id="178" name="Google Shape;178;p42"/>
          <p:cNvSpPr txBox="1"/>
          <p:nvPr/>
        </p:nvSpPr>
        <p:spPr>
          <a:xfrm>
            <a:off x="805961" y="1779611"/>
            <a:ext cx="10576733" cy="206206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Quicksand"/>
                <a:ea typeface="Quicksand"/>
                <a:cs typeface="Quicksand"/>
                <a:sym typeface="Quicksand"/>
              </a:rPr>
              <a:t>Inference with Generative Language Models</a:t>
            </a:r>
            <a:endParaRPr sz="1800" b="0" i="0" u="none" strike="noStrike" cap="none" dirty="0">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We modify the layer to only produce a single output token (</a:t>
            </a:r>
            <a:r>
              <a:rPr lang="en-US" sz="1800" b="0" i="0" u="none" strike="noStrike" cap="none" dirty="0" err="1">
                <a:solidFill>
                  <a:schemeClr val="dk1"/>
                </a:solidFill>
                <a:latin typeface="Quicksand"/>
                <a:ea typeface="Quicksand"/>
                <a:cs typeface="Quicksand"/>
                <a:sym typeface="Quicksand"/>
              </a:rPr>
              <a:t>return_sequences</a:t>
            </a:r>
            <a:r>
              <a:rPr lang="en-US" sz="1800" b="0" i="0" u="none" strike="noStrike" cap="none" dirty="0">
                <a:solidFill>
                  <a:schemeClr val="dk1"/>
                </a:solidFill>
                <a:latin typeface="Quicksand"/>
                <a:ea typeface="Quicksand"/>
                <a:cs typeface="Quicksand"/>
                <a:sym typeface="Quicksand"/>
              </a:rPr>
              <a:t> = False).</a:t>
            </a: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We then wrap the new layers with a feedback loop that takes the last prediction and passes it as input to the model again along with the most recent embedding that captures ‘what we’ve done so far’. </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chemeClr val="dk1"/>
              </a:solidFill>
              <a:latin typeface="Quicksand"/>
              <a:ea typeface="Quicksand"/>
              <a:cs typeface="Quicksand"/>
              <a:sym typeface="Quicksand"/>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dirty="0">
              <a:solidFill>
                <a:srgbClr val="000000"/>
              </a:solidFill>
              <a:latin typeface="Arial"/>
              <a:ea typeface="Arial"/>
              <a:cs typeface="Arial"/>
              <a:sym typeface="Arial"/>
            </a:endParaRPr>
          </a:p>
        </p:txBody>
      </p:sp>
      <p:pic>
        <p:nvPicPr>
          <p:cNvPr id="180" name="Google Shape;180;p42" descr="Getting Started with Large Language Models: Finetuning [Part 2/3] | by  keithczq | GoPenAI"/>
          <p:cNvPicPr preferRelativeResize="0"/>
          <p:nvPr/>
        </p:nvPicPr>
        <p:blipFill rotWithShape="1">
          <a:blip r:embed="rId3">
            <a:alphaModFix/>
          </a:blip>
          <a:srcRect/>
          <a:stretch/>
        </p:blipFill>
        <p:spPr>
          <a:xfrm>
            <a:off x="3689597" y="3559002"/>
            <a:ext cx="4809459" cy="271206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43"/>
          <p:cNvSpPr txBox="1"/>
          <p:nvPr/>
        </p:nvSpPr>
        <p:spPr>
          <a:xfrm>
            <a:off x="1836516" y="486655"/>
            <a:ext cx="8518967"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Generative Pre-trained Transformers</a:t>
            </a:r>
            <a:endParaRPr sz="1400" b="0" i="0" u="none" strike="noStrike" cap="none">
              <a:solidFill>
                <a:srgbClr val="000000"/>
              </a:solidFill>
              <a:latin typeface="Arial"/>
              <a:ea typeface="Arial"/>
              <a:cs typeface="Arial"/>
              <a:sym typeface="Arial"/>
            </a:endParaRPr>
          </a:p>
        </p:txBody>
      </p:sp>
      <p:sp>
        <p:nvSpPr>
          <p:cNvPr id="186" name="Google Shape;186;p43"/>
          <p:cNvSpPr txBox="1"/>
          <p:nvPr/>
        </p:nvSpPr>
        <p:spPr>
          <a:xfrm>
            <a:off x="550379" y="1789175"/>
            <a:ext cx="5954111" cy="427805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chemeClr val="dk1"/>
                </a:solidFill>
                <a:latin typeface="Quicksand"/>
                <a:ea typeface="Quicksand"/>
                <a:cs typeface="Quicksand"/>
                <a:sym typeface="Quicksand"/>
              </a:rPr>
              <a:t>Generative Pre-trained Transformers (GPTs)</a:t>
            </a:r>
            <a:br>
              <a:rPr lang="en-US" sz="2000" b="1" i="0" u="none" strike="noStrike" cap="none">
                <a:solidFill>
                  <a:schemeClr val="dk1"/>
                </a:solidFill>
                <a:latin typeface="Quicksand"/>
                <a:ea typeface="Quicksand"/>
                <a:cs typeface="Quicksand"/>
                <a:sym typeface="Quicksand"/>
              </a:rPr>
            </a:br>
            <a:endParaRPr sz="1800" b="0" i="0" u="none" strike="noStrike" cap="none">
              <a:solidFill>
                <a:schemeClr val="dk1"/>
              </a:solidFill>
              <a:latin typeface="Quicksand"/>
              <a:ea typeface="Quicksand"/>
              <a:cs typeface="Quicksand"/>
              <a:sym typeface="Quicksand"/>
            </a:endParaRPr>
          </a:p>
          <a:p>
            <a:pPr marL="0" marR="0" lvl="0" indent="0" algn="l" rtl="0">
              <a:lnSpc>
                <a:spcPct val="100000"/>
              </a:lnSpc>
              <a:spcBef>
                <a:spcPts val="0"/>
              </a:spcBef>
              <a:spcAft>
                <a:spcPts val="0"/>
              </a:spcAft>
              <a:buClr>
                <a:srgbClr val="000000"/>
              </a:buClr>
              <a:buSzPts val="2000"/>
              <a:buFont typeface="Arial"/>
              <a:buNone/>
            </a:pPr>
            <a:r>
              <a:rPr lang="en-US" sz="1800" b="0" i="0" u="none" strike="noStrike" cap="none">
                <a:solidFill>
                  <a:schemeClr val="dk1"/>
                </a:solidFill>
                <a:latin typeface="Quicksand"/>
                <a:ea typeface="Quicksand"/>
                <a:cs typeface="Quicksand"/>
                <a:sym typeface="Quicksand"/>
              </a:rPr>
              <a:t>In 2018, not long after “Attention Is All You Need,” OpenAI put out a paper about the efficacy of scaling data and compute with a mixture of basic ingredients: i) vast amounts of highly varied text, ii) a generative language architecture, and iii) transformers (oh, and RLHF).</a:t>
            </a:r>
            <a:br>
              <a:rPr lang="en-US" sz="1800" b="0" i="0" u="none" strike="noStrike" cap="none">
                <a:solidFill>
                  <a:schemeClr val="dk1"/>
                </a:solidFill>
                <a:latin typeface="Quicksand"/>
                <a:ea typeface="Quicksand"/>
                <a:cs typeface="Quicksand"/>
                <a:sym typeface="Quicksand"/>
              </a:rPr>
            </a:br>
            <a:endParaRPr sz="1800" b="0" i="0" u="none" strike="noStrike" cap="none">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GPT-1 (2018) had 117 million parameters trained on 10 million tokens. </a:t>
            </a:r>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GPT-2 (2019) had 1.5 billion parameters and was trained on 10 billion tokens. </a:t>
            </a:r>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none" strike="noStrike" cap="none">
                <a:solidFill>
                  <a:schemeClr val="dk1"/>
                </a:solidFill>
                <a:latin typeface="Quicksand"/>
                <a:ea typeface="Quicksand"/>
                <a:cs typeface="Quicksand"/>
                <a:sym typeface="Quicksand"/>
              </a:rPr>
              <a:t>GPT-3 (2020) had 175 billion parameters and was trained on 300 billion tokens.</a:t>
            </a:r>
            <a:endParaRPr/>
          </a:p>
        </p:txBody>
      </p:sp>
      <p:pic>
        <p:nvPicPr>
          <p:cNvPr id="187" name="Google Shape;187;p43"/>
          <p:cNvPicPr preferRelativeResize="0"/>
          <p:nvPr/>
        </p:nvPicPr>
        <p:blipFill rotWithShape="1">
          <a:blip r:embed="rId3">
            <a:alphaModFix/>
          </a:blip>
          <a:srcRect/>
          <a:stretch/>
        </p:blipFill>
        <p:spPr>
          <a:xfrm>
            <a:off x="6597088" y="1946704"/>
            <a:ext cx="5243814" cy="396299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7"/>
          <p:cNvSpPr txBox="1"/>
          <p:nvPr/>
        </p:nvSpPr>
        <p:spPr>
          <a:xfrm>
            <a:off x="798653" y="423819"/>
            <a:ext cx="10444705"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GPTs (and LLMs Generally) Have Many Problems</a:t>
            </a:r>
            <a:endParaRPr sz="1400" b="0" i="0" u="none" strike="noStrike" cap="none">
              <a:solidFill>
                <a:srgbClr val="000000"/>
              </a:solidFill>
              <a:latin typeface="Arial"/>
              <a:ea typeface="Arial"/>
              <a:cs typeface="Arial"/>
              <a:sym typeface="Arial"/>
            </a:endParaRPr>
          </a:p>
        </p:txBody>
      </p:sp>
      <p:sp>
        <p:nvSpPr>
          <p:cNvPr id="211" name="Google Shape;211;p47"/>
          <p:cNvSpPr txBox="1"/>
          <p:nvPr/>
        </p:nvSpPr>
        <p:spPr>
          <a:xfrm>
            <a:off x="550379" y="1695483"/>
            <a:ext cx="8338978" cy="48320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Quicksand"/>
                <a:ea typeface="Quicksand"/>
                <a:cs typeface="Quicksand"/>
                <a:sym typeface="Quicksand"/>
              </a:rPr>
              <a:t>Various Challenges with LLMs (Among Many Others)</a:t>
            </a:r>
            <a:endParaRPr dirty="0"/>
          </a:p>
          <a:p>
            <a:pPr marL="0" marR="0" lvl="0" indent="0" algn="l" rtl="0">
              <a:lnSpc>
                <a:spcPct val="100000"/>
              </a:lnSpc>
              <a:spcBef>
                <a:spcPts val="0"/>
              </a:spcBef>
              <a:spcAft>
                <a:spcPts val="0"/>
              </a:spcAft>
              <a:buClr>
                <a:srgbClr val="000000"/>
              </a:buClr>
              <a:buSzPts val="2000"/>
              <a:buFont typeface="Arial"/>
              <a:buNone/>
            </a:pPr>
            <a:endParaRPr sz="1800" b="0" i="0" u="none" strike="noStrike" cap="none" dirty="0">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sng" strike="noStrike" cap="none" dirty="0">
                <a:solidFill>
                  <a:schemeClr val="dk1"/>
                </a:solidFill>
                <a:latin typeface="Quicksand"/>
                <a:ea typeface="Quicksand"/>
                <a:cs typeface="Quicksand"/>
                <a:sym typeface="Quicksand"/>
              </a:rPr>
              <a:t>Hallucination:</a:t>
            </a:r>
            <a:r>
              <a:rPr lang="en-US" sz="1800" b="0" i="0" u="none" strike="noStrike" cap="none" dirty="0">
                <a:solidFill>
                  <a:schemeClr val="dk1"/>
                </a:solidFill>
                <a:latin typeface="Quicksand"/>
                <a:ea typeface="Quicksand"/>
                <a:cs typeface="Quicksand"/>
                <a:sym typeface="Quicksand"/>
              </a:rPr>
              <a:t> They produce plausible text as output, not necessarily truthful or correct text. Therefore, they are highly dependent on the quality of training data.</a:t>
            </a:r>
            <a:endParaRPr dirty="0"/>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dirty="0">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sng" strike="noStrike" cap="none" dirty="0">
                <a:solidFill>
                  <a:schemeClr val="dk1"/>
                </a:solidFill>
                <a:latin typeface="Quicksand"/>
                <a:ea typeface="Quicksand"/>
                <a:cs typeface="Quicksand"/>
                <a:sym typeface="Quicksand"/>
              </a:rPr>
              <a:t>Prompt Brittleness:</a:t>
            </a:r>
            <a:r>
              <a:rPr lang="en-US" sz="1800" b="0" i="0" u="none" strike="noStrike" cap="none" dirty="0">
                <a:solidFill>
                  <a:schemeClr val="dk1"/>
                </a:solidFill>
                <a:latin typeface="Quicksand"/>
                <a:ea typeface="Quicksand"/>
                <a:cs typeface="Quicksand"/>
                <a:sym typeface="Quicksand"/>
              </a:rPr>
              <a:t> Rewording a prompt even slightly can lead to considerable changes in model response. For example, if you ask the same question of an LLM in different languages, you can get very different answers (conceptually and semantically)! </a:t>
            </a:r>
            <a:endParaRPr dirty="0"/>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dirty="0">
              <a:solidFill>
                <a:schemeClr val="dk1"/>
              </a:solidFill>
              <a:latin typeface="Quicksand"/>
              <a:ea typeface="Quicksand"/>
              <a:cs typeface="Quicksand"/>
              <a:sym typeface="Quicksand"/>
            </a:endParaRPr>
          </a:p>
          <a:p>
            <a:pPr marL="342900" marR="0" lvl="0" indent="-342900" algn="l" rtl="0">
              <a:lnSpc>
                <a:spcPct val="100000"/>
              </a:lnSpc>
              <a:spcBef>
                <a:spcPts val="0"/>
              </a:spcBef>
              <a:spcAft>
                <a:spcPts val="0"/>
              </a:spcAft>
              <a:buClr>
                <a:schemeClr val="dk1"/>
              </a:buClr>
              <a:buSzPts val="1800"/>
              <a:buFont typeface="Arial"/>
              <a:buChar char="•"/>
            </a:pPr>
            <a:r>
              <a:rPr lang="en-US" sz="1800" b="0" i="0" u="sng" strike="noStrike" cap="none" dirty="0">
                <a:solidFill>
                  <a:schemeClr val="dk1"/>
                </a:solidFill>
                <a:latin typeface="Quicksand"/>
                <a:ea typeface="Quicksand"/>
                <a:cs typeface="Quicksand"/>
                <a:sym typeface="Quicksand"/>
              </a:rPr>
              <a:t>Memorization:</a:t>
            </a:r>
            <a:r>
              <a:rPr lang="en-US" sz="1800" b="1" i="0" u="none" strike="noStrike" cap="none" dirty="0">
                <a:solidFill>
                  <a:schemeClr val="dk1"/>
                </a:solidFill>
                <a:latin typeface="Quicksand"/>
                <a:ea typeface="Quicksand"/>
                <a:cs typeface="Quicksand"/>
                <a:sym typeface="Quicksand"/>
              </a:rPr>
              <a:t> </a:t>
            </a:r>
            <a:r>
              <a:rPr lang="en-US" sz="1800" b="0" i="0" u="none" strike="noStrike" cap="none" dirty="0">
                <a:solidFill>
                  <a:schemeClr val="dk1"/>
                </a:solidFill>
                <a:latin typeface="Quicksand"/>
                <a:ea typeface="Quicksand"/>
                <a:cs typeface="Quicksand"/>
                <a:sym typeface="Quicksand"/>
              </a:rPr>
              <a:t>Assessing the performance of LLMs on various task benchmarks is quite challenging because it is often tough to assess whether the model has seen the problem previously and is merely looking up the answer in training data. This affects whether performance reflects how a model might perform on an entirely new task. </a:t>
            </a:r>
            <a:endParaRPr sz="1800" b="0" i="0" u="sng" strike="noStrike" cap="none" dirty="0">
              <a:solidFill>
                <a:schemeClr val="dk1"/>
              </a:solidFill>
              <a:latin typeface="Quicksand"/>
              <a:ea typeface="Quicksand"/>
              <a:cs typeface="Quicksand"/>
              <a:sym typeface="Quicksand"/>
            </a:endParaRPr>
          </a:p>
          <a:p>
            <a:pPr marL="342900" marR="0" lvl="0" indent="-228600" algn="l" rtl="0">
              <a:lnSpc>
                <a:spcPct val="100000"/>
              </a:lnSpc>
              <a:spcBef>
                <a:spcPts val="0"/>
              </a:spcBef>
              <a:spcAft>
                <a:spcPts val="0"/>
              </a:spcAft>
              <a:buClr>
                <a:schemeClr val="dk1"/>
              </a:buClr>
              <a:buSzPts val="1800"/>
              <a:buFont typeface="Arial"/>
              <a:buNone/>
            </a:pPr>
            <a:endParaRPr sz="1800" b="0" i="0" u="none" strike="noStrike" cap="none" dirty="0">
              <a:solidFill>
                <a:schemeClr val="dk1"/>
              </a:solidFill>
              <a:latin typeface="Quicksand"/>
              <a:ea typeface="Quicksand"/>
              <a:cs typeface="Quicksand"/>
              <a:sym typeface="Quicksand"/>
            </a:endParaRPr>
          </a:p>
        </p:txBody>
      </p:sp>
      <p:pic>
        <p:nvPicPr>
          <p:cNvPr id="212" name="Google Shape;212;p47" descr="The Sisyphus Treadmill: Why we keep falling for rehashed ideas - Darius  Foroux"/>
          <p:cNvPicPr preferRelativeResize="0"/>
          <p:nvPr/>
        </p:nvPicPr>
        <p:blipFill rotWithShape="1">
          <a:blip r:embed="rId3">
            <a:alphaModFix/>
          </a:blip>
          <a:srcRect/>
          <a:stretch/>
        </p:blipFill>
        <p:spPr>
          <a:xfrm>
            <a:off x="8696445" y="2355448"/>
            <a:ext cx="2862805" cy="2147104"/>
          </a:xfrm>
          <a:prstGeom prst="rect">
            <a:avLst/>
          </a:prstGeom>
          <a:noFill/>
          <a:ln>
            <a:noFill/>
          </a:ln>
          <a:effectLst>
            <a:outerShdw blurRad="292100" dist="139700" dir="2700000" algn="tl" rotWithShape="0">
              <a:srgbClr val="333333">
                <a:alpha val="64705"/>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48"/>
          <p:cNvSpPr txBox="1"/>
          <p:nvPr/>
        </p:nvSpPr>
        <p:spPr>
          <a:xfrm>
            <a:off x="1836516" y="486655"/>
            <a:ext cx="8518967"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a:solidFill>
                  <a:schemeClr val="dk1"/>
                </a:solidFill>
                <a:latin typeface="Economica"/>
                <a:ea typeface="Economica"/>
                <a:cs typeface="Economica"/>
                <a:sym typeface="Economica"/>
              </a:rPr>
              <a:t>Lots of Pre-Trained LLMs Around</a:t>
            </a:r>
            <a:endParaRPr sz="1400" b="0" i="0" u="none" strike="noStrike" cap="none">
              <a:solidFill>
                <a:srgbClr val="000000"/>
              </a:solidFill>
              <a:latin typeface="Arial"/>
              <a:ea typeface="Arial"/>
              <a:cs typeface="Arial"/>
              <a:sym typeface="Arial"/>
            </a:endParaRPr>
          </a:p>
        </p:txBody>
      </p:sp>
      <p:sp>
        <p:nvSpPr>
          <p:cNvPr id="218" name="Google Shape;218;p48"/>
          <p:cNvSpPr txBox="1"/>
          <p:nvPr/>
        </p:nvSpPr>
        <p:spPr>
          <a:xfrm>
            <a:off x="550380" y="1789175"/>
            <a:ext cx="5044534" cy="347783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chemeClr val="dk1"/>
                </a:solidFill>
                <a:latin typeface="Quicksand"/>
                <a:ea typeface="Quicksand"/>
                <a:cs typeface="Quicksand"/>
                <a:sym typeface="Quicksand"/>
              </a:rPr>
              <a:t>Loading Pre-trained Models from Keras Hub</a:t>
            </a:r>
            <a:endParaRPr/>
          </a:p>
          <a:p>
            <a:pPr marL="0" marR="0" lvl="0" indent="0" algn="l" rtl="0">
              <a:lnSpc>
                <a:spcPct val="100000"/>
              </a:lnSpc>
              <a:spcBef>
                <a:spcPts val="0"/>
              </a:spcBef>
              <a:spcAft>
                <a:spcPts val="0"/>
              </a:spcAft>
              <a:buClr>
                <a:srgbClr val="000000"/>
              </a:buClr>
              <a:buSzPts val="2000"/>
              <a:buFont typeface="Arial"/>
              <a:buNone/>
            </a:pPr>
            <a:endParaRPr sz="1800" b="0" i="0" u="none" strike="noStrike" cap="none">
              <a:solidFill>
                <a:schemeClr val="dk1"/>
              </a:solidFill>
              <a:latin typeface="Quicksand"/>
              <a:ea typeface="Quicksand"/>
              <a:cs typeface="Quicksand"/>
              <a:sym typeface="Quicksand"/>
            </a:endParaRPr>
          </a:p>
          <a:p>
            <a:pPr marL="0" marR="0" lvl="0" indent="0" algn="l" rtl="0">
              <a:lnSpc>
                <a:spcPct val="100000"/>
              </a:lnSpc>
              <a:spcBef>
                <a:spcPts val="0"/>
              </a:spcBef>
              <a:spcAft>
                <a:spcPts val="0"/>
              </a:spcAft>
              <a:buClr>
                <a:srgbClr val="000000"/>
              </a:buClr>
              <a:buSzPts val="2000"/>
              <a:buFont typeface="Arial"/>
              <a:buNone/>
            </a:pPr>
            <a:r>
              <a:rPr lang="en-US" sz="1800" b="0" i="0" u="none" strike="noStrike" cap="none">
                <a:solidFill>
                  <a:schemeClr val="dk1"/>
                </a:solidFill>
                <a:latin typeface="Quicksand"/>
                <a:ea typeface="Quicksand"/>
                <a:cs typeface="Quicksand"/>
                <a:sym typeface="Quicksand"/>
              </a:rPr>
              <a:t>Check out what is available on the Keras hub. Many open-source and free-to-use models are there, though many are too large for a Colab notebook. </a:t>
            </a:r>
            <a:endParaRPr/>
          </a:p>
          <a:p>
            <a:pPr marL="0" marR="0" lvl="0" indent="0" algn="l" rtl="0">
              <a:lnSpc>
                <a:spcPct val="100000"/>
              </a:lnSpc>
              <a:spcBef>
                <a:spcPts val="0"/>
              </a:spcBef>
              <a:spcAft>
                <a:spcPts val="0"/>
              </a:spcAft>
              <a:buClr>
                <a:srgbClr val="000000"/>
              </a:buClr>
              <a:buSzPts val="2000"/>
              <a:buFont typeface="Arial"/>
              <a:buNone/>
            </a:pPr>
            <a:endParaRPr sz="1800" b="0" i="0" u="none" strike="noStrike" cap="none">
              <a:solidFill>
                <a:schemeClr val="dk1"/>
              </a:solidFill>
              <a:latin typeface="Quicksand"/>
              <a:ea typeface="Quicksand"/>
              <a:cs typeface="Quicksand"/>
              <a:sym typeface="Quicksand"/>
            </a:endParaRPr>
          </a:p>
          <a:p>
            <a:pPr marL="0" marR="0" lvl="0" indent="0" algn="l" rtl="0">
              <a:lnSpc>
                <a:spcPct val="100000"/>
              </a:lnSpc>
              <a:spcBef>
                <a:spcPts val="0"/>
              </a:spcBef>
              <a:spcAft>
                <a:spcPts val="0"/>
              </a:spcAft>
              <a:buClr>
                <a:srgbClr val="000000"/>
              </a:buClr>
              <a:buSzPts val="2000"/>
              <a:buFont typeface="Arial"/>
              <a:buNone/>
            </a:pPr>
            <a:r>
              <a:rPr lang="en-US" sz="1800" b="0" i="0" u="none" strike="noStrike" cap="none">
                <a:solidFill>
                  <a:schemeClr val="dk1"/>
                </a:solidFill>
                <a:latin typeface="Quicksand"/>
                <a:ea typeface="Quicksand"/>
                <a:cs typeface="Quicksand"/>
                <a:sym typeface="Quicksand"/>
              </a:rPr>
              <a:t>Kaggle hosts some of the models. For a given model, you may need to visit Kaggle and create an API key, complete a request form, or agree to terms and conditions.  </a:t>
            </a:r>
            <a:endParaRPr/>
          </a:p>
        </p:txBody>
      </p:sp>
      <p:pic>
        <p:nvPicPr>
          <p:cNvPr id="219" name="Google Shape;219;p48"/>
          <p:cNvPicPr preferRelativeResize="0"/>
          <p:nvPr/>
        </p:nvPicPr>
        <p:blipFill rotWithShape="1">
          <a:blip r:embed="rId3">
            <a:alphaModFix/>
          </a:blip>
          <a:srcRect/>
          <a:stretch/>
        </p:blipFill>
        <p:spPr>
          <a:xfrm>
            <a:off x="5990016" y="1789175"/>
            <a:ext cx="5651604" cy="423343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50"/>
          <p:cNvSpPr txBox="1"/>
          <p:nvPr/>
        </p:nvSpPr>
        <p:spPr>
          <a:xfrm>
            <a:off x="798653" y="423819"/>
            <a:ext cx="10444705"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dirty="0">
                <a:solidFill>
                  <a:schemeClr val="dk1"/>
                </a:solidFill>
                <a:latin typeface="Economica"/>
                <a:ea typeface="Economica"/>
                <a:cs typeface="Economica"/>
                <a:sym typeface="Economica"/>
              </a:rPr>
              <a:t>LLM Prompting Strategies (In-Context Learning)</a:t>
            </a:r>
            <a:endParaRPr sz="1400" b="0" i="0" u="none" strike="noStrike" cap="none" dirty="0">
              <a:solidFill>
                <a:srgbClr val="000000"/>
              </a:solidFill>
              <a:latin typeface="Arial"/>
              <a:ea typeface="Arial"/>
              <a:cs typeface="Arial"/>
              <a:sym typeface="Arial"/>
            </a:endParaRPr>
          </a:p>
        </p:txBody>
      </p:sp>
      <p:pic>
        <p:nvPicPr>
          <p:cNvPr id="232" name="Google Shape;232;p50" descr="Standard prompting vs Chain of Thought prompting"/>
          <p:cNvPicPr preferRelativeResize="0"/>
          <p:nvPr/>
        </p:nvPicPr>
        <p:blipFill rotWithShape="1">
          <a:blip r:embed="rId3">
            <a:alphaModFix/>
          </a:blip>
          <a:srcRect/>
          <a:stretch/>
        </p:blipFill>
        <p:spPr>
          <a:xfrm>
            <a:off x="6331635" y="2366851"/>
            <a:ext cx="5624464" cy="2830182"/>
          </a:xfrm>
          <a:prstGeom prst="rect">
            <a:avLst/>
          </a:prstGeom>
          <a:noFill/>
          <a:ln>
            <a:noFill/>
          </a:ln>
        </p:spPr>
      </p:pic>
      <p:sp>
        <p:nvSpPr>
          <p:cNvPr id="233" name="Google Shape;233;p50"/>
          <p:cNvSpPr txBox="1"/>
          <p:nvPr/>
        </p:nvSpPr>
        <p:spPr>
          <a:xfrm>
            <a:off x="491490" y="2043024"/>
            <a:ext cx="5368876" cy="347783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Quicksand"/>
                <a:ea typeface="Quicksand"/>
                <a:cs typeface="Quicksand"/>
                <a:sym typeface="Quicksand"/>
              </a:rPr>
              <a:t>Demonstrations vs. Reasoning Traces</a:t>
            </a:r>
            <a:endParaRPr dirty="0"/>
          </a:p>
          <a:p>
            <a:pPr marL="0" marR="0" lvl="0" indent="0" algn="l" rtl="0">
              <a:lnSpc>
                <a:spcPct val="100000"/>
              </a:lnSpc>
              <a:spcBef>
                <a:spcPts val="0"/>
              </a:spcBef>
              <a:spcAft>
                <a:spcPts val="0"/>
              </a:spcAft>
              <a:buClr>
                <a:srgbClr val="000000"/>
              </a:buClr>
              <a:buSzPts val="2000"/>
              <a:buFont typeface="Arial"/>
              <a:buNone/>
            </a:pPr>
            <a:endParaRPr sz="2000" b="1" i="0" u="none" strike="noStrike" cap="none" dirty="0">
              <a:solidFill>
                <a:schemeClr val="dk1"/>
              </a:solidFill>
              <a:latin typeface="Quicksand"/>
              <a:ea typeface="Quicksand"/>
              <a:cs typeface="Quicksand"/>
              <a:sym typeface="Quicksand"/>
            </a:endParaRPr>
          </a:p>
          <a:p>
            <a:pPr marL="285750" marR="0" lvl="0" indent="-285750" algn="l" rtl="0">
              <a:lnSpc>
                <a:spcPct val="100000"/>
              </a:lnSpc>
              <a:spcBef>
                <a:spcPts val="0"/>
              </a:spcBef>
              <a:spcAft>
                <a:spcPts val="0"/>
              </a:spcAft>
              <a:buClr>
                <a:srgbClr val="000000"/>
              </a:buClr>
              <a:buSzPts val="2000"/>
              <a:buFont typeface="Arial"/>
              <a:buChar char="•"/>
            </a:pPr>
            <a:r>
              <a:rPr lang="en-US" sz="1800" b="0" i="0" u="sng" strike="noStrike" cap="none" dirty="0">
                <a:solidFill>
                  <a:schemeClr val="dk1"/>
                </a:solidFill>
                <a:latin typeface="Quicksand"/>
                <a:ea typeface="Quicksand"/>
                <a:cs typeface="Quicksand"/>
                <a:sym typeface="Quicksand"/>
              </a:rPr>
              <a:t>Zero-shot vs. Few shot:</a:t>
            </a:r>
            <a:r>
              <a:rPr lang="en-US" sz="1800" b="0" i="0" u="none" strike="noStrike" cap="none" dirty="0">
                <a:solidFill>
                  <a:schemeClr val="dk1"/>
                </a:solidFill>
                <a:latin typeface="Quicksand"/>
                <a:ea typeface="Quicksand"/>
                <a:cs typeface="Quicksand"/>
                <a:sym typeface="Quicksand"/>
              </a:rPr>
              <a:t> Just ask the model to answer a question (zero-) vs. provide ‘good’ prompt response pairs as examples while asking the model to answer a question (few-).</a:t>
            </a:r>
            <a:endParaRPr dirty="0"/>
          </a:p>
          <a:p>
            <a:pPr marL="285750" marR="0" lvl="0" indent="-171450" algn="l" rtl="0">
              <a:lnSpc>
                <a:spcPct val="100000"/>
              </a:lnSpc>
              <a:spcBef>
                <a:spcPts val="0"/>
              </a:spcBef>
              <a:spcAft>
                <a:spcPts val="0"/>
              </a:spcAft>
              <a:buClr>
                <a:schemeClr val="dk1"/>
              </a:buClr>
              <a:buSzPts val="1800"/>
              <a:buFont typeface="Arial"/>
              <a:buNone/>
            </a:pPr>
            <a:endParaRPr sz="1800" b="0" i="0" u="none" strike="noStrike" cap="none" dirty="0">
              <a:solidFill>
                <a:schemeClr val="dk1"/>
              </a:solidFill>
              <a:latin typeface="Quicksand"/>
              <a:ea typeface="Quicksand"/>
              <a:cs typeface="Quicksand"/>
              <a:sym typeface="Quicksand"/>
            </a:endParaRPr>
          </a:p>
          <a:p>
            <a:pPr marL="285750" marR="0" lvl="0" indent="-285750" algn="l" rtl="0">
              <a:lnSpc>
                <a:spcPct val="100000"/>
              </a:lnSpc>
              <a:spcBef>
                <a:spcPts val="0"/>
              </a:spcBef>
              <a:spcAft>
                <a:spcPts val="0"/>
              </a:spcAft>
              <a:buClr>
                <a:schemeClr val="dk1"/>
              </a:buClr>
              <a:buSzPts val="1800"/>
              <a:buFont typeface="Arial"/>
              <a:buChar char="•"/>
            </a:pPr>
            <a:r>
              <a:rPr lang="en-US" sz="1800" b="0" i="0" u="sng" strike="noStrike" cap="none" dirty="0">
                <a:solidFill>
                  <a:schemeClr val="dk1"/>
                </a:solidFill>
                <a:latin typeface="Quicksand"/>
                <a:ea typeface="Quicksand"/>
                <a:cs typeface="Quicksand"/>
                <a:sym typeface="Quicksand"/>
              </a:rPr>
              <a:t>Chain of Thought (</a:t>
            </a:r>
            <a:r>
              <a:rPr lang="en-US" sz="1800" b="0" i="0" u="sng" strike="noStrike" cap="none" dirty="0" err="1">
                <a:solidFill>
                  <a:schemeClr val="dk1"/>
                </a:solidFill>
                <a:latin typeface="Quicksand"/>
                <a:ea typeface="Quicksand"/>
                <a:cs typeface="Quicksand"/>
                <a:sym typeface="Quicksand"/>
              </a:rPr>
              <a:t>CoT</a:t>
            </a:r>
            <a:r>
              <a:rPr lang="en-US" sz="1800" b="0" i="0" u="sng" strike="noStrike" cap="none" dirty="0">
                <a:solidFill>
                  <a:schemeClr val="dk1"/>
                </a:solidFill>
                <a:latin typeface="Quicksand"/>
                <a:ea typeface="Quicksand"/>
                <a:cs typeface="Quicksand"/>
                <a:sym typeface="Quicksand"/>
              </a:rPr>
              <a:t>):</a:t>
            </a:r>
            <a:r>
              <a:rPr lang="en-US" sz="1800" b="1" i="0" u="none" strike="noStrike" cap="none" dirty="0">
                <a:solidFill>
                  <a:schemeClr val="dk1"/>
                </a:solidFill>
                <a:latin typeface="Quicksand"/>
                <a:ea typeface="Quicksand"/>
                <a:cs typeface="Quicksand"/>
                <a:sym typeface="Quicksand"/>
              </a:rPr>
              <a:t> </a:t>
            </a:r>
            <a:r>
              <a:rPr lang="en-US" sz="1800" b="0" i="0" u="none" strike="noStrike" cap="none" dirty="0">
                <a:solidFill>
                  <a:schemeClr val="dk1"/>
                </a:solidFill>
                <a:latin typeface="Quicksand"/>
                <a:ea typeface="Quicksand"/>
                <a:cs typeface="Quicksand"/>
                <a:sym typeface="Quicksand"/>
              </a:rPr>
              <a:t>Provide examples of question + reasoning process + answer. </a:t>
            </a:r>
            <a:r>
              <a:rPr lang="en-US" sz="1800" b="0" i="1" u="none" strike="noStrike" cap="none" dirty="0">
                <a:solidFill>
                  <a:schemeClr val="dk1"/>
                </a:solidFill>
                <a:latin typeface="Quicksand"/>
                <a:ea typeface="Quicksand"/>
                <a:cs typeface="Quicksand"/>
                <a:sym typeface="Quicksand"/>
              </a:rPr>
              <a:t>Note: not the same as reasoning / thinking models, which are models that are pre-trained on reasoning traces.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51"/>
          <p:cNvSpPr txBox="1"/>
          <p:nvPr/>
        </p:nvSpPr>
        <p:spPr>
          <a:xfrm>
            <a:off x="873647" y="576483"/>
            <a:ext cx="10444705"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5400"/>
              <a:buFont typeface="Arial"/>
              <a:buNone/>
            </a:pPr>
            <a:r>
              <a:rPr lang="en-US" sz="5400" b="0" i="0" u="none" strike="noStrike" cap="none" dirty="0">
                <a:solidFill>
                  <a:schemeClr val="dk1"/>
                </a:solidFill>
                <a:latin typeface="Economica"/>
                <a:ea typeface="Economica"/>
                <a:cs typeface="Economica"/>
                <a:sym typeface="Economica"/>
              </a:rPr>
              <a:t>Recent Architectural Innovations</a:t>
            </a:r>
            <a:endParaRPr sz="1400" b="0" i="0" u="none" strike="noStrike" cap="none" dirty="0">
              <a:solidFill>
                <a:srgbClr val="000000"/>
              </a:solidFill>
              <a:latin typeface="Arial"/>
              <a:ea typeface="Arial"/>
              <a:cs typeface="Arial"/>
              <a:sym typeface="Arial"/>
            </a:endParaRPr>
          </a:p>
        </p:txBody>
      </p:sp>
      <p:sp>
        <p:nvSpPr>
          <p:cNvPr id="239" name="Google Shape;239;p51"/>
          <p:cNvSpPr txBox="1"/>
          <p:nvPr/>
        </p:nvSpPr>
        <p:spPr>
          <a:xfrm>
            <a:off x="566486" y="1859140"/>
            <a:ext cx="5614396" cy="455505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Quicksand"/>
                <a:ea typeface="Quicksand"/>
                <a:cs typeface="Quicksand"/>
                <a:sym typeface="Quicksand"/>
              </a:rPr>
              <a:t>Mixture of Experts</a:t>
            </a:r>
            <a:endParaRPr sz="1800" b="0" i="0" u="none" strike="noStrike" cap="none" dirty="0">
              <a:solidFill>
                <a:schemeClr val="dk1"/>
              </a:solidFill>
              <a:latin typeface="Quicksand"/>
              <a:ea typeface="Quicksand"/>
              <a:cs typeface="Quicksand"/>
              <a:sym typeface="Quicksand"/>
            </a:endParaRPr>
          </a:p>
          <a:p>
            <a:pPr marL="0" marR="0" lvl="0" indent="0" algn="l" rtl="0">
              <a:lnSpc>
                <a:spcPct val="100000"/>
              </a:lnSpc>
              <a:spcBef>
                <a:spcPts val="0"/>
              </a:spcBef>
              <a:spcAft>
                <a:spcPts val="0"/>
              </a:spcAft>
              <a:buNone/>
            </a:pPr>
            <a:endParaRPr sz="1800" b="0" i="0" u="none" strike="noStrike" cap="none" dirty="0">
              <a:solidFill>
                <a:schemeClr val="dk1"/>
              </a:solidFill>
              <a:latin typeface="Quicksand"/>
              <a:ea typeface="Quicksand"/>
              <a:cs typeface="Quicksand"/>
              <a:sym typeface="Quicksand"/>
            </a:endParaRPr>
          </a:p>
          <a:p>
            <a:pPr marL="285750" marR="0" lvl="0" indent="-28575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We have a multiplex design, where the input determines which network component is activated to process and generate a prediction. </a:t>
            </a:r>
            <a:endParaRPr dirty="0"/>
          </a:p>
          <a:p>
            <a:pPr marL="285750" marR="0" lvl="0" indent="-171450" algn="l" rtl="0">
              <a:lnSpc>
                <a:spcPct val="100000"/>
              </a:lnSpc>
              <a:spcBef>
                <a:spcPts val="0"/>
              </a:spcBef>
              <a:spcAft>
                <a:spcPts val="0"/>
              </a:spcAft>
              <a:buClr>
                <a:schemeClr val="dk1"/>
              </a:buClr>
              <a:buSzPts val="1800"/>
              <a:buFont typeface="Arial"/>
              <a:buNone/>
            </a:pPr>
            <a:endParaRPr sz="1800" b="0" i="0" u="none" strike="noStrike" cap="none" dirty="0">
              <a:solidFill>
                <a:schemeClr val="dk1"/>
              </a:solidFill>
              <a:latin typeface="Quicksand"/>
              <a:ea typeface="Quicksand"/>
              <a:cs typeface="Quicksand"/>
              <a:sym typeface="Quicksand"/>
            </a:endParaRPr>
          </a:p>
          <a:p>
            <a:pPr marL="285750" marR="0" lvl="0" indent="-28575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Originally, this was ‘hard routing’ (</a:t>
            </a:r>
            <a:r>
              <a:rPr lang="en-US" sz="1800" b="0" i="0" u="none" strike="noStrike" cap="none" dirty="0" err="1">
                <a:solidFill>
                  <a:schemeClr val="dk1"/>
                </a:solidFill>
                <a:latin typeface="Quicksand"/>
                <a:ea typeface="Quicksand"/>
                <a:cs typeface="Quicksand"/>
                <a:sym typeface="Quicksand"/>
              </a:rPr>
              <a:t>softmax</a:t>
            </a:r>
            <a:r>
              <a:rPr lang="en-US" sz="1800" b="0" i="0" u="none" strike="noStrike" cap="none" dirty="0">
                <a:solidFill>
                  <a:schemeClr val="dk1"/>
                </a:solidFill>
                <a:latin typeface="Quicksand"/>
                <a:ea typeface="Quicksand"/>
                <a:cs typeface="Quicksand"/>
                <a:sym typeface="Quicksand"/>
              </a:rPr>
              <a:t> argmax), but more recently, it has become soft routing (just </a:t>
            </a:r>
            <a:r>
              <a:rPr lang="en-US" sz="1800" b="0" i="0" u="none" strike="noStrike" cap="none" dirty="0" err="1">
                <a:solidFill>
                  <a:schemeClr val="dk1"/>
                </a:solidFill>
                <a:latin typeface="Quicksand"/>
                <a:ea typeface="Quicksand"/>
                <a:cs typeface="Quicksand"/>
                <a:sym typeface="Quicksand"/>
              </a:rPr>
              <a:t>softmax</a:t>
            </a:r>
            <a:r>
              <a:rPr lang="en-US" sz="1800" b="0" i="0" u="none" strike="noStrike" cap="none" dirty="0">
                <a:solidFill>
                  <a:schemeClr val="dk1"/>
                </a:solidFill>
                <a:latin typeface="Quicksand"/>
                <a:ea typeface="Quicksand"/>
                <a:cs typeface="Quicksand"/>
                <a:sym typeface="Quicksand"/>
              </a:rPr>
              <a:t>), and we take weighted averages of expert output. </a:t>
            </a:r>
            <a:endParaRPr dirty="0"/>
          </a:p>
          <a:p>
            <a:pPr marL="285750" marR="0" lvl="0" indent="-171450" algn="l" rtl="0">
              <a:lnSpc>
                <a:spcPct val="100000"/>
              </a:lnSpc>
              <a:spcBef>
                <a:spcPts val="0"/>
              </a:spcBef>
              <a:spcAft>
                <a:spcPts val="0"/>
              </a:spcAft>
              <a:buClr>
                <a:schemeClr val="dk1"/>
              </a:buClr>
              <a:buSzPts val="1800"/>
              <a:buFont typeface="Arial"/>
              <a:buNone/>
            </a:pPr>
            <a:endParaRPr sz="1800" b="0" i="0" u="none" strike="noStrike" cap="none" dirty="0">
              <a:solidFill>
                <a:schemeClr val="dk1"/>
              </a:solidFill>
              <a:latin typeface="Quicksand"/>
              <a:ea typeface="Quicksand"/>
              <a:cs typeface="Quicksand"/>
              <a:sym typeface="Quicksand"/>
            </a:endParaRPr>
          </a:p>
          <a:p>
            <a:pPr marL="285750" marR="0" lvl="0" indent="-28575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Quicksand"/>
                <a:ea typeface="Quicksand"/>
                <a:cs typeface="Quicksand"/>
                <a:sym typeface="Quicksand"/>
              </a:rPr>
              <a:t>This adds a lot of overhead to the model, so inference is expensive/slow. </a:t>
            </a:r>
            <a:r>
              <a:rPr lang="en-US" sz="1800" b="0" i="0" u="none" strike="noStrike" cap="none" dirty="0" err="1">
                <a:solidFill>
                  <a:schemeClr val="dk1"/>
                </a:solidFill>
                <a:latin typeface="Quicksand"/>
                <a:ea typeface="Quicksand"/>
                <a:cs typeface="Quicksand"/>
                <a:sym typeface="Quicksand"/>
              </a:rPr>
              <a:t>Deepseek</a:t>
            </a:r>
            <a:r>
              <a:rPr lang="en-US" sz="1800" b="0" i="0" u="none" strike="noStrike" cap="none" dirty="0">
                <a:solidFill>
                  <a:schemeClr val="dk1"/>
                </a:solidFill>
                <a:latin typeface="Quicksand"/>
                <a:ea typeface="Quicksand"/>
                <a:cs typeface="Quicksand"/>
                <a:sym typeface="Quicksand"/>
              </a:rPr>
              <a:t> innovated on this and ‘learned’ the routing rule (or its approximation) after training and made a new network that fixes the routing rule. </a:t>
            </a:r>
            <a:endParaRPr dirty="0"/>
          </a:p>
        </p:txBody>
      </p:sp>
      <p:pic>
        <p:nvPicPr>
          <p:cNvPr id="240" name="Google Shape;240;p51" descr="A Visual Guide to Mixture of Experts (MoE)"/>
          <p:cNvPicPr preferRelativeResize="0"/>
          <p:nvPr/>
        </p:nvPicPr>
        <p:blipFill rotWithShape="1">
          <a:blip r:embed="rId3">
            <a:alphaModFix/>
          </a:blip>
          <a:srcRect/>
          <a:stretch/>
        </p:blipFill>
        <p:spPr>
          <a:xfrm>
            <a:off x="6588196" y="2270248"/>
            <a:ext cx="5222513" cy="373283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39">
          <a:extLst>
            <a:ext uri="{FF2B5EF4-FFF2-40B4-BE49-F238E27FC236}">
              <a16:creationId xmlns:a16="http://schemas.microsoft.com/office/drawing/2014/main" id="{10C0B536-91FC-B0E8-73CD-8F25A7324F40}"/>
            </a:ext>
          </a:extLst>
        </p:cNvPr>
        <p:cNvGrpSpPr/>
        <p:nvPr/>
      </p:nvGrpSpPr>
      <p:grpSpPr>
        <a:xfrm>
          <a:off x="0" y="0"/>
          <a:ext cx="0" cy="0"/>
          <a:chOff x="0" y="0"/>
          <a:chExt cx="0" cy="0"/>
        </a:xfrm>
      </p:grpSpPr>
      <p:sp>
        <p:nvSpPr>
          <p:cNvPr id="340" name="Google Shape;340;p17">
            <a:extLst>
              <a:ext uri="{FF2B5EF4-FFF2-40B4-BE49-F238E27FC236}">
                <a16:creationId xmlns:a16="http://schemas.microsoft.com/office/drawing/2014/main" id="{720DB44C-6188-89EE-6A0B-40BF3A474D2D}"/>
              </a:ext>
            </a:extLst>
          </p:cNvPr>
          <p:cNvSpPr txBox="1"/>
          <p:nvPr/>
        </p:nvSpPr>
        <p:spPr>
          <a:xfrm>
            <a:off x="1750621" y="2828835"/>
            <a:ext cx="8690758" cy="120032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7200"/>
              <a:buFont typeface="Arial"/>
              <a:buNone/>
            </a:pPr>
            <a:r>
              <a:rPr lang="en-US" sz="7200" b="0" i="0" u="none" strike="noStrike" cap="none">
                <a:solidFill>
                  <a:schemeClr val="dk1"/>
                </a:solidFill>
                <a:latin typeface="Economica"/>
                <a:ea typeface="Economica"/>
                <a:cs typeface="Economica"/>
                <a:sym typeface="Economica"/>
              </a:rPr>
              <a:t>Questions?</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34166553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177</TotalTime>
  <Words>1895</Words>
  <Application>Microsoft Macintosh PowerPoint</Application>
  <PresentationFormat>Widescreen</PresentationFormat>
  <Paragraphs>123</Paragraphs>
  <Slides>18</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Roboto</vt:lpstr>
      <vt:lpstr>Economica</vt:lpstr>
      <vt:lpstr>Consolas</vt:lpstr>
      <vt:lpstr>Arial</vt:lpstr>
      <vt:lpstr>Quicksand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Gordon Burtch</dc:creator>
  <cp:lastModifiedBy>Burtch, Gordon</cp:lastModifiedBy>
  <cp:revision>16</cp:revision>
  <dcterms:created xsi:type="dcterms:W3CDTF">2019-12-28T13:51:56Z</dcterms:created>
  <dcterms:modified xsi:type="dcterms:W3CDTF">2026-03-29T15:37:54Z</dcterms:modified>
</cp:coreProperties>
</file>