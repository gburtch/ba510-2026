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7"/>
  </p:notesMasterIdLst>
  <p:sldIdLst>
    <p:sldId id="256" r:id="rId2"/>
    <p:sldId id="258" r:id="rId3"/>
    <p:sldId id="285" r:id="rId4"/>
    <p:sldId id="259" r:id="rId5"/>
    <p:sldId id="260" r:id="rId6"/>
    <p:sldId id="261" r:id="rId7"/>
    <p:sldId id="280" r:id="rId8"/>
    <p:sldId id="276" r:id="rId9"/>
    <p:sldId id="284" r:id="rId10"/>
    <p:sldId id="277" r:id="rId11"/>
    <p:sldId id="283" r:id="rId12"/>
    <p:sldId id="263" r:id="rId13"/>
    <p:sldId id="278" r:id="rId14"/>
    <p:sldId id="265" r:id="rId15"/>
    <p:sldId id="279" r:id="rId16"/>
    <p:sldId id="268" r:id="rId17"/>
    <p:sldId id="269" r:id="rId18"/>
    <p:sldId id="281" r:id="rId19"/>
    <p:sldId id="282" r:id="rId20"/>
    <p:sldId id="264" r:id="rId21"/>
    <p:sldId id="266" r:id="rId22"/>
    <p:sldId id="267" r:id="rId23"/>
    <p:sldId id="273" r:id="rId24"/>
    <p:sldId id="274" r:id="rId25"/>
    <p:sldId id="275" r:id="rId26"/>
  </p:sldIdLst>
  <p:sldSz cx="12192000" cy="6858000"/>
  <p:notesSz cx="6858000" cy="9144000"/>
  <p:embeddedFontLst>
    <p:embeddedFont>
      <p:font typeface="Economica" panose="02000506040000020004" pitchFamily="2" charset="77"/>
      <p:regular r:id="rId28"/>
      <p:bold r:id="rId29"/>
      <p:italic r:id="rId30"/>
      <p:boldItalic r:id="rId31"/>
    </p:embeddedFont>
    <p:embeddedFont>
      <p:font typeface="Quicksand" pitchFamily="2" charset="77"/>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192"/>
  </p:normalViewPr>
  <p:slideViewPr>
    <p:cSldViewPr snapToGrid="0">
      <p:cViewPr varScale="1">
        <p:scale>
          <a:sx n="99" d="100"/>
          <a:sy n="99" d="100"/>
        </p:scale>
        <p:origin x="1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CE321189-9ABE-B552-A7E7-78570F283A55}"/>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697FB504-360F-A53D-F9EF-E40AA5D154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a:extLst>
              <a:ext uri="{FF2B5EF4-FFF2-40B4-BE49-F238E27FC236}">
                <a16:creationId xmlns:a16="http://schemas.microsoft.com/office/drawing/2014/main" id="{730C725E-1857-7053-D954-FFF931AA93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9615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All text vect</a:t>
            </a:r>
            <a:r>
              <a:rPr lang="en-US" b="1"/>
              <a:t>orization techniques generally work the same way. </a:t>
            </a:r>
            <a:endParaRPr/>
          </a:p>
          <a:p>
            <a:pPr marL="0" lvl="0" indent="0" algn="l" rtl="0">
              <a:lnSpc>
                <a:spcPct val="100000"/>
              </a:lnSpc>
              <a:spcBef>
                <a:spcPts val="0"/>
              </a:spcBef>
              <a:spcAft>
                <a:spcPts val="0"/>
              </a:spcAft>
              <a:buSzPts val="1400"/>
              <a:buNone/>
            </a:pPr>
            <a:endParaRPr b="1"/>
          </a:p>
          <a:p>
            <a:pPr marL="171450" lvl="0" indent="-171450" algn="l" rtl="0">
              <a:lnSpc>
                <a:spcPct val="100000"/>
              </a:lnSpc>
              <a:spcBef>
                <a:spcPts val="0"/>
              </a:spcBef>
              <a:spcAft>
                <a:spcPts val="0"/>
              </a:spcAft>
              <a:buSzPts val="1400"/>
              <a:buFont typeface="Calibri"/>
              <a:buChar char="-"/>
            </a:pPr>
            <a:r>
              <a:rPr lang="en-US" b="1"/>
              <a:t>We throw out words we don’t want, standardize the rest. </a:t>
            </a:r>
            <a:endParaRPr/>
          </a:p>
          <a:p>
            <a:pPr marL="171450" lvl="0" indent="-171450" algn="l" rtl="0">
              <a:lnSpc>
                <a:spcPct val="100000"/>
              </a:lnSpc>
              <a:spcBef>
                <a:spcPts val="0"/>
              </a:spcBef>
              <a:spcAft>
                <a:spcPts val="0"/>
              </a:spcAft>
              <a:buSzPts val="1400"/>
              <a:buFont typeface="Calibri"/>
              <a:buChar char="-"/>
            </a:pPr>
            <a:r>
              <a:rPr lang="en-US" b="1"/>
              <a:t>We then tokenize the text (split into lists of characters, words, or word-groups.</a:t>
            </a:r>
            <a:endParaRPr/>
          </a:p>
          <a:p>
            <a:pPr marL="171450" lvl="0" indent="-171450" algn="l" rtl="0">
              <a:lnSpc>
                <a:spcPct val="100000"/>
              </a:lnSpc>
              <a:spcBef>
                <a:spcPts val="0"/>
              </a:spcBef>
              <a:spcAft>
                <a:spcPts val="0"/>
              </a:spcAft>
              <a:buSzPts val="1400"/>
              <a:buFont typeface="Calibri"/>
              <a:buChar char="-"/>
            </a:pPr>
            <a:r>
              <a:rPr lang="en-US" b="1"/>
              <a:t>We then convert each token into some numeric vector representation (many ways we might do this).</a:t>
            </a: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Image labeling, image captioning, sentiment analysis, textual translation or audio closed captioning, and, finally, something like video frame labeling</a:t>
            </a:r>
            <a:endParaRPr dirty="0"/>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56D73F4-9AF3-0C6A-3972-465991218B90}"/>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4B9DCECF-CF0B-6196-D8B4-A27CFD5F8C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Left to right examples: image labeling, image captioning, sentiment analysis, textual translation or audio closed captioning, and, finally, something like video frame labeling</a:t>
            </a:r>
            <a:endParaRPr dirty="0"/>
          </a:p>
        </p:txBody>
      </p:sp>
      <p:sp>
        <p:nvSpPr>
          <p:cNvPr id="128" name="Google Shape;128;p6:notes">
            <a:extLst>
              <a:ext uri="{FF2B5EF4-FFF2-40B4-BE49-F238E27FC236}">
                <a16:creationId xmlns:a16="http://schemas.microsoft.com/office/drawing/2014/main" id="{31811974-3A5B-F4D2-2343-046F8209A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1956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92181CB-86E2-C7AD-C0DD-1AEBAF83FE94}"/>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27809074-2671-760A-F65A-171D2A25EA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13365A00-7087-D089-3C2A-F99D20D64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707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17d3bda9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17d3bda9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117d3bda9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have here a batch of 32 sequences (random values in this case), each is 10 values in length, and each value is an 8-element vector, maybe these are vector embeddings of words, I dunno. We then have 4 LSTM units, each of which will accept the input in parallel. So, each of those 4 LSTM units could be unrolled, and be seen to be taking the 10-vector sequence, separately, and learning something different about the sequence. All 4 produce a single output at the end of processing the sequence, hence why we end up with 4 outputs for the 32 observations (sequences). If we return_sequences=True, it means that every time step spits out an output, in addition to passing that output onward to the next temporal step in the LSTM. So, we end up with 10 outputs from each of the 4 LSTM units, a sequence-to-sequence mapping. </a:t>
            </a:r>
            <a:endParaRPr/>
          </a:p>
        </p:txBody>
      </p:sp>
      <p:sp>
        <p:nvSpPr>
          <p:cNvPr id="158" name="Google Shape;15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F723FFB0-670C-759C-84E4-AD4C5114AD28}"/>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231E3377-7F02-0A93-0EF1-8CA07CD34F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a:extLst>
              <a:ext uri="{FF2B5EF4-FFF2-40B4-BE49-F238E27FC236}">
                <a16:creationId xmlns:a16="http://schemas.microsoft.com/office/drawing/2014/main" id="{8EBD186F-3B5E-0BD2-0183-0F0A2A50E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9493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6C22326-4D33-ED1A-6497-D4904AA111C2}"/>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17054FB9-CBF9-4A74-0AF7-3472E9D958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reality is that RNNs are basically obsolete at this point. We teach them for pedagogical reasons, so you understand how we arrived at transformers / attention, etc. </a:t>
            </a:r>
            <a:endParaRPr dirty="0"/>
          </a:p>
        </p:txBody>
      </p:sp>
      <p:sp>
        <p:nvSpPr>
          <p:cNvPr id="187" name="Google Shape;187;p13:notes">
            <a:extLst>
              <a:ext uri="{FF2B5EF4-FFF2-40B4-BE49-F238E27FC236}">
                <a16:creationId xmlns:a16="http://schemas.microsoft.com/office/drawing/2014/main" id="{CD2A7EEB-E41D-1176-5CFA-C102619298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9668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Available pre-trained embedding layers (e.g., trained on Wikipedia page data), but you can also fit these models on your own corpus of text, to learn context-specific embeddings.</a:t>
            </a:r>
            <a:endParaRPr/>
          </a:p>
        </p:txBody>
      </p:sp>
      <p:sp>
        <p:nvSpPr>
          <p:cNvPr id="150" name="Google Shape;15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5" name="Google Shape;17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2" name="Google Shape;22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230" name="Google Shape;23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dirty="0">
                  <a:solidFill>
                    <a:schemeClr val="dk1"/>
                  </a:solidFill>
                  <a:latin typeface="Economica"/>
                  <a:ea typeface="Economica"/>
                  <a:cs typeface="Economica"/>
                  <a:sym typeface="Economica"/>
                </a:rPr>
                <a:t>Neural Nets &amp; Text</a:t>
              </a:r>
              <a:endParaRPr sz="1400" b="0" i="0" u="none" strike="noStrike" cap="none" dirty="0">
                <a:solidFill>
                  <a:srgbClr val="000000"/>
                </a:solidFill>
                <a:latin typeface="Arial"/>
                <a:ea typeface="Arial"/>
                <a:cs typeface="Arial"/>
                <a:sym typeface="Arial"/>
              </a:endParaRPr>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Today’s Agenda</a:t>
            </a:r>
            <a:endParaRPr sz="1400" b="0" i="0" u="none" strike="noStrike" cap="none">
              <a:solidFill>
                <a:srgbClr val="000000"/>
              </a:solidFill>
              <a:latin typeface="Arial"/>
              <a:ea typeface="Arial"/>
              <a:cs typeface="Arial"/>
              <a:sym typeface="Arial"/>
            </a:endParaRPr>
          </a:p>
        </p:txBody>
      </p:sp>
      <p:sp>
        <p:nvSpPr>
          <p:cNvPr id="110" name="Google Shape;110;p2"/>
          <p:cNvSpPr txBox="1"/>
          <p:nvPr/>
        </p:nvSpPr>
        <p:spPr>
          <a:xfrm>
            <a:off x="901488" y="2025532"/>
            <a:ext cx="10016362" cy="35086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Natural Language Processing (NLP) Concepts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Use Cases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Quick review on bag of words approaches,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Text Pre-processing Functions / Layers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This implements basic standardization and punctuation</a:t>
            </a:r>
            <a:br>
              <a:rPr lang="en-US" sz="1800" b="0" i="0" u="none" strike="noStrike" cap="none" dirty="0">
                <a:solidFill>
                  <a:schemeClr val="dk1"/>
                </a:solidFill>
                <a:latin typeface="Quicksand"/>
                <a:ea typeface="Quicksand"/>
                <a:cs typeface="Quicksand"/>
                <a:sym typeface="Quicksand"/>
              </a:rPr>
            </a:br>
            <a:r>
              <a:rPr lang="en-US" sz="1800" b="0" i="0" u="none" strike="noStrike" cap="none" dirty="0">
                <a:solidFill>
                  <a:schemeClr val="dk1"/>
                </a:solidFill>
                <a:latin typeface="Quicksand"/>
                <a:ea typeface="Quicksand"/>
                <a:cs typeface="Quicksand"/>
                <a:sym typeface="Quicksand"/>
              </a:rPr>
              <a:t>removal. It assumes 1-grams, then one-hot encodes.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No stemming or stop word removal, by default.</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Architectures for Sequence Data</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Recurrent Neural Networks (RNNs)</a:t>
            </a:r>
            <a:endParaRPr lang="en-US"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Bidirectional LSTM</a:t>
            </a:r>
            <a:endParaRPr sz="1400" b="0" i="0" u="none" strike="noStrike" cap="none" dirty="0">
              <a:solidFill>
                <a:srgbClr val="000000"/>
              </a:solidFill>
              <a:latin typeface="Arial"/>
              <a:ea typeface="Arial"/>
              <a:cs typeface="Arial"/>
              <a:sym typeface="Arial"/>
            </a:endParaRPr>
          </a:p>
        </p:txBody>
      </p:sp>
      <p:pic>
        <p:nvPicPr>
          <p:cNvPr id="111" name="Google Shape;111;p2" descr="Build an Effective Meeting Agenda Template | WorkPatterns"/>
          <p:cNvPicPr preferRelativeResize="0"/>
          <p:nvPr/>
        </p:nvPicPr>
        <p:blipFill rotWithShape="1">
          <a:blip r:embed="rId3">
            <a:alphaModFix/>
          </a:blip>
          <a:srcRect/>
          <a:stretch/>
        </p:blipFill>
        <p:spPr>
          <a:xfrm>
            <a:off x="6382305" y="2450790"/>
            <a:ext cx="6434164" cy="3382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D4E7B38-A48E-D97D-4E20-0DA40DA78ABB}"/>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58CB29E0-B27F-4ABA-E386-0105B7F6A78A}"/>
              </a:ext>
            </a:extLst>
          </p:cNvPr>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AI in the News</a:t>
            </a:r>
            <a:endParaRPr sz="14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3951F876-25DA-D26E-E897-92E1D8A0FC49}"/>
              </a:ext>
            </a:extLst>
          </p:cNvPr>
          <p:cNvPicPr>
            <a:picLocks noChangeAspect="1"/>
          </p:cNvPicPr>
          <p:nvPr/>
        </p:nvPicPr>
        <p:blipFill>
          <a:blip r:embed="rId3"/>
          <a:stretch>
            <a:fillRect/>
          </a:stretch>
        </p:blipFill>
        <p:spPr>
          <a:xfrm>
            <a:off x="2209799" y="1951788"/>
            <a:ext cx="7772400" cy="35210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2392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Quick Review of NLP Concepts</a:t>
            </a:r>
            <a:endParaRPr sz="1400" b="0" i="0" u="none" strike="noStrike" cap="none" dirty="0">
              <a:solidFill>
                <a:srgbClr val="000000"/>
              </a:solidFill>
              <a:latin typeface="Arial"/>
              <a:ea typeface="Arial"/>
              <a:cs typeface="Arial"/>
              <a:sym typeface="Arial"/>
            </a:endParaRPr>
          </a:p>
        </p:txBody>
      </p:sp>
      <p:sp>
        <p:nvSpPr>
          <p:cNvPr id="117" name="Google Shape;117;p3"/>
          <p:cNvSpPr txBox="1"/>
          <p:nvPr/>
        </p:nvSpPr>
        <p:spPr>
          <a:xfrm>
            <a:off x="1025803" y="1819294"/>
            <a:ext cx="9438997" cy="17850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Lower-casing, stop word removal, stemming, removing punctuation, stripping rare tokens, etc.</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Tokenization (this may be chars, words, sentences, etc.</a:t>
            </a: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Integer encoding / indexing the tokens. </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Finally, I may or may not leverage sequence information.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1" u="none" strike="noStrike" cap="none">
                <a:solidFill>
                  <a:schemeClr val="dk1"/>
                </a:solidFill>
                <a:latin typeface="Calibri"/>
                <a:ea typeface="Calibri"/>
                <a:cs typeface="Calibri"/>
                <a:sym typeface="Calibri"/>
              </a:rPr>
              <a:t>Q: what is a bag of words approach? What are n-grams?</a:t>
            </a:r>
            <a:endParaRPr sz="1400" b="0" i="1" u="none" strike="noStrike" cap="none">
              <a:solidFill>
                <a:srgbClr val="000000"/>
              </a:solidFill>
              <a:latin typeface="Arial"/>
              <a:ea typeface="Arial"/>
              <a:cs typeface="Arial"/>
              <a:sym typeface="Arial"/>
            </a:endParaRPr>
          </a:p>
        </p:txBody>
      </p:sp>
      <p:graphicFrame>
        <p:nvGraphicFramePr>
          <p:cNvPr id="118" name="Google Shape;118;p3"/>
          <p:cNvGraphicFramePr/>
          <p:nvPr/>
        </p:nvGraphicFramePr>
        <p:xfrm>
          <a:off x="2664178" y="3652820"/>
          <a:ext cx="6863625" cy="2801900"/>
        </p:xfrm>
        <a:graphic>
          <a:graphicData uri="http://schemas.openxmlformats.org/drawingml/2006/table">
            <a:tbl>
              <a:tblPr>
                <a:noFill/>
                <a:tableStyleId>{602372D1-F9C1-48B9-90D7-9A1CC5A1757B}</a:tableStyleId>
              </a:tblPr>
              <a:tblGrid>
                <a:gridCol w="981800">
                  <a:extLst>
                    <a:ext uri="{9D8B030D-6E8A-4147-A177-3AD203B41FA5}">
                      <a16:colId xmlns:a16="http://schemas.microsoft.com/office/drawing/2014/main" val="20000"/>
                    </a:ext>
                  </a:extLst>
                </a:gridCol>
                <a:gridCol w="980300">
                  <a:extLst>
                    <a:ext uri="{9D8B030D-6E8A-4147-A177-3AD203B41FA5}">
                      <a16:colId xmlns:a16="http://schemas.microsoft.com/office/drawing/2014/main" val="20001"/>
                    </a:ext>
                  </a:extLst>
                </a:gridCol>
                <a:gridCol w="980300">
                  <a:extLst>
                    <a:ext uri="{9D8B030D-6E8A-4147-A177-3AD203B41FA5}">
                      <a16:colId xmlns:a16="http://schemas.microsoft.com/office/drawing/2014/main" val="20002"/>
                    </a:ext>
                  </a:extLst>
                </a:gridCol>
                <a:gridCol w="978825">
                  <a:extLst>
                    <a:ext uri="{9D8B030D-6E8A-4147-A177-3AD203B41FA5}">
                      <a16:colId xmlns:a16="http://schemas.microsoft.com/office/drawing/2014/main" val="20003"/>
                    </a:ext>
                  </a:extLst>
                </a:gridCol>
                <a:gridCol w="980300">
                  <a:extLst>
                    <a:ext uri="{9D8B030D-6E8A-4147-A177-3AD203B41FA5}">
                      <a16:colId xmlns:a16="http://schemas.microsoft.com/office/drawing/2014/main" val="20004"/>
                    </a:ext>
                  </a:extLst>
                </a:gridCol>
                <a:gridCol w="980300">
                  <a:extLst>
                    <a:ext uri="{9D8B030D-6E8A-4147-A177-3AD203B41FA5}">
                      <a16:colId xmlns:a16="http://schemas.microsoft.com/office/drawing/2014/main" val="20005"/>
                    </a:ext>
                  </a:extLst>
                </a:gridCol>
                <a:gridCol w="981800">
                  <a:extLst>
                    <a:ext uri="{9D8B030D-6E8A-4147-A177-3AD203B41FA5}">
                      <a16:colId xmlns:a16="http://schemas.microsoft.com/office/drawing/2014/main" val="20006"/>
                    </a:ext>
                  </a:extLst>
                </a:gridCol>
              </a:tblGrid>
              <a:tr h="271225">
                <a:tc>
                  <a:txBody>
                    <a:bodyPr/>
                    <a:lstStyle/>
                    <a:p>
                      <a:pPr marL="0" marR="0" lvl="0" indent="0" algn="l" rtl="0">
                        <a:lnSpc>
                          <a:spcPct val="100000"/>
                        </a:lnSpc>
                        <a:spcBef>
                          <a:spcPts val="0"/>
                        </a:spcBef>
                        <a:spcAft>
                          <a:spcPts val="0"/>
                        </a:spcAft>
                        <a:buClr>
                          <a:schemeClr val="dk1"/>
                        </a:buClr>
                        <a:buSzPts val="1100"/>
                        <a:buFont typeface="Calibri"/>
                        <a:buNone/>
                      </a:pPr>
                      <a:endParaRPr sz="1100" b="0" i="0" u="none" strike="noStrike" cap="none">
                        <a:solidFill>
                          <a:schemeClr val="dk1"/>
                        </a:solidFill>
                        <a:latin typeface="Quicksand"/>
                        <a:ea typeface="Quicksand"/>
                        <a:cs typeface="Quicksand"/>
                        <a:sym typeface="Quicksand"/>
                      </a:endParaRPr>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Database</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SQL</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Index</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Regression</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Likelihood</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linear</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D1</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9</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D2</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D3</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D4</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D5</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D6</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18</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D7</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D8</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D9</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25</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Weighting Term-Documents: TF-IDF</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a:t>Not all phrases are of equal importance…</a:t>
            </a:r>
            <a:endParaRPr/>
          </a:p>
          <a:p>
            <a:pPr marL="347663" lvl="1" indent="-236600" algn="l" rtl="0">
              <a:lnSpc>
                <a:spcPct val="90000"/>
              </a:lnSpc>
              <a:spcBef>
                <a:spcPts val="500"/>
              </a:spcBef>
              <a:spcAft>
                <a:spcPts val="0"/>
              </a:spcAft>
              <a:buClr>
                <a:schemeClr val="dk1"/>
              </a:buClr>
              <a:buSzPct val="100000"/>
              <a:buChar char="•"/>
            </a:pPr>
            <a:r>
              <a:rPr lang="en-US" sz="1900"/>
              <a:t>E.g., David less important than Beckham</a:t>
            </a:r>
            <a:endParaRPr/>
          </a:p>
          <a:p>
            <a:pPr marL="347663" lvl="1" indent="-236600" algn="l" rtl="0">
              <a:lnSpc>
                <a:spcPct val="90000"/>
              </a:lnSpc>
              <a:spcBef>
                <a:spcPts val="500"/>
              </a:spcBef>
              <a:spcAft>
                <a:spcPts val="0"/>
              </a:spcAft>
              <a:buClr>
                <a:schemeClr val="dk1"/>
              </a:buClr>
              <a:buSzPct val="100000"/>
              <a:buChar char="•"/>
            </a:pPr>
            <a:r>
              <a:rPr lang="en-US" sz="1900"/>
              <a:t>If a term occurs all the time, observing its presence is less informative</a:t>
            </a:r>
            <a:endParaRPr/>
          </a:p>
          <a:p>
            <a:pPr marL="228600" lvl="0" indent="-55118" algn="l" rtl="0">
              <a:lnSpc>
                <a:spcPct val="90000"/>
              </a:lnSpc>
              <a:spcBef>
                <a:spcPts val="1000"/>
              </a:spcBef>
              <a:spcAft>
                <a:spcPts val="0"/>
              </a:spcAft>
              <a:buClr>
                <a:schemeClr val="dk1"/>
              </a:buClr>
              <a:buSzPct val="100000"/>
              <a:buNone/>
            </a:pPr>
            <a:endParaRPr sz="2954"/>
          </a:p>
          <a:p>
            <a:pPr marL="0" lvl="0" indent="0" algn="l" rtl="0">
              <a:lnSpc>
                <a:spcPct val="90000"/>
              </a:lnSpc>
              <a:spcBef>
                <a:spcPts val="1000"/>
              </a:spcBef>
              <a:spcAft>
                <a:spcPts val="0"/>
              </a:spcAft>
              <a:buClr>
                <a:schemeClr val="dk1"/>
              </a:buClr>
              <a:buSzPct val="100000"/>
              <a:buNone/>
            </a:pPr>
            <a:r>
              <a:rPr lang="en-US" sz="2200" b="1"/>
              <a:t>Inverse-document frequency (IDF) helps address this.  </a:t>
            </a:r>
            <a:endParaRPr/>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228662" algn="l" rtl="0">
              <a:lnSpc>
                <a:spcPct val="90000"/>
              </a:lnSpc>
              <a:spcBef>
                <a:spcPts val="500"/>
              </a:spcBef>
              <a:spcAft>
                <a:spcPts val="0"/>
              </a:spcAft>
              <a:buClr>
                <a:schemeClr val="dk1"/>
              </a:buClr>
              <a:buSzPct val="100000"/>
              <a:buChar char="•"/>
            </a:pPr>
            <a:r>
              <a:rPr lang="en-US" sz="1900"/>
              <a:t>Term ‘weighting’ is then calculated as Term Frequency (TF) x IDF</a:t>
            </a:r>
            <a:endParaRPr/>
          </a:p>
          <a:p>
            <a:pPr marL="685800" lvl="1" indent="-228662" algn="l" rtl="0">
              <a:lnSpc>
                <a:spcPct val="90000"/>
              </a:lnSpc>
              <a:spcBef>
                <a:spcPts val="500"/>
              </a:spcBef>
              <a:spcAft>
                <a:spcPts val="0"/>
              </a:spcAft>
              <a:buClr>
                <a:schemeClr val="dk1"/>
              </a:buClr>
              <a:buSzPct val="100000"/>
              <a:buChar char="•"/>
            </a:pPr>
            <a:r>
              <a:rPr lang="en-US" sz="1900"/>
              <a:t>n</a:t>
            </a:r>
            <a:r>
              <a:rPr lang="en-US" sz="1900" baseline="-25000"/>
              <a:t>j</a:t>
            </a:r>
            <a:r>
              <a:rPr lang="en-US" sz="1900"/>
              <a:t>= # of docs containing the term, N = total # of docs</a:t>
            </a:r>
            <a:endParaRPr/>
          </a:p>
          <a:p>
            <a:pPr marL="685800" lvl="1" indent="-228662" algn="l" rtl="0">
              <a:lnSpc>
                <a:spcPct val="90000"/>
              </a:lnSpc>
              <a:spcBef>
                <a:spcPts val="500"/>
              </a:spcBef>
              <a:spcAft>
                <a:spcPts val="0"/>
              </a:spcAft>
              <a:buClr>
                <a:schemeClr val="dk1"/>
              </a:buClr>
              <a:buSzPct val="100000"/>
              <a:buChar char="•"/>
            </a:pPr>
            <a:r>
              <a:rPr lang="en-US" sz="1900"/>
              <a:t>A term is deemed important if it has a high TF and/or a high IDF.</a:t>
            </a:r>
            <a:endParaRPr/>
          </a:p>
          <a:p>
            <a:pPr marL="685800" lvl="1" indent="-228662" algn="l" rtl="0">
              <a:lnSpc>
                <a:spcPct val="90000"/>
              </a:lnSpc>
              <a:spcBef>
                <a:spcPts val="500"/>
              </a:spcBef>
              <a:spcAft>
                <a:spcPts val="0"/>
              </a:spcAft>
              <a:buClr>
                <a:schemeClr val="dk1"/>
              </a:buClr>
              <a:buSzPct val="100000"/>
              <a:buChar char="•"/>
            </a:pPr>
            <a:r>
              <a:rPr lang="en-US" sz="1900"/>
              <a:t>As TF goes up, the word is more common generally. As IDF goes up, it means very few documents contain this term.</a:t>
            </a:r>
            <a:endParaRPr/>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9"/>
        <p:cNvGrpSpPr/>
        <p:nvPr/>
      </p:nvGrpSpPr>
      <p:grpSpPr>
        <a:xfrm>
          <a:off x="0" y="0"/>
          <a:ext cx="0" cy="0"/>
          <a:chOff x="0" y="0"/>
          <a:chExt cx="0" cy="0"/>
        </a:xfrm>
      </p:grpSpPr>
      <p:sp>
        <p:nvSpPr>
          <p:cNvPr id="130" name="Google Shape;130;p5"/>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TextVectorization Layer</a:t>
            </a:r>
            <a:endParaRPr sz="1400" b="0" i="0" u="none" strike="noStrike" cap="none">
              <a:solidFill>
                <a:srgbClr val="000000"/>
              </a:solidFill>
              <a:latin typeface="Arial"/>
              <a:ea typeface="Arial"/>
              <a:cs typeface="Arial"/>
              <a:sym typeface="Arial"/>
            </a:endParaRPr>
          </a:p>
        </p:txBody>
      </p:sp>
      <p:sp>
        <p:nvSpPr>
          <p:cNvPr id="131" name="Google Shape;131;p5"/>
          <p:cNvSpPr txBox="1"/>
          <p:nvPr/>
        </p:nvSpPr>
        <p:spPr>
          <a:xfrm>
            <a:off x="1014515" y="1826371"/>
            <a:ext cx="4878285"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Standardization, tokenization (words),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one-hot-encoding / vectorization.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Keras TextVectorization() layer achieves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these steps quickly.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Customization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You can work with n-grams, and do other sorts of pre-processing, using arguments.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Options</a:t>
            </a:r>
            <a:endParaRPr sz="1800" b="1"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part of TF Dataset pipeline (more efficient)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a layer in your Keras model. </a:t>
            </a:r>
            <a:endParaRPr sz="1400" b="0" i="0" u="none" strike="noStrike" cap="none">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blip>
          <a:srcRect/>
          <a:stretch/>
        </p:blipFill>
        <p:spPr>
          <a:xfrm>
            <a:off x="6571029" y="2051847"/>
            <a:ext cx="4295342" cy="41035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descr="How to Use Convolutional Neural Networks for Time Series Classification"/>
          <p:cNvPicPr preferRelativeResize="0"/>
          <p:nvPr/>
        </p:nvPicPr>
        <p:blipFill rotWithShape="1">
          <a:blip r:embed="rId3">
            <a:alphaModFix/>
          </a:blip>
          <a:srcRect/>
          <a:stretch/>
        </p:blipFill>
        <p:spPr>
          <a:xfrm>
            <a:off x="1957227" y="2950824"/>
            <a:ext cx="9087556" cy="3907176"/>
          </a:xfrm>
          <a:prstGeom prst="rect">
            <a:avLst/>
          </a:prstGeom>
          <a:noFill/>
          <a:ln>
            <a:noFill/>
          </a:ln>
        </p:spPr>
      </p:pic>
      <p:sp>
        <p:nvSpPr>
          <p:cNvPr id="124" name="Google Shape;124;p5"/>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Temporal 1D Convolution</a:t>
            </a:r>
            <a:endParaRPr dirty="0"/>
          </a:p>
        </p:txBody>
      </p:sp>
      <p:sp>
        <p:nvSpPr>
          <p:cNvPr id="125" name="Google Shape;125;p5"/>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1D Convolution Accomplishes Same Goal as 2D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It only considers arrangement of features in one dimension (temporal ordering).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Compresses into shorter sequences, across the entire set of features (just as 2D Conv compresses matrices into smaller matrices, across the entire set of input channels (e.g., RGB).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2050" name="Picture 2">
            <a:extLst>
              <a:ext uri="{FF2B5EF4-FFF2-40B4-BE49-F238E27FC236}">
                <a16:creationId xmlns:a16="http://schemas.microsoft.com/office/drawing/2014/main" id="{A8F34B03-DDD6-FA47-C985-FA1B9B200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1966273"/>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242E88A0-0A55-6F9D-EBAB-8D4833E9A065}"/>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3" name="Google Shape;131;p6">
            <a:extLst>
              <a:ext uri="{FF2B5EF4-FFF2-40B4-BE49-F238E27FC236}">
                <a16:creationId xmlns:a16="http://schemas.microsoft.com/office/drawing/2014/main" id="{B05D2BC6-69AA-D192-6C82-7C20B0418C68}"/>
              </a:ext>
            </a:extLst>
          </p:cNvPr>
          <p:cNvSpPr txBox="1"/>
          <p:nvPr/>
        </p:nvSpPr>
        <p:spPr>
          <a:xfrm>
            <a:off x="1263829" y="5445492"/>
            <a:ext cx="10016362" cy="707846"/>
          </a:xfrm>
          <a:prstGeom prst="rect">
            <a:avLst/>
          </a:prstGeom>
          <a:noFill/>
          <a:ln>
            <a:noFill/>
          </a:ln>
        </p:spPr>
        <p:txBody>
          <a:bodyPr spcFirstLastPara="1" wrap="square" lIns="91425" tIns="45700" rIns="91425" bIns="45700" anchor="t" anchorCtr="0">
            <a:spAutoFit/>
          </a:bodyPr>
          <a:lstStyle/>
          <a:p>
            <a:pPr lvl="0" algn="ctr"/>
            <a:r>
              <a:rPr lang="en-US" sz="2000" b="1" dirty="0">
                <a:solidFill>
                  <a:schemeClr val="dk1"/>
                </a:solidFill>
                <a:latin typeface="Quicksand"/>
                <a:ea typeface="Quicksand"/>
                <a:cs typeface="Quicksand"/>
                <a:sym typeface="Quicksand"/>
              </a:rPr>
              <a:t>Given what we’ve learned so far, what challenges can you foresee when it comes to ‘many-to-many’ problems?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DE7A8DD-3B93-C154-C082-C5270B8C0B7D}"/>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E16A8540-8522-15AF-BBE0-816512F0D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2275366"/>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E1B707A8-D317-7CC6-3948-7754B91B073D}"/>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4" name="Oval 3">
            <a:extLst>
              <a:ext uri="{FF2B5EF4-FFF2-40B4-BE49-F238E27FC236}">
                <a16:creationId xmlns:a16="http://schemas.microsoft.com/office/drawing/2014/main" id="{350E7631-AA29-6C3B-C816-4FC21D109CC0}"/>
              </a:ext>
            </a:extLst>
          </p:cNvPr>
          <p:cNvSpPr/>
          <p:nvPr/>
        </p:nvSpPr>
        <p:spPr>
          <a:xfrm>
            <a:off x="6095998" y="1674254"/>
            <a:ext cx="3408609" cy="4417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9830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p:nvPr/>
        </p:nvSpPr>
        <p:spPr>
          <a:xfrm>
            <a:off x="2155062" y="658976"/>
            <a:ext cx="78818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‘Recurrent’ Neural Network (RNN)</a:t>
            </a:r>
            <a:endParaRPr dirty="0"/>
          </a:p>
        </p:txBody>
      </p:sp>
      <p:sp>
        <p:nvSpPr>
          <p:cNvPr id="139" name="Google Shape;139;p7"/>
          <p:cNvSpPr txBox="1"/>
          <p:nvPr/>
        </p:nvSpPr>
        <p:spPr>
          <a:xfrm>
            <a:off x="890337" y="1861226"/>
            <a:ext cx="10016362" cy="15080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err="1">
                <a:solidFill>
                  <a:schemeClr val="dk1"/>
                </a:solidFill>
                <a:latin typeface="Quicksand"/>
                <a:ea typeface="Quicksand"/>
                <a:cs typeface="Quicksand"/>
                <a:sym typeface="Quicksand"/>
              </a:rPr>
              <a:t>Keras</a:t>
            </a:r>
            <a:r>
              <a:rPr lang="en-US" sz="2000" b="1" dirty="0">
                <a:solidFill>
                  <a:schemeClr val="dk1"/>
                </a:solidFill>
                <a:latin typeface="Quicksand"/>
                <a:ea typeface="Quicksand"/>
                <a:cs typeface="Quicksand"/>
                <a:sym typeface="Quicksand"/>
              </a:rPr>
              <a:t> Layer </a:t>
            </a:r>
            <a:r>
              <a:rPr lang="en-US" sz="2000" b="1" dirty="0" err="1">
                <a:solidFill>
                  <a:schemeClr val="dk1"/>
                </a:solidFill>
                <a:latin typeface="Quicksand"/>
                <a:ea typeface="Quicksand"/>
                <a:cs typeface="Quicksand"/>
                <a:sym typeface="Quicksand"/>
              </a:rPr>
              <a:t>SimpleRNN</a:t>
            </a:r>
            <a:endParaRPr sz="2000" b="1" dirty="0">
              <a:solidFill>
                <a:schemeClr val="dk1"/>
              </a:solidFill>
              <a:latin typeface="Quicksand"/>
              <a:ea typeface="Quicksand"/>
              <a:cs typeface="Quicksand"/>
              <a:sym typeface="Quicksand"/>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It’s a Dense layer that processes input token by token, with a feedback loop.</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inputs are arranged to interact with one another based on their temporal sequencing in the data.</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In practice, we cannot use </a:t>
            </a:r>
            <a:r>
              <a:rPr lang="en-US" sz="1800" dirty="0" err="1">
                <a:solidFill>
                  <a:schemeClr val="dk1"/>
                </a:solidFill>
                <a:latin typeface="Calibri"/>
                <a:ea typeface="Calibri"/>
                <a:cs typeface="Calibri"/>
                <a:sym typeface="Calibri"/>
              </a:rPr>
              <a:t>SimpleRNNs</a:t>
            </a:r>
            <a:r>
              <a:rPr lang="en-US" sz="1800" dirty="0">
                <a:solidFill>
                  <a:schemeClr val="dk1"/>
                </a:solidFill>
                <a:latin typeface="Calibri"/>
                <a:ea typeface="Calibri"/>
                <a:cs typeface="Calibri"/>
                <a:sym typeface="Calibri"/>
              </a:rPr>
              <a:t> to achieve meaningful memory (vanishing gradients arise very quickly! Can you see why?).</a:t>
            </a:r>
            <a:endParaRPr dirty="0"/>
          </a:p>
        </p:txBody>
      </p:sp>
      <p:pic>
        <p:nvPicPr>
          <p:cNvPr id="140" name="Google Shape;140;p7"/>
          <p:cNvPicPr preferRelativeResize="0"/>
          <p:nvPr/>
        </p:nvPicPr>
        <p:blipFill rotWithShape="1">
          <a:blip r:embed="rId3">
            <a:alphaModFix/>
          </a:blip>
          <a:srcRect/>
          <a:stretch/>
        </p:blipFill>
        <p:spPr>
          <a:xfrm>
            <a:off x="1804103" y="3684058"/>
            <a:ext cx="8583789" cy="225889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1A35004-8D0D-C173-CDDE-5767EB24CD19}"/>
            </a:ext>
          </a:extLst>
        </p:cNvPr>
        <p:cNvGrpSpPr/>
        <p:nvPr/>
      </p:nvGrpSpPr>
      <p:grpSpPr>
        <a:xfrm>
          <a:off x="0" y="0"/>
          <a:ext cx="0" cy="0"/>
          <a:chOff x="0" y="0"/>
          <a:chExt cx="0" cy="0"/>
        </a:xfrm>
      </p:grpSpPr>
      <p:sp>
        <p:nvSpPr>
          <p:cNvPr id="130" name="Google Shape;130;p6">
            <a:extLst>
              <a:ext uri="{FF2B5EF4-FFF2-40B4-BE49-F238E27FC236}">
                <a16:creationId xmlns:a16="http://schemas.microsoft.com/office/drawing/2014/main" id="{D03BD3E4-BFEE-97E0-16A2-A71122F862D0}"/>
              </a:ext>
            </a:extLst>
          </p:cNvPr>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How We Often Draw This</a:t>
            </a:r>
            <a:endParaRPr dirty="0"/>
          </a:p>
        </p:txBody>
      </p:sp>
      <p:sp>
        <p:nvSpPr>
          <p:cNvPr id="131" name="Google Shape;131;p6">
            <a:extLst>
              <a:ext uri="{FF2B5EF4-FFF2-40B4-BE49-F238E27FC236}">
                <a16:creationId xmlns:a16="http://schemas.microsoft.com/office/drawing/2014/main" id="{7EBB4106-1C15-8728-9881-2C9ABA583BFE}"/>
              </a:ext>
            </a:extLst>
          </p:cNvPr>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Incorporating Memory into a NN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include a feedback loop, where output feeds back into the same layer alongside the next input in the sequence (each gets its own separate set of weights, and they are able to interact with one another.</a:t>
            </a:r>
            <a:endParaRPr dirty="0"/>
          </a:p>
        </p:txBody>
      </p:sp>
      <p:pic>
        <p:nvPicPr>
          <p:cNvPr id="132" name="Google Shape;132;p6">
            <a:extLst>
              <a:ext uri="{FF2B5EF4-FFF2-40B4-BE49-F238E27FC236}">
                <a16:creationId xmlns:a16="http://schemas.microsoft.com/office/drawing/2014/main" id="{862ADE8A-D83A-2238-6F57-5F178C8A7CEE}"/>
              </a:ext>
            </a:extLst>
          </p:cNvPr>
          <p:cNvPicPr preferRelativeResize="0"/>
          <p:nvPr/>
        </p:nvPicPr>
        <p:blipFill rotWithShape="1">
          <a:blip r:embed="rId3">
            <a:alphaModFix/>
          </a:blip>
          <a:srcRect/>
          <a:stretch/>
        </p:blipFill>
        <p:spPr>
          <a:xfrm>
            <a:off x="1511298" y="3541890"/>
            <a:ext cx="2463800" cy="2070100"/>
          </a:xfrm>
          <a:prstGeom prst="rect">
            <a:avLst/>
          </a:prstGeom>
          <a:noFill/>
          <a:ln>
            <a:noFill/>
          </a:ln>
        </p:spPr>
      </p:pic>
      <p:pic>
        <p:nvPicPr>
          <p:cNvPr id="133" name="Google Shape;133;p6">
            <a:extLst>
              <a:ext uri="{FF2B5EF4-FFF2-40B4-BE49-F238E27FC236}">
                <a16:creationId xmlns:a16="http://schemas.microsoft.com/office/drawing/2014/main" id="{A2683C18-D62F-389C-50F8-69B003E20ADB}"/>
              </a:ext>
            </a:extLst>
          </p:cNvPr>
          <p:cNvPicPr preferRelativeResize="0"/>
          <p:nvPr/>
        </p:nvPicPr>
        <p:blipFill rotWithShape="1">
          <a:blip r:embed="rId4">
            <a:alphaModFix/>
          </a:blip>
          <a:srcRect/>
          <a:stretch/>
        </p:blipFill>
        <p:spPr>
          <a:xfrm>
            <a:off x="5034844" y="4036293"/>
            <a:ext cx="6575776" cy="1198651"/>
          </a:xfrm>
          <a:prstGeom prst="rect">
            <a:avLst/>
          </a:prstGeom>
          <a:noFill/>
          <a:ln>
            <a:noFill/>
          </a:ln>
        </p:spPr>
      </p:pic>
    </p:spTree>
    <p:extLst>
      <p:ext uri="{BB962C8B-B14F-4D97-AF65-F5344CB8AC3E}">
        <p14:creationId xmlns:p14="http://schemas.microsoft.com/office/powerpoint/2010/main" val="378131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46" name="Google Shape;146;p8"/>
          <p:cNvSpPr txBox="1"/>
          <p:nvPr/>
        </p:nvSpPr>
        <p:spPr>
          <a:xfrm>
            <a:off x="890337" y="1861226"/>
            <a:ext cx="10016362" cy="1785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Long Short-Term Memory (LSTM)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Addresses vanishing gradient problem with a “carry track” – an additional skip / residual connection that combines output at step t, inputs at step t, and the last carry track’s output. </a:t>
            </a:r>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topology means your network can ‘learn’ to use these connections as passthroughs for old info, or it can learn to ‘block’ that information in favor of more recent information (whatever is helpful for accurate prediction).</a:t>
            </a:r>
            <a:endParaRPr dirty="0"/>
          </a:p>
        </p:txBody>
      </p:sp>
      <p:pic>
        <p:nvPicPr>
          <p:cNvPr id="147" name="Google Shape;147;p8" descr="Illustrated Guide to LSTM&amp;#39;s and GRU&amp;#39;s: A step by step explanation | by  Michael Phi | Towards Data Science"/>
          <p:cNvPicPr preferRelativeResize="0"/>
          <p:nvPr/>
        </p:nvPicPr>
        <p:blipFill rotWithShape="1">
          <a:blip r:embed="rId3">
            <a:alphaModFix/>
          </a:blip>
          <a:srcRect r="50000" b="31032"/>
          <a:stretch/>
        </p:blipFill>
        <p:spPr>
          <a:xfrm>
            <a:off x="2203875" y="3783713"/>
            <a:ext cx="3182095" cy="2790952"/>
          </a:xfrm>
          <a:prstGeom prst="rect">
            <a:avLst/>
          </a:prstGeom>
          <a:noFill/>
          <a:ln>
            <a:noFill/>
          </a:ln>
        </p:spPr>
      </p:pic>
      <p:pic>
        <p:nvPicPr>
          <p:cNvPr id="148" name="Google Shape;148;p8"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592918" y="4367910"/>
            <a:ext cx="5919913" cy="11586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117d3bda9e2_0_0" descr="Illustrated Guide to LSTM&amp;#39;s and GRU&amp;#39;s: A step by step explanation | by  Michael Phi | Towards Data Science"/>
          <p:cNvPicPr preferRelativeResize="0"/>
          <p:nvPr/>
        </p:nvPicPr>
        <p:blipFill rotWithShape="1">
          <a:blip r:embed="rId3">
            <a:alphaModFix/>
          </a:blip>
          <a:srcRect r="50000" b="31029"/>
          <a:stretch/>
        </p:blipFill>
        <p:spPr>
          <a:xfrm>
            <a:off x="2229614" y="311955"/>
            <a:ext cx="7478151" cy="65589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1" name="Google Shape;161;p9"/>
          <p:cNvSpPr txBox="1"/>
          <p:nvPr/>
        </p:nvSpPr>
        <p:spPr>
          <a:xfrm>
            <a:off x="890337" y="1861226"/>
            <a:ext cx="1001636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Long Short-Term Memory (LSTM)</a:t>
            </a:r>
            <a:endParaRPr/>
          </a:p>
        </p:txBody>
      </p:sp>
      <p:pic>
        <p:nvPicPr>
          <p:cNvPr id="162" name="Google Shape;162;p9"/>
          <p:cNvPicPr preferRelativeResize="0"/>
          <p:nvPr/>
        </p:nvPicPr>
        <p:blipFill rotWithShape="1">
          <a:blip r:embed="rId3">
            <a:alphaModFix/>
          </a:blip>
          <a:srcRect/>
          <a:stretch/>
        </p:blipFill>
        <p:spPr>
          <a:xfrm>
            <a:off x="2127248" y="2540256"/>
            <a:ext cx="7937500" cy="3416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8" name="Google Shape;168;p10"/>
          <p:cNvSpPr txBox="1"/>
          <p:nvPr/>
        </p:nvSpPr>
        <p:spPr>
          <a:xfrm>
            <a:off x="890337" y="1861226"/>
            <a:ext cx="10016362" cy="15081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Gated Recurrent Unit (GRU)</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Less complex than an LSTM. Combines elements of the LSTM into simpler gated structure.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Fits more quickly, with less data, but memory tends to be shorter.</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common in NLP tasks, e.g., because “within sentence” or “within paragraph” memory is often sufficient.</a:t>
            </a:r>
            <a:endParaRPr/>
          </a:p>
        </p:txBody>
      </p:sp>
      <p:pic>
        <p:nvPicPr>
          <p:cNvPr id="169" name="Google Shape;169;p10" descr="Illustrated Guide to LSTM&amp;#39;s and GRU&amp;#39;s: A step by step explanation | by  Michael Phi | Towards Data Science"/>
          <p:cNvPicPr preferRelativeResize="0"/>
          <p:nvPr/>
        </p:nvPicPr>
        <p:blipFill rotWithShape="1">
          <a:blip r:embed="rId3">
            <a:alphaModFix/>
          </a:blip>
          <a:srcRect l="55149" t="750" r="-12" b="32032"/>
          <a:stretch/>
        </p:blipFill>
        <p:spPr>
          <a:xfrm>
            <a:off x="1643692" y="3488670"/>
            <a:ext cx="3206663" cy="3055012"/>
          </a:xfrm>
          <a:prstGeom prst="rect">
            <a:avLst/>
          </a:prstGeom>
          <a:noFill/>
          <a:ln>
            <a:noFill/>
          </a:ln>
        </p:spPr>
      </p:pic>
      <p:pic>
        <p:nvPicPr>
          <p:cNvPr id="170" name="Google Shape;170;p10"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303407" y="3968011"/>
            <a:ext cx="5919913" cy="115865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Stacking RNN Layers</a:t>
            </a:r>
            <a:endParaRPr/>
          </a:p>
        </p:txBody>
      </p:sp>
      <p:sp>
        <p:nvSpPr>
          <p:cNvPr id="183" name="Google Shape;183;p12"/>
          <p:cNvSpPr txBox="1"/>
          <p:nvPr/>
        </p:nvSpPr>
        <p:spPr>
          <a:xfrm>
            <a:off x="890337" y="1861226"/>
            <a:ext cx="10016362"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Stacked Layers (LSTM or GRUs)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Same as other ‘layer’ types, but we need to pass the entire sequence of outputs (not just the last output). We do this with the ‘return_sequences=True’ argument to the layer.</a:t>
            </a:r>
            <a:endParaRPr/>
          </a:p>
        </p:txBody>
      </p:sp>
      <p:pic>
        <p:nvPicPr>
          <p:cNvPr id="184" name="Google Shape;184;p12"/>
          <p:cNvPicPr preferRelativeResize="0"/>
          <p:nvPr/>
        </p:nvPicPr>
        <p:blipFill rotWithShape="1">
          <a:blip r:embed="rId3">
            <a:alphaModFix/>
          </a:blip>
          <a:srcRect/>
          <a:stretch/>
        </p:blipFill>
        <p:spPr>
          <a:xfrm>
            <a:off x="1924048" y="3429000"/>
            <a:ext cx="8343900" cy="177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Bidirectional RNNs</a:t>
            </a:r>
            <a:endParaRPr/>
          </a:p>
        </p:txBody>
      </p:sp>
      <p:sp>
        <p:nvSpPr>
          <p:cNvPr id="190" name="Google Shape;190;p13"/>
          <p:cNvSpPr txBox="1"/>
          <p:nvPr/>
        </p:nvSpPr>
        <p:spPr>
          <a:xfrm>
            <a:off x="890337" y="1861226"/>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Some Sequences Yield Information in Both Directions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Consider that, in language, words that come later in a sentence can be predictive of what came before.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Bidirectional RNNs implement a standard RNN, but they also incorporate a parallel layer implementation that takes the sequence ordered in reverse. </a:t>
            </a:r>
            <a:endParaRPr/>
          </a:p>
        </p:txBody>
      </p:sp>
      <p:pic>
        <p:nvPicPr>
          <p:cNvPr id="191" name="Google Shape;191;p13"/>
          <p:cNvPicPr preferRelativeResize="0"/>
          <p:nvPr/>
        </p:nvPicPr>
        <p:blipFill rotWithShape="1">
          <a:blip r:embed="rId3">
            <a:alphaModFix/>
          </a:blip>
          <a:srcRect/>
          <a:stretch/>
        </p:blipFill>
        <p:spPr>
          <a:xfrm>
            <a:off x="4489451" y="3429000"/>
            <a:ext cx="3213098" cy="28344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76FFA544-7189-6C20-0118-A582AA7D3041}"/>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873A0201-5855-3381-DECD-191ED9A6C847}"/>
              </a:ext>
            </a:extLst>
          </p:cNvPr>
          <p:cNvSpPr txBox="1"/>
          <p:nvPr/>
        </p:nvSpPr>
        <p:spPr>
          <a:xfrm>
            <a:off x="2496353" y="658976"/>
            <a:ext cx="719929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Do We Still Need RNNs?</a:t>
            </a:r>
            <a:endParaRPr dirty="0"/>
          </a:p>
        </p:txBody>
      </p:sp>
      <p:sp>
        <p:nvSpPr>
          <p:cNvPr id="190" name="Google Shape;190;p13">
            <a:extLst>
              <a:ext uri="{FF2B5EF4-FFF2-40B4-BE49-F238E27FC236}">
                <a16:creationId xmlns:a16="http://schemas.microsoft.com/office/drawing/2014/main" id="{903DFBBC-C198-F9EC-F8A3-495F3FDCA0D2}"/>
              </a:ext>
            </a:extLst>
          </p:cNvPr>
          <p:cNvSpPr txBox="1"/>
          <p:nvPr/>
        </p:nvSpPr>
        <p:spPr>
          <a:xfrm>
            <a:off x="890337" y="1861226"/>
            <a:ext cx="10016362"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are larger neural networks, with more parameters.</a:t>
            </a:r>
          </a:p>
          <a:p>
            <a:pPr lvl="0">
              <a:buClr>
                <a:schemeClr val="dk1"/>
              </a:buClr>
              <a:buSzPts val="1800"/>
            </a:pPr>
            <a:endParaRPr dirty="0"/>
          </a:p>
        </p:txBody>
      </p:sp>
      <p:pic>
        <p:nvPicPr>
          <p:cNvPr id="1026" name="Picture 2" descr="❓ Red Question Mark Emoji: Meaning &amp; Usage">
            <a:extLst>
              <a:ext uri="{FF2B5EF4-FFF2-40B4-BE49-F238E27FC236}">
                <a16:creationId xmlns:a16="http://schemas.microsoft.com/office/drawing/2014/main" id="{69C7CE05-B6DA-C581-53A2-DBFED264B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7294" y="3449385"/>
            <a:ext cx="5237408" cy="2749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235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D40B34E7-16E6-40DF-5EA5-EF4F92F00833}"/>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FDBE9820-4FA3-4114-D296-240538D39B6F}"/>
              </a:ext>
            </a:extLst>
          </p:cNvPr>
          <p:cNvSpPr txBox="1"/>
          <p:nvPr/>
        </p:nvSpPr>
        <p:spPr>
          <a:xfrm>
            <a:off x="2238777" y="657206"/>
            <a:ext cx="7714446"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Why Do We Need RNNs Though?</a:t>
            </a:r>
            <a:endParaRPr dirty="0"/>
          </a:p>
        </p:txBody>
      </p:sp>
      <p:sp>
        <p:nvSpPr>
          <p:cNvPr id="190" name="Google Shape;190;p13">
            <a:extLst>
              <a:ext uri="{FF2B5EF4-FFF2-40B4-BE49-F238E27FC236}">
                <a16:creationId xmlns:a16="http://schemas.microsoft.com/office/drawing/2014/main" id="{61610DB7-5F72-2E88-8A84-5EC038FC1A7F}"/>
              </a:ext>
            </a:extLst>
          </p:cNvPr>
          <p:cNvSpPr txBox="1"/>
          <p:nvPr/>
        </p:nvSpPr>
        <p:spPr>
          <a:xfrm>
            <a:off x="890337" y="1861226"/>
            <a:ext cx="10016362"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are larger neural networks, with more parameters.</a:t>
            </a:r>
          </a:p>
          <a:p>
            <a:pPr marL="285750" lvl="0" indent="-285750">
              <a:buClr>
                <a:schemeClr val="dk1"/>
              </a:buClr>
              <a:buSzPts val="1800"/>
              <a:buFont typeface="Arial"/>
              <a:buChar char="•"/>
            </a:pPr>
            <a:endParaRPr lang="en-US" sz="1800" dirty="0">
              <a:solidFill>
                <a:schemeClr val="dk1"/>
              </a:solidFill>
              <a:latin typeface="Calibri"/>
              <a:cs typeface="Calibri"/>
              <a:sym typeface="Calibri"/>
            </a:endParaRPr>
          </a:p>
          <a:p>
            <a:pPr>
              <a:buClr>
                <a:schemeClr val="dk1"/>
              </a:buClr>
              <a:buSzPts val="1800"/>
            </a:pPr>
            <a:r>
              <a:rPr lang="en-US" sz="2000" b="1" dirty="0">
                <a:solidFill>
                  <a:schemeClr val="dk1"/>
                </a:solidFill>
                <a:latin typeface="Quicksand"/>
                <a:sym typeface="Quicksand"/>
              </a:rPr>
              <a:t>Where RNNs Excel</a:t>
            </a:r>
            <a:endParaRPr lang="en-US" sz="2000"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Latency! If I need to stream real-time audio or real-time closed captions, etc., then delays are my enemy. </a:t>
            </a:r>
          </a:p>
          <a:p>
            <a:pPr marL="285750" lvl="0" indent="-285750">
              <a:buClr>
                <a:schemeClr val="dk1"/>
              </a:buClr>
              <a:buSzPts val="1800"/>
              <a:buFont typeface="Arial"/>
              <a:buChar char="•"/>
            </a:pPr>
            <a:r>
              <a:rPr lang="en-US" sz="1800" dirty="0">
                <a:solidFill>
                  <a:schemeClr val="dk1"/>
                </a:solidFill>
                <a:latin typeface="Calibri"/>
                <a:cs typeface="Calibri"/>
                <a:sym typeface="Calibri"/>
              </a:rPr>
              <a:t>Edge devices! If I need the ability to use one of these models on-device (e.g., somewhere that lacks internet, or that is privacy sensitive) then it’s hard to host a large neural network that has high inference time/costs. </a:t>
            </a:r>
          </a:p>
          <a:p>
            <a:pPr lvl="0">
              <a:buClr>
                <a:schemeClr val="dk1"/>
              </a:buClr>
              <a:buSzPts val="1800"/>
            </a:pPr>
            <a:endParaRPr dirty="0"/>
          </a:p>
        </p:txBody>
      </p:sp>
    </p:spTree>
    <p:extLst>
      <p:ext uri="{BB962C8B-B14F-4D97-AF65-F5344CB8AC3E}">
        <p14:creationId xmlns:p14="http://schemas.microsoft.com/office/powerpoint/2010/main" val="2016738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Embedding Layer</a:t>
            </a:r>
            <a:endParaRPr sz="1400" b="0" i="0" u="none" strike="noStrike" cap="none">
              <a:solidFill>
                <a:srgbClr val="000000"/>
              </a:solidFill>
              <a:latin typeface="Arial"/>
              <a:ea typeface="Arial"/>
              <a:cs typeface="Arial"/>
              <a:sym typeface="Arial"/>
            </a:endParaRPr>
          </a:p>
        </p:txBody>
      </p:sp>
      <p:sp>
        <p:nvSpPr>
          <p:cNvPr id="153" name="Google Shape;153;p31"/>
          <p:cNvSpPr txBox="1"/>
          <p:nvPr/>
        </p:nvSpPr>
        <p:spPr>
          <a:xfrm>
            <a:off x="1049123" y="1984024"/>
            <a:ext cx="10665900" cy="440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With Hot Encodings, Model Will Still Struggle to Figure </a:t>
            </a:r>
            <a:br>
              <a:rPr lang="en-US" sz="2000" b="1" i="0" u="none" strike="noStrike" cap="none">
                <a:solidFill>
                  <a:schemeClr val="dk1"/>
                </a:solidFill>
                <a:latin typeface="Quicksand"/>
                <a:ea typeface="Quicksand"/>
                <a:cs typeface="Quicksand"/>
                <a:sym typeface="Quicksand"/>
              </a:rPr>
            </a:br>
            <a:r>
              <a:rPr lang="en-US" sz="2000" b="1" i="0" u="none" strike="noStrike" cap="none">
                <a:solidFill>
                  <a:schemeClr val="dk1"/>
                </a:solidFill>
                <a:latin typeface="Quicksand"/>
                <a:ea typeface="Quicksand"/>
                <a:cs typeface="Quicksand"/>
                <a:sym typeface="Quicksand"/>
              </a:rPr>
              <a:t>Out Semantics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Despite having sequence, the model is “told” that the tokens are orthogonal / independent of one another in their meanings. But that’s not true!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Textual Embedding Layer First Provides Dimensionality Reduction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Represent words into a lower dimensional space – similar vector = similar meaning.</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The Embedding layer is a lookup table that maps tokens to vectors. For each token in the vocabulary, the network learns a vector representation. The vectors are initially random, and the network updates them in training to learn representations that help in prediction (just like with convolution filters!).</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In practice, it is learning semantic relationships… </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This is much better for an RNN than a hot encoding,</a:t>
            </a:r>
            <a:br>
              <a:rPr lang="en-US" sz="2000" b="0" i="0" u="none" strike="noStrike" cap="none">
                <a:solidFill>
                  <a:schemeClr val="dk1"/>
                </a:solidFill>
                <a:latin typeface="Quicksand"/>
                <a:ea typeface="Quicksand"/>
                <a:cs typeface="Quicksand"/>
                <a:sym typeface="Quicksand"/>
              </a:rPr>
            </a:br>
            <a:r>
              <a:rPr lang="en-US" sz="2000" b="0" i="0" u="none" strike="noStrike" cap="none">
                <a:solidFill>
                  <a:schemeClr val="dk1"/>
                </a:solidFill>
                <a:latin typeface="Quicksand"/>
                <a:ea typeface="Quicksand"/>
                <a:cs typeface="Quicksand"/>
                <a:sym typeface="Quicksand"/>
              </a:rPr>
              <a:t>because 120 values (for example) is &lt;&lt; 20,000!</a:t>
            </a:r>
            <a:endParaRPr sz="1400" b="0" i="0" u="none" strike="noStrike" cap="none">
              <a:solidFill>
                <a:srgbClr val="000000"/>
              </a:solidFill>
              <a:latin typeface="Arial"/>
              <a:ea typeface="Arial"/>
              <a:cs typeface="Arial"/>
              <a:sym typeface="Arial"/>
            </a:endParaRPr>
          </a:p>
        </p:txBody>
      </p:sp>
      <p:pic>
        <p:nvPicPr>
          <p:cNvPr id="154" name="Google Shape;154;p31" descr="The amazing power of word vectors | the morning paper"/>
          <p:cNvPicPr preferRelativeResize="0"/>
          <p:nvPr/>
        </p:nvPicPr>
        <p:blipFill rotWithShape="1">
          <a:blip r:embed="rId3">
            <a:alphaModFix/>
          </a:blip>
          <a:srcRect/>
          <a:stretch/>
        </p:blipFill>
        <p:spPr>
          <a:xfrm>
            <a:off x="8319103" y="106252"/>
            <a:ext cx="3638750" cy="2214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Word2Vec</a:t>
            </a:r>
            <a:endParaRPr sz="1400" b="0" i="0" u="none" strike="noStrike" cap="none">
              <a:solidFill>
                <a:srgbClr val="000000"/>
              </a:solidFill>
              <a:latin typeface="Arial"/>
              <a:ea typeface="Arial"/>
              <a:cs typeface="Arial"/>
              <a:sym typeface="Arial"/>
            </a:endParaRPr>
          </a:p>
        </p:txBody>
      </p:sp>
      <p:sp>
        <p:nvSpPr>
          <p:cNvPr id="169" name="Google Shape;169;p10"/>
          <p:cNvSpPr txBox="1"/>
          <p:nvPr/>
        </p:nvSpPr>
        <p:spPr>
          <a:xfrm>
            <a:off x="772620" y="1950155"/>
            <a:ext cx="1009375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Word2Vec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Two types: CBoW and Skipgram</a:t>
            </a:r>
            <a:endParaRPr sz="20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Construct training examples and labels.</a:t>
            </a:r>
            <a:endParaRPr sz="1400" b="0" i="0" u="none" strike="noStrike" cap="none">
              <a:solidFill>
                <a:srgbClr val="000000"/>
              </a:solidFill>
              <a:latin typeface="Arial"/>
              <a:ea typeface="Arial"/>
              <a:cs typeface="Arial"/>
              <a:sym typeface="Arial"/>
            </a:endParaRPr>
          </a:p>
        </p:txBody>
      </p:sp>
      <p:pic>
        <p:nvPicPr>
          <p:cNvPr id="170" name="Google Shape;170;p10"/>
          <p:cNvPicPr preferRelativeResize="0"/>
          <p:nvPr/>
        </p:nvPicPr>
        <p:blipFill rotWithShape="1">
          <a:blip r:embed="rId3">
            <a:alphaModFix/>
          </a:blip>
          <a:srcRect/>
          <a:stretch/>
        </p:blipFill>
        <p:spPr>
          <a:xfrm>
            <a:off x="772620" y="3352986"/>
            <a:ext cx="4415802" cy="2520315"/>
          </a:xfrm>
          <a:prstGeom prst="rect">
            <a:avLst/>
          </a:prstGeom>
          <a:noFill/>
          <a:ln>
            <a:noFill/>
          </a:ln>
        </p:spPr>
      </p:pic>
      <p:pic>
        <p:nvPicPr>
          <p:cNvPr id="171" name="Google Shape;171;p10"/>
          <p:cNvPicPr preferRelativeResize="0"/>
          <p:nvPr/>
        </p:nvPicPr>
        <p:blipFill rotWithShape="1">
          <a:blip r:embed="rId4">
            <a:alphaModFix/>
          </a:blip>
          <a:srcRect/>
          <a:stretch/>
        </p:blipFill>
        <p:spPr>
          <a:xfrm>
            <a:off x="5935006" y="2025940"/>
            <a:ext cx="5574686" cy="368630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Limitation</a:t>
            </a:r>
            <a:endParaRPr sz="1400" b="0" i="0" u="none" strike="noStrike" cap="none">
              <a:solidFill>
                <a:srgbClr val="000000"/>
              </a:solidFill>
              <a:latin typeface="Arial"/>
              <a:ea typeface="Arial"/>
              <a:cs typeface="Arial"/>
              <a:sym typeface="Arial"/>
            </a:endParaRPr>
          </a:p>
        </p:txBody>
      </p:sp>
      <p:sp>
        <p:nvSpPr>
          <p:cNvPr id="178" name="Google Shape;178;p11"/>
          <p:cNvSpPr txBox="1"/>
          <p:nvPr/>
        </p:nvSpPr>
        <p:spPr>
          <a:xfrm>
            <a:off x="772620" y="1950155"/>
            <a:ext cx="10093751"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Out of Sample Words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Both GloVe and Word2Vec are limited to words you’ve seen before in training. They cannot handle new words. Those words thus get omitted / dropped, or you need to do something different.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FastText</a:t>
            </a:r>
            <a:endParaRPr sz="2000" b="1"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An extension to Word2Vec which learns character n-grams of words. So, instead of embedding words, we embed portions of words (e.g., a 3-gram character representation would break up the word ‘coffee’ into ‘cof’, ‘off’, ‘ffe’, … and then learn vector embeddings of each. </a:t>
            </a:r>
            <a:endParaRPr sz="1400" b="0" i="0" u="none" strike="noStrike" cap="none">
              <a:solidFill>
                <a:srgbClr val="000000"/>
              </a:solidFill>
              <a:latin typeface="Arial"/>
              <a:ea typeface="Arial"/>
              <a:cs typeface="Arial"/>
              <a:sym typeface="Arial"/>
            </a:endParaRPr>
          </a:p>
        </p:txBody>
      </p:sp>
      <p:pic>
        <p:nvPicPr>
          <p:cNvPr id="179" name="Google Shape;179;p11" descr="A Visual Guide to FastText Word Embeddings"/>
          <p:cNvPicPr preferRelativeResize="0"/>
          <p:nvPr/>
        </p:nvPicPr>
        <p:blipFill rotWithShape="1">
          <a:blip r:embed="rId3">
            <a:alphaModFix/>
          </a:blip>
          <a:srcRect/>
          <a:stretch/>
        </p:blipFill>
        <p:spPr>
          <a:xfrm>
            <a:off x="4171602" y="5000195"/>
            <a:ext cx="3848796" cy="15306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RNN for Audio</a:t>
            </a:r>
            <a:endParaRPr sz="1400" b="0" i="0" u="none" strike="noStrike" cap="none">
              <a:solidFill>
                <a:srgbClr val="000000"/>
              </a:solidFill>
              <a:latin typeface="Arial"/>
              <a:ea typeface="Arial"/>
              <a:cs typeface="Arial"/>
              <a:sym typeface="Arial"/>
            </a:endParaRPr>
          </a:p>
        </p:txBody>
      </p:sp>
      <p:sp>
        <p:nvSpPr>
          <p:cNvPr id="225" name="Google Shape;225;p12"/>
          <p:cNvSpPr txBox="1"/>
          <p:nvPr/>
        </p:nvSpPr>
        <p:spPr>
          <a:xfrm>
            <a:off x="772620" y="1950155"/>
            <a:ext cx="10093751"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Sequence Concepts Work for Audio Data</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Audio files are just sequences of numeric values (amplitude), possibly two if it was recorded in stereo.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Once we recognize this, we realize we can predict things about audio sequences too!</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26" name="Google Shape;226;p12"/>
          <p:cNvPicPr preferRelativeResize="0"/>
          <p:nvPr/>
        </p:nvPicPr>
        <p:blipFill rotWithShape="1">
          <a:blip r:embed="rId3">
            <a:alphaModFix/>
          </a:blip>
          <a:srcRect/>
          <a:stretch/>
        </p:blipFill>
        <p:spPr>
          <a:xfrm>
            <a:off x="4337050" y="3429000"/>
            <a:ext cx="3517900" cy="2286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CNN-RNN for Video</a:t>
            </a:r>
            <a:endParaRPr sz="1400" b="0" i="0" u="none" strike="noStrike" cap="none">
              <a:solidFill>
                <a:srgbClr val="000000"/>
              </a:solidFill>
              <a:latin typeface="Arial"/>
              <a:ea typeface="Arial"/>
              <a:cs typeface="Arial"/>
              <a:sym typeface="Arial"/>
            </a:endParaRPr>
          </a:p>
        </p:txBody>
      </p:sp>
      <p:sp>
        <p:nvSpPr>
          <p:cNvPr id="233" name="Google Shape;233;p13"/>
          <p:cNvSpPr txBox="1"/>
          <p:nvPr/>
        </p:nvSpPr>
        <p:spPr>
          <a:xfrm>
            <a:off x="772620" y="1950155"/>
            <a:ext cx="100937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Hybrid Topology for Image Sequences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Use CNN’s to detect features at a given input.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feed those feature maps into an RNN architecture, like LSTM.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can use this topology to predict things about videos.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You might pre-process frames using a pre-trained CNN and pass feature maps as sequences to an RNN.</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34" name="Google Shape;234;p13" descr="Introduction to Video Classification and Human Activity Recognition"/>
          <p:cNvPicPr preferRelativeResize="0"/>
          <p:nvPr/>
        </p:nvPicPr>
        <p:blipFill rotWithShape="1">
          <a:blip r:embed="rId3">
            <a:alphaModFix/>
          </a:blip>
          <a:srcRect/>
          <a:stretch/>
        </p:blipFill>
        <p:spPr>
          <a:xfrm>
            <a:off x="3531000" y="3770489"/>
            <a:ext cx="5130000" cy="28368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1825</Words>
  <Application>Microsoft Macintosh PowerPoint</Application>
  <PresentationFormat>Widescreen</PresentationFormat>
  <Paragraphs>209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Economica</vt:lpstr>
      <vt:lpstr>Arial</vt:lpstr>
      <vt:lpstr>Quicksand</vt:lpstr>
      <vt:lpstr>Calibri</vt:lpstr>
      <vt:lpstr>Office Theme</vt:lpstr>
      <vt:lpstr>PowerPoint Presentation</vt:lpstr>
      <vt:lpstr>PowerPoint Presentation</vt:lpstr>
      <vt:lpstr>PowerPoint Presentation</vt:lpstr>
      <vt:lpstr>PowerPoint Presentation</vt:lpstr>
      <vt:lpstr>Weighting Term-Documents: TF-IDF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14</cp:revision>
  <dcterms:created xsi:type="dcterms:W3CDTF">2019-12-28T13:51:56Z</dcterms:created>
  <dcterms:modified xsi:type="dcterms:W3CDTF">2026-03-17T17:53:30Z</dcterms:modified>
</cp:coreProperties>
</file>