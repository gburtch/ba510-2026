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Lst>
  <p:sldSz cx="12192000" cy="6858000"/>
  <p:notesSz cx="6858000" cy="9144000"/>
  <p:embeddedFontLst>
    <p:embeddedFont>
      <p:font typeface="Consolas" panose="020B0609020204030204" pitchFamily="49" charset="0"/>
      <p:regular r:id="rId20"/>
      <p:bold r:id="rId21"/>
      <p:italic r:id="rId22"/>
      <p:boldItalic r:id="rId23"/>
    </p:embeddedFont>
    <p:embeddedFont>
      <p:font typeface="Economica" panose="02000506040000020004" pitchFamily="2" charset="77"/>
      <p:regular r:id="rId24"/>
      <p:bold r:id="rId25"/>
      <p:italic r:id="rId26"/>
      <p:boldItalic r:id="rId27"/>
    </p:embeddedFont>
    <p:embeddedFont>
      <p:font typeface="Quicksand" pitchFamily="2" charset="77"/>
      <p:regular r:id="rId28"/>
      <p:bold r:id="rId29"/>
    </p:embeddedFont>
    <p:embeddedFont>
      <p:font typeface="Roboto"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LyaUx4xKXTi69voR3m2lGU76l4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 name="Google Shape;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If we have a bidirectional decoder, it will read ahead in the target sentence and cheat, using information that will not present at inference! There won’t be any error messages, but the model is essentially learning how to operate under the presence of information that will never be present in its sequence embeddings for the output generated thus far. </a:t>
            </a:r>
            <a:endParaRPr/>
          </a:p>
        </p:txBody>
      </p:sp>
      <p:sp>
        <p:nvSpPr>
          <p:cNvPr id="99" name="Google Shape;9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Encoder is on the left and Decoder is on the right. Our Encoder learns attended representations of the English input sequence. Our decoder uses cross-attention to compare an attended representation of the Spanish output seen so far with the input attended English sequence, to decide what to spit out next. </a:t>
            </a:r>
            <a:endParaRPr/>
          </a:p>
        </p:txBody>
      </p:sp>
      <p:sp>
        <p:nvSpPr>
          <p:cNvPr id="106" name="Google Shape;10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sz="1200" b="0" i="0" u="none" strike="noStrike" cap="none">
                <a:solidFill>
                  <a:schemeClr val="dk1"/>
                </a:solidFill>
                <a:latin typeface="Calibri"/>
                <a:ea typeface="Calibri"/>
                <a:cs typeface="Calibri"/>
                <a:sym typeface="Calibri"/>
              </a:rPr>
              <a:t>TRANSITION: We've been looking at attention for generation (translation, next-token prediction). Now let's flip it — what if we use attention not to generate text, but to learn better representations of text? That's BERT.</a:t>
            </a:r>
            <a:endParaRPr/>
          </a:p>
        </p:txBody>
      </p:sp>
      <p:sp>
        <p:nvSpPr>
          <p:cNvPr id="120" name="Google Shape;12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BERT would also attempt to predict from one sentence whether another appeared next in the original document, to learn sentence-to-sentence relationships. </a:t>
            </a:r>
            <a:endParaRPr/>
          </a:p>
        </p:txBody>
      </p:sp>
      <p:sp>
        <p:nvSpPr>
          <p:cNvPr id="127" name="Google Shape;12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BERT would also attempt to predict from one sentence whether another appeared next in the original document, to learn sentence-to-sentence relationships. </a:t>
            </a:r>
            <a:endParaRPr/>
          </a:p>
        </p:txBody>
      </p:sp>
      <p:sp>
        <p:nvSpPr>
          <p:cNvPr id="134" name="Google Shape;13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BERT would also attempt to predict from one sentence whether another appeared next in the original document, to learn sentence-to-sentence relationships. </a:t>
            </a:r>
            <a:endParaRPr/>
          </a:p>
        </p:txBody>
      </p:sp>
      <p:sp>
        <p:nvSpPr>
          <p:cNvPr id="141" name="Google Shape;14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a:t>Note: we do something similar with a transformer. The difference, however, is that transformers do not process in sequence. As such, instead, we include a ‘causal mask’, such that predictions at different points in the sequence are made based on attention that ignores tokens later in the sequence. This forces the model to only consider information it will have at inference time.</a:t>
            </a:r>
            <a:endParaRPr/>
          </a:p>
        </p:txBody>
      </p:sp>
      <p:sp>
        <p:nvSpPr>
          <p:cNvPr id="155" name="Google Shape;15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 host of issues is very extensive. Be careful what intelligence you ascribe to these models, or what you trust them to do. </a:t>
            </a:r>
            <a:endParaRPr/>
          </a:p>
        </p:txBody>
      </p:sp>
      <p:sp>
        <p:nvSpPr>
          <p:cNvPr id="182" name="Google Shape;18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Weights are not initialized until you “build” the model (or compile it, which will first build). </a:t>
            </a:r>
            <a:endParaRPr/>
          </a:p>
        </p:txBody>
      </p:sp>
      <p:sp>
        <p:nvSpPr>
          <p:cNvPr id="211" name="Google Shape;211;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23"/>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Economica"/>
                <a:ea typeface="Economica"/>
                <a:cs typeface="Economica"/>
                <a:sym typeface="Economica"/>
              </a:rPr>
              <a:t>© Gordon Burtch, 2026</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1"/>
        <p:cNvGrpSpPr/>
        <p:nvPr/>
      </p:nvGrpSpPr>
      <p:grpSpPr>
        <a:xfrm>
          <a:off x="0" y="0"/>
          <a:ext cx="0" cy="0"/>
          <a:chOff x="0" y="0"/>
          <a:chExt cx="0" cy="0"/>
        </a:xfrm>
      </p:grpSpPr>
      <p:sp>
        <p:nvSpPr>
          <p:cNvPr id="22" name="Google Shape;22;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4" name="Google Shape;24;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5" name="Google Shape;2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2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2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2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a:spLocks noGrp="1"/>
          </p:cNvSpPr>
          <p:nvPr>
            <p:ph type="pic" idx="2"/>
          </p:nvPr>
        </p:nvSpPr>
        <p:spPr>
          <a:xfrm>
            <a:off x="5183188" y="987425"/>
            <a:ext cx="6172200" cy="4873625"/>
          </a:xfrm>
          <a:prstGeom prst="rect">
            <a:avLst/>
          </a:prstGeom>
          <a:noFill/>
          <a:ln>
            <a:noFill/>
          </a:ln>
        </p:spPr>
      </p:sp>
      <p:sp>
        <p:nvSpPr>
          <p:cNvPr id="62" name="Google Shape;62;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grpSp>
        <p:nvGrpSpPr>
          <p:cNvPr id="82" name="Google Shape;82;p1"/>
          <p:cNvGrpSpPr/>
          <p:nvPr/>
        </p:nvGrpSpPr>
        <p:grpSpPr>
          <a:xfrm>
            <a:off x="3058028" y="1385048"/>
            <a:ext cx="5999745" cy="1657524"/>
            <a:chOff x="3164307" y="2588206"/>
            <a:chExt cx="5999745" cy="1657524"/>
          </a:xfrm>
        </p:grpSpPr>
        <p:grpSp>
          <p:nvGrpSpPr>
            <p:cNvPr id="83" name="Google Shape;83;p1"/>
            <p:cNvGrpSpPr/>
            <p:nvPr/>
          </p:nvGrpSpPr>
          <p:grpSpPr>
            <a:xfrm>
              <a:off x="3164307" y="2588206"/>
              <a:ext cx="1213182" cy="661736"/>
              <a:chOff x="3132555" y="2419542"/>
              <a:chExt cx="1651279" cy="1070810"/>
            </a:xfrm>
          </p:grpSpPr>
          <p:cxnSp>
            <p:nvCxnSpPr>
              <p:cNvPr id="84" name="Google Shape;84;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85" name="Google Shape;85;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86" name="Google Shape;86;p1"/>
            <p:cNvGrpSpPr/>
            <p:nvPr/>
          </p:nvGrpSpPr>
          <p:grpSpPr>
            <a:xfrm rot="10800000">
              <a:off x="8071184" y="3583994"/>
              <a:ext cx="1092868" cy="661736"/>
              <a:chOff x="3269088" y="2458482"/>
              <a:chExt cx="1388919" cy="1070810"/>
            </a:xfrm>
          </p:grpSpPr>
          <p:cxnSp>
            <p:nvCxnSpPr>
              <p:cNvPr id="87" name="Google Shape;87;p1"/>
              <p:cNvCxnSpPr/>
              <p:nvPr/>
            </p:nvCxnSpPr>
            <p:spPr>
              <a:xfrm>
                <a:off x="3269088" y="2458484"/>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88" name="Google Shape;88;p1"/>
              <p:cNvCxnSpPr/>
              <p:nvPr/>
            </p:nvCxnSpPr>
            <p:spPr>
              <a:xfrm rot="10800000">
                <a:off x="3269088" y="245848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
        <p:nvSpPr>
          <p:cNvPr id="89" name="Google Shape;89;p1"/>
          <p:cNvSpPr txBox="1"/>
          <p:nvPr/>
        </p:nvSpPr>
        <p:spPr>
          <a:xfrm>
            <a:off x="3516233" y="1715916"/>
            <a:ext cx="4995106"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6000" b="0" i="0" u="none" strike="noStrike" cap="none">
                <a:solidFill>
                  <a:schemeClr val="dk1"/>
                </a:solidFill>
                <a:latin typeface="Economica"/>
                <a:ea typeface="Economica"/>
                <a:cs typeface="Economica"/>
                <a:sym typeface="Economica"/>
              </a:rPr>
              <a:t>Generative Text</a:t>
            </a:r>
            <a:endParaRPr sz="36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txBox="1"/>
          <p:nvPr/>
        </p:nvSpPr>
        <p:spPr>
          <a:xfrm>
            <a:off x="2865521" y="586938"/>
            <a:ext cx="6461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This Week’s Agenda</a:t>
            </a:r>
            <a:endParaRPr sz="1400" b="0" i="0" u="none" strike="noStrike" cap="none">
              <a:solidFill>
                <a:srgbClr val="000000"/>
              </a:solidFill>
              <a:latin typeface="Arial"/>
              <a:ea typeface="Arial"/>
              <a:cs typeface="Arial"/>
              <a:sym typeface="Arial"/>
            </a:endParaRPr>
          </a:p>
        </p:txBody>
      </p:sp>
      <p:sp>
        <p:nvSpPr>
          <p:cNvPr id="95" name="Google Shape;95;p2"/>
          <p:cNvSpPr txBox="1"/>
          <p:nvPr/>
        </p:nvSpPr>
        <p:spPr>
          <a:xfrm>
            <a:off x="902212" y="2131744"/>
            <a:ext cx="6874500" cy="240061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AI News</a:t>
            </a: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Generative Language Models</a:t>
            </a: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Machine translation</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Large language models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Auto-regressive (large) language models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Pre-trained LLMs</a:t>
            </a: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LLM + RAG</a:t>
            </a:r>
            <a:endParaRPr sz="1400" b="0" i="0" u="none" strike="noStrike" cap="none">
              <a:solidFill>
                <a:srgbClr val="000000"/>
              </a:solidFill>
              <a:latin typeface="Arial"/>
              <a:ea typeface="Arial"/>
              <a:cs typeface="Arial"/>
              <a:sym typeface="Arial"/>
            </a:endParaRPr>
          </a:p>
        </p:txBody>
      </p:sp>
      <p:pic>
        <p:nvPicPr>
          <p:cNvPr id="96" name="Google Shape;96;p2" descr="Build an Effective Meeting Agenda Template | WorkPatterns"/>
          <p:cNvPicPr preferRelativeResize="0"/>
          <p:nvPr/>
        </p:nvPicPr>
        <p:blipFill rotWithShape="1">
          <a:blip r:embed="rId3">
            <a:alphaModFix/>
          </a:blip>
          <a:srcRect/>
          <a:stretch/>
        </p:blipFill>
        <p:spPr>
          <a:xfrm>
            <a:off x="7165298" y="2476129"/>
            <a:ext cx="5026701" cy="26429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p:nvPr/>
        </p:nvSpPr>
        <p:spPr>
          <a:xfrm>
            <a:off x="1215528" y="586938"/>
            <a:ext cx="9760944"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Machine Translation: Encoder-Decoder</a:t>
            </a:r>
            <a:endParaRPr sz="1400" b="0" i="0" u="none" strike="noStrike" cap="none" dirty="0">
              <a:solidFill>
                <a:srgbClr val="000000"/>
              </a:solidFill>
              <a:latin typeface="Arial"/>
              <a:ea typeface="Arial"/>
              <a:cs typeface="Arial"/>
              <a:sym typeface="Arial"/>
            </a:endParaRPr>
          </a:p>
        </p:txBody>
      </p:sp>
      <p:sp>
        <p:nvSpPr>
          <p:cNvPr id="102" name="Google Shape;102;p3"/>
          <p:cNvSpPr txBox="1"/>
          <p:nvPr/>
        </p:nvSpPr>
        <p:spPr>
          <a:xfrm>
            <a:off x="768888" y="1791969"/>
            <a:ext cx="4514485"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Similar Idea with Some Additions</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Include an ‘encoder’ that first processes the entire input sequence to obtain an embedded representation of the input text.</a:t>
            </a:r>
            <a:br>
              <a:rPr lang="en-US" sz="1800" b="0"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We are not just generating ‘plausible’ text now; we are generating plausible text that aligns with (i.e., conditioned upon) the input text.</a:t>
            </a:r>
            <a:endParaRPr sz="1400" b="0" i="0" u="none" strike="noStrike" cap="none">
              <a:solidFill>
                <a:srgbClr val="000000"/>
              </a:solidFill>
              <a:latin typeface="Arial"/>
              <a:ea typeface="Arial"/>
              <a:cs typeface="Arial"/>
              <a:sym typeface="Arial"/>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Our encoder can be bidirectional, but our decoder must be </a:t>
            </a:r>
            <a:r>
              <a:rPr lang="en-US" sz="1800" b="1" i="0" u="sng" strike="noStrike" cap="none">
                <a:solidFill>
                  <a:schemeClr val="dk1"/>
                </a:solidFill>
                <a:latin typeface="Quicksand"/>
                <a:ea typeface="Quicksand"/>
                <a:cs typeface="Quicksand"/>
                <a:sym typeface="Quicksand"/>
              </a:rPr>
              <a:t>unidirectional</a:t>
            </a:r>
            <a:r>
              <a:rPr lang="en-US" sz="1800" b="0" i="0" u="none" strike="noStrike" cap="none">
                <a:solidFill>
                  <a:schemeClr val="dk1"/>
                </a:solidFill>
                <a:latin typeface="Quicksand"/>
                <a:ea typeface="Quicksand"/>
                <a:cs typeface="Quicksand"/>
                <a:sym typeface="Quicksand"/>
              </a:rPr>
              <a:t>. Why? </a:t>
            </a:r>
            <a:endParaRPr sz="1800" b="0" i="0" u="none" strike="noStrike" cap="none">
              <a:solidFill>
                <a:schemeClr val="dk1"/>
              </a:solidFill>
              <a:latin typeface="Quicksand"/>
              <a:ea typeface="Quicksand"/>
              <a:cs typeface="Quicksand"/>
              <a:sym typeface="Quicksand"/>
            </a:endParaRPr>
          </a:p>
        </p:txBody>
      </p:sp>
      <p:pic>
        <p:nvPicPr>
          <p:cNvPr id="103" name="Google Shape;103;p3" descr="image"/>
          <p:cNvPicPr preferRelativeResize="0"/>
          <p:nvPr/>
        </p:nvPicPr>
        <p:blipFill rotWithShape="1">
          <a:blip r:embed="rId3">
            <a:alphaModFix/>
          </a:blip>
          <a:srcRect/>
          <a:stretch/>
        </p:blipFill>
        <p:spPr>
          <a:xfrm>
            <a:off x="5879047" y="2639249"/>
            <a:ext cx="5544065" cy="22529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4"/>
          <p:cNvSpPr txBox="1"/>
          <p:nvPr/>
        </p:nvSpPr>
        <p:spPr>
          <a:xfrm>
            <a:off x="1252151" y="537511"/>
            <a:ext cx="9687698"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Encoder-Decoder with Transformers</a:t>
            </a:r>
            <a:endParaRPr sz="1400" b="0" i="0" u="none" strike="noStrike" cap="none" dirty="0">
              <a:solidFill>
                <a:srgbClr val="000000"/>
              </a:solidFill>
              <a:latin typeface="Arial"/>
              <a:ea typeface="Arial"/>
              <a:cs typeface="Arial"/>
              <a:sym typeface="Arial"/>
            </a:endParaRPr>
          </a:p>
        </p:txBody>
      </p:sp>
      <p:sp>
        <p:nvSpPr>
          <p:cNvPr id="109" name="Google Shape;109;p4"/>
          <p:cNvSpPr txBox="1"/>
          <p:nvPr/>
        </p:nvSpPr>
        <p:spPr>
          <a:xfrm>
            <a:off x="521752" y="1765436"/>
            <a:ext cx="6184287"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Replace RNNs with Transformers</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Transformers are an architecture that wraps MultiHeadAttention(). We have some residual connections inside and some LayerNormalization() operations, with a couple of Dense layers on the output. </a:t>
            </a:r>
            <a:endParaRPr sz="1400" b="0" i="0" u="none" strike="noStrike" cap="none">
              <a:solidFill>
                <a:srgbClr val="000000"/>
              </a:solidFill>
              <a:latin typeface="Arial"/>
              <a:ea typeface="Arial"/>
              <a:cs typeface="Arial"/>
              <a:sym typeface="Arial"/>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We also need to create a special masking layer to prevent the Transformer from looking ahead in the target sequence.</a:t>
            </a:r>
            <a:endParaRPr sz="1400" b="0" i="0" u="none" strike="noStrike" cap="none">
              <a:solidFill>
                <a:srgbClr val="000000"/>
              </a:solidFill>
              <a:latin typeface="Arial"/>
              <a:ea typeface="Arial"/>
              <a:cs typeface="Arial"/>
              <a:sym typeface="Arial"/>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Our decoder uses cross-attention. It compares the representation of the Spanish output seen thus far to the entire English sequence representation.  </a:t>
            </a:r>
            <a:endParaRPr sz="1800" b="0" i="0" u="none" strike="noStrike" cap="none">
              <a:solidFill>
                <a:schemeClr val="dk1"/>
              </a:solidFill>
              <a:latin typeface="Quicksand"/>
              <a:ea typeface="Quicksand"/>
              <a:cs typeface="Quicksand"/>
              <a:sym typeface="Quicksand"/>
            </a:endParaRPr>
          </a:p>
        </p:txBody>
      </p:sp>
      <p:pic>
        <p:nvPicPr>
          <p:cNvPr id="110" name="Google Shape;110;p4" descr="image"/>
          <p:cNvPicPr preferRelativeResize="0"/>
          <p:nvPr/>
        </p:nvPicPr>
        <p:blipFill rotWithShape="1">
          <a:blip r:embed="rId3">
            <a:alphaModFix/>
          </a:blip>
          <a:srcRect/>
          <a:stretch/>
        </p:blipFill>
        <p:spPr>
          <a:xfrm>
            <a:off x="7014959" y="2137718"/>
            <a:ext cx="4346369" cy="369467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5"/>
          <p:cNvSpPr txBox="1"/>
          <p:nvPr/>
        </p:nvSpPr>
        <p:spPr>
          <a:xfrm>
            <a:off x="1252151" y="537511"/>
            <a:ext cx="9687698"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Translation with Self- and Cross-Attention </a:t>
            </a:r>
            <a:endParaRPr sz="1400" b="0" i="0" u="none" strike="noStrike" cap="none">
              <a:solidFill>
                <a:srgbClr val="000000"/>
              </a:solidFill>
              <a:latin typeface="Arial"/>
              <a:ea typeface="Arial"/>
              <a:cs typeface="Arial"/>
              <a:sym typeface="Arial"/>
            </a:endParaRPr>
          </a:p>
        </p:txBody>
      </p:sp>
      <p:sp>
        <p:nvSpPr>
          <p:cNvPr id="116" name="Google Shape;116;p5"/>
          <p:cNvSpPr txBox="1"/>
          <p:nvPr/>
        </p:nvSpPr>
        <p:spPr>
          <a:xfrm>
            <a:off x="521752" y="1861301"/>
            <a:ext cx="7176507" cy="41857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1F1F1F"/>
                </a:solidFill>
                <a:latin typeface="Roboto"/>
                <a:ea typeface="Roboto"/>
                <a:cs typeface="Roboto"/>
                <a:sym typeface="Roboto"/>
              </a:rPr>
              <a:t>1. First, Self-Attention in Spanish Sequence (words output so far), </a:t>
            </a:r>
            <a:r>
              <a:rPr lang="en-US" sz="1400" b="0" i="0" u="none" strike="noStrike" cap="none">
                <a:solidFill>
                  <a:srgbClr val="1F1F1F"/>
                </a:solidFill>
                <a:latin typeface="Roboto"/>
                <a:ea typeface="Roboto"/>
                <a:cs typeface="Roboto"/>
                <a:sym typeface="Roboto"/>
              </a:rPr>
              <a:t>i.e., with masking. </a:t>
            </a:r>
            <a:br>
              <a:rPr lang="en-US" sz="1400" b="0" i="0" u="none" strike="noStrike" cap="none">
                <a:solidFill>
                  <a:srgbClr val="1F1F1F"/>
                </a:solidFill>
                <a:latin typeface="Roboto"/>
                <a:ea typeface="Roboto"/>
                <a:cs typeface="Roboto"/>
                <a:sym typeface="Roboto"/>
              </a:rPr>
            </a:br>
            <a:endParaRPr sz="1400" b="0" i="0" u="none" strike="noStrike" cap="none">
              <a:solidFill>
                <a:srgbClr val="1F1F1F"/>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1F1F1F"/>
                </a:solidFill>
                <a:latin typeface="Roboto"/>
                <a:ea typeface="Roboto"/>
                <a:cs typeface="Roboto"/>
                <a:sym typeface="Roboto"/>
              </a:rPr>
              <a:t>2. Second, Self-Attention in English Sequence (entire sequence).</a:t>
            </a:r>
            <a:r>
              <a:rPr lang="en-US" sz="1400" b="0" i="0" u="none" strike="noStrike" cap="none">
                <a:solidFill>
                  <a:srgbClr val="1F1F1F"/>
                </a:solidFill>
                <a:latin typeface="Roboto"/>
                <a:ea typeface="Roboto"/>
                <a:cs typeface="Roboto"/>
                <a:sym typeface="Roboto"/>
              </a:rPr>
              <a:t> </a:t>
            </a:r>
            <a:br>
              <a:rPr lang="en-US" sz="1400" b="0" i="0" u="none" strike="noStrike" cap="none">
                <a:solidFill>
                  <a:srgbClr val="1F1F1F"/>
                </a:solidFill>
                <a:latin typeface="Roboto"/>
                <a:ea typeface="Roboto"/>
                <a:cs typeface="Roboto"/>
                <a:sym typeface="Roboto"/>
              </a:rPr>
            </a:br>
            <a:endParaRPr sz="1400" b="0" i="0" u="none" strike="noStrike" cap="none">
              <a:solidFill>
                <a:srgbClr val="1F1F1F"/>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1F1F1F"/>
                </a:solidFill>
                <a:latin typeface="Roboto"/>
                <a:ea typeface="Roboto"/>
                <a:cs typeface="Roboto"/>
                <a:sym typeface="Roboto"/>
              </a:rPr>
              <a:t>3. Finally, Cross-Attention Comparison.</a:t>
            </a:r>
            <a:r>
              <a:rPr lang="en-US" sz="1400" b="0" i="0" u="none" strike="noStrike" cap="none">
                <a:solidFill>
                  <a:srgbClr val="1F1F1F"/>
                </a:solidFill>
                <a:latin typeface="Roboto"/>
                <a:ea typeface="Roboto"/>
                <a:cs typeface="Roboto"/>
                <a:sym typeface="Roboto"/>
              </a:rPr>
              <a:t> </a:t>
            </a:r>
            <a:endParaRPr sz="1400" b="0" i="0" u="none" strike="noStrike" cap="none">
              <a:solidFill>
                <a:srgbClr val="1F1F1F"/>
              </a:solidFill>
              <a:latin typeface="Roboto"/>
              <a:ea typeface="Roboto"/>
              <a:cs typeface="Roboto"/>
              <a:sym typeface="Roboto"/>
            </a:endParaRPr>
          </a:p>
          <a:p>
            <a:pPr marL="0" marR="0" lvl="2" indent="0" algn="l" rtl="0">
              <a:lnSpc>
                <a:spcPct val="100000"/>
              </a:lnSpc>
              <a:spcBef>
                <a:spcPts val="0"/>
              </a:spcBef>
              <a:spcAft>
                <a:spcPts val="0"/>
              </a:spcAft>
              <a:buClr>
                <a:srgbClr val="000000"/>
              </a:buClr>
              <a:buSzPts val="1400"/>
              <a:buFont typeface="Arial"/>
              <a:buNone/>
            </a:pPr>
            <a:endParaRPr sz="1400" b="1" i="0" u="none" strike="noStrike" cap="none">
              <a:solidFill>
                <a:srgbClr val="1F1F1F"/>
              </a:solidFill>
              <a:latin typeface="Roboto"/>
              <a:ea typeface="Roboto"/>
              <a:cs typeface="Roboto"/>
              <a:sym typeface="Roboto"/>
            </a:endParaRPr>
          </a:p>
          <a:p>
            <a:pPr marL="342900" marR="0" lvl="4" indent="-342900" algn="l" rtl="0">
              <a:lnSpc>
                <a:spcPct val="100000"/>
              </a:lnSpc>
              <a:spcBef>
                <a:spcPts val="0"/>
              </a:spcBef>
              <a:spcAft>
                <a:spcPts val="0"/>
              </a:spcAft>
              <a:buClr>
                <a:srgbClr val="000000"/>
              </a:buClr>
              <a:buSzPts val="1400"/>
              <a:buFont typeface="Arial"/>
              <a:buAutoNum type="alphaLcPeriod"/>
            </a:pPr>
            <a:r>
              <a:rPr lang="en-US" sz="1400" b="1" i="0" u="none" strike="noStrike" cap="none">
                <a:solidFill>
                  <a:srgbClr val="1F1F1F"/>
                </a:solidFill>
                <a:latin typeface="Roboto"/>
                <a:ea typeface="Roboto"/>
                <a:cs typeface="Roboto"/>
                <a:sym typeface="Roboto"/>
              </a:rPr>
              <a:t>Query:</a:t>
            </a:r>
            <a:r>
              <a:rPr lang="en-US" sz="1400" b="0" i="0" u="none" strike="noStrike" cap="none">
                <a:solidFill>
                  <a:srgbClr val="1F1F1F"/>
                </a:solidFill>
                <a:latin typeface="Roboto"/>
                <a:ea typeface="Roboto"/>
                <a:cs typeface="Roboto"/>
                <a:sym typeface="Roboto"/>
              </a:rPr>
              <a:t> The attended representation of the Spanish sequence (generated so far) acts as the query. "Given what I've generated in Spanish already, what information from the English sentence is most relevant to predicting the next word?”</a:t>
            </a:r>
            <a:br>
              <a:rPr lang="en-US" sz="1400" b="0" i="0" u="none" strike="noStrike" cap="none">
                <a:solidFill>
                  <a:srgbClr val="1F1F1F"/>
                </a:solidFill>
                <a:latin typeface="Roboto"/>
                <a:ea typeface="Roboto"/>
                <a:cs typeface="Roboto"/>
                <a:sym typeface="Roboto"/>
              </a:rPr>
            </a:br>
            <a:endParaRPr sz="1400" b="0" i="0" u="none" strike="noStrike" cap="none">
              <a:solidFill>
                <a:srgbClr val="1F1F1F"/>
              </a:solidFill>
              <a:latin typeface="Roboto"/>
              <a:ea typeface="Roboto"/>
              <a:cs typeface="Roboto"/>
              <a:sym typeface="Roboto"/>
            </a:endParaRPr>
          </a:p>
          <a:p>
            <a:pPr marL="342900" marR="0" lvl="4" indent="-342900" algn="l" rtl="0">
              <a:lnSpc>
                <a:spcPct val="100000"/>
              </a:lnSpc>
              <a:spcBef>
                <a:spcPts val="0"/>
              </a:spcBef>
              <a:spcAft>
                <a:spcPts val="0"/>
              </a:spcAft>
              <a:buClr>
                <a:srgbClr val="000000"/>
              </a:buClr>
              <a:buSzPts val="1400"/>
              <a:buFont typeface="Arial"/>
              <a:buAutoNum type="alphaLcPeriod"/>
            </a:pPr>
            <a:r>
              <a:rPr lang="en-US" sz="1400" b="1" i="0" u="none" strike="noStrike" cap="none">
                <a:solidFill>
                  <a:srgbClr val="1F1F1F"/>
                </a:solidFill>
                <a:latin typeface="Roboto"/>
                <a:ea typeface="Roboto"/>
                <a:cs typeface="Roboto"/>
                <a:sym typeface="Roboto"/>
              </a:rPr>
              <a:t>Key and Value:</a:t>
            </a:r>
            <a:r>
              <a:rPr lang="en-US" sz="1400" b="0" i="0" u="none" strike="noStrike" cap="none">
                <a:solidFill>
                  <a:srgbClr val="1F1F1F"/>
                </a:solidFill>
                <a:latin typeface="Roboto"/>
                <a:ea typeface="Roboto"/>
                <a:cs typeface="Roboto"/>
                <a:sym typeface="Roboto"/>
              </a:rPr>
              <a:t> The attended representation of the entire English sentence acts as both the "key" and "value." The "key" is used to compute attention weights (how much each English word should be attended to), and the "value" is the information that gets weighted and incorporated into the Spanish sequence.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1F1F1F"/>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1F1F1F"/>
                </a:solidFill>
                <a:latin typeface="Roboto"/>
                <a:ea typeface="Roboto"/>
                <a:cs typeface="Roboto"/>
                <a:sym typeface="Roboto"/>
              </a:rPr>
              <a:t>4. Apply the Attention Weights to English Representation:</a:t>
            </a:r>
            <a:r>
              <a:rPr lang="en-US" sz="1400" b="0" i="0" u="none" strike="noStrike" cap="none">
                <a:solidFill>
                  <a:srgbClr val="1F1F1F"/>
                </a:solidFill>
                <a:latin typeface="Roboto"/>
                <a:ea typeface="Roboto"/>
                <a:cs typeface="Roboto"/>
                <a:sym typeface="Roboto"/>
              </a:rPr>
              <a:t> The attention weights from comparing the query (Spanish) and key (English) are applied to the value (English). This results in a context vector representing the most relevant information from the English sentence for predicting the next Spanish word.</a:t>
            </a:r>
            <a:endParaRPr sz="1400" b="0" i="0" u="none" strike="noStrike" cap="none">
              <a:solidFill>
                <a:srgbClr val="000000"/>
              </a:solidFill>
              <a:latin typeface="Arial"/>
              <a:ea typeface="Arial"/>
              <a:cs typeface="Arial"/>
              <a:sym typeface="Arial"/>
            </a:endParaRPr>
          </a:p>
        </p:txBody>
      </p:sp>
      <p:pic>
        <p:nvPicPr>
          <p:cNvPr id="117" name="Google Shape;117;p5" descr="image"/>
          <p:cNvPicPr preferRelativeResize="0"/>
          <p:nvPr/>
        </p:nvPicPr>
        <p:blipFill rotWithShape="1">
          <a:blip r:embed="rId3">
            <a:alphaModFix/>
          </a:blip>
          <a:srcRect/>
          <a:stretch/>
        </p:blipFill>
        <p:spPr>
          <a:xfrm>
            <a:off x="8123376" y="2446637"/>
            <a:ext cx="3546872" cy="3015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6"/>
          <p:cNvSpPr txBox="1"/>
          <p:nvPr/>
        </p:nvSpPr>
        <p:spPr>
          <a:xfrm>
            <a:off x="1252151" y="537511"/>
            <a:ext cx="9687698"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Multi-Head Attention in Other Text Tasks</a:t>
            </a:r>
            <a:endParaRPr sz="1400" b="0" i="0" u="none" strike="noStrike" cap="none">
              <a:solidFill>
                <a:srgbClr val="000000"/>
              </a:solidFill>
              <a:latin typeface="Arial"/>
              <a:ea typeface="Arial"/>
              <a:cs typeface="Arial"/>
              <a:sym typeface="Arial"/>
            </a:endParaRPr>
          </a:p>
        </p:txBody>
      </p:sp>
      <p:sp>
        <p:nvSpPr>
          <p:cNvPr id="123" name="Google Shape;123;p6"/>
          <p:cNvSpPr txBox="1"/>
          <p:nvPr/>
        </p:nvSpPr>
        <p:spPr>
          <a:xfrm>
            <a:off x="768888" y="1791969"/>
            <a:ext cx="6326393"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BERT Embeddings</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Quicksand"/>
                <a:ea typeface="Quicksand"/>
                <a:cs typeface="Quicksand"/>
                <a:sym typeface="Quicksand"/>
              </a:rPr>
              <a:t>B</a:t>
            </a:r>
            <a:r>
              <a:rPr lang="en-US" sz="1800" b="0" i="0" u="none" strike="noStrike" cap="none">
                <a:solidFill>
                  <a:schemeClr val="dk1"/>
                </a:solidFill>
                <a:latin typeface="Quicksand"/>
                <a:ea typeface="Quicksand"/>
                <a:cs typeface="Quicksand"/>
                <a:sym typeface="Quicksand"/>
              </a:rPr>
              <a:t>idirectional </a:t>
            </a:r>
            <a:r>
              <a:rPr lang="en-US" sz="1800" b="1" i="0" u="none" strike="noStrike" cap="none">
                <a:solidFill>
                  <a:schemeClr val="dk1"/>
                </a:solidFill>
                <a:latin typeface="Quicksand"/>
                <a:ea typeface="Quicksand"/>
                <a:cs typeface="Quicksand"/>
                <a:sym typeface="Quicksand"/>
              </a:rPr>
              <a:t>E</a:t>
            </a:r>
            <a:r>
              <a:rPr lang="en-US" sz="1800" b="0" i="0" u="none" strike="noStrike" cap="none">
                <a:solidFill>
                  <a:schemeClr val="dk1"/>
                </a:solidFill>
                <a:latin typeface="Quicksand"/>
                <a:ea typeface="Quicksand"/>
                <a:cs typeface="Quicksand"/>
                <a:sym typeface="Quicksand"/>
              </a:rPr>
              <a:t>ncoder </a:t>
            </a:r>
            <a:r>
              <a:rPr lang="en-US" sz="1800" b="1" i="0" u="none" strike="noStrike" cap="none">
                <a:solidFill>
                  <a:schemeClr val="dk1"/>
                </a:solidFill>
                <a:latin typeface="Quicksand"/>
                <a:ea typeface="Quicksand"/>
                <a:cs typeface="Quicksand"/>
                <a:sym typeface="Quicksand"/>
              </a:rPr>
              <a:t>R</a:t>
            </a:r>
            <a:r>
              <a:rPr lang="en-US" sz="1800" b="0" i="0" u="none" strike="noStrike" cap="none">
                <a:solidFill>
                  <a:schemeClr val="dk1"/>
                </a:solidFill>
                <a:latin typeface="Quicksand"/>
                <a:ea typeface="Quicksand"/>
                <a:cs typeface="Quicksand"/>
                <a:sym typeface="Quicksand"/>
              </a:rPr>
              <a:t>epresentations from </a:t>
            </a:r>
            <a:r>
              <a:rPr lang="en-US" sz="1800" b="1" i="0" u="none" strike="noStrike" cap="none">
                <a:solidFill>
                  <a:schemeClr val="dk1"/>
                </a:solidFill>
                <a:latin typeface="Quicksand"/>
                <a:ea typeface="Quicksand"/>
                <a:cs typeface="Quicksand"/>
                <a:sym typeface="Quicksand"/>
              </a:rPr>
              <a:t>T</a:t>
            </a:r>
            <a:r>
              <a:rPr lang="en-US" sz="1800" b="0" i="0" u="none" strike="noStrike" cap="none">
                <a:solidFill>
                  <a:schemeClr val="dk1"/>
                </a:solidFill>
                <a:latin typeface="Quicksand"/>
                <a:ea typeface="Quicksand"/>
                <a:cs typeface="Quicksand"/>
                <a:sym typeface="Quicksand"/>
              </a:rPr>
              <a:t>ransformers. </a:t>
            </a:r>
            <a:endParaRPr sz="1400" b="0" i="0" u="none" strike="noStrike" cap="none">
              <a:solidFill>
                <a:srgbClr val="000000"/>
              </a:solidFill>
              <a:latin typeface="Arial"/>
              <a:ea typeface="Arial"/>
              <a:cs typeface="Arial"/>
              <a:sym typeface="Arial"/>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Employs a similar (self-supervised learning) technique as Word2Vec. Mask 15% of words at random in any given sequence and then try to predict those using the words that are not masked. </a:t>
            </a:r>
            <a:endParaRPr sz="1400" b="0" i="0" u="none" strike="noStrike" cap="none">
              <a:solidFill>
                <a:srgbClr val="000000"/>
              </a:solidFill>
              <a:latin typeface="Arial"/>
              <a:ea typeface="Arial"/>
              <a:cs typeface="Arial"/>
              <a:sym typeface="Arial"/>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Word2vec is nice but yields static (generic) embeddings for a given word. BERT learns context-dependent representations. This can dramatically improve the predictive performance of, say, a text classifier. </a:t>
            </a:r>
            <a:endParaRPr sz="1800" b="0" i="0" u="none" strike="noStrike" cap="none">
              <a:solidFill>
                <a:schemeClr val="dk1"/>
              </a:solidFill>
              <a:latin typeface="Quicksand"/>
              <a:ea typeface="Quicksand"/>
              <a:cs typeface="Quicksand"/>
              <a:sym typeface="Quicksand"/>
            </a:endParaRPr>
          </a:p>
        </p:txBody>
      </p:sp>
      <p:pic>
        <p:nvPicPr>
          <p:cNvPr id="124" name="Google Shape;124;p6" descr="Bert | Muppet Wiki | Fandom"/>
          <p:cNvPicPr preferRelativeResize="0"/>
          <p:nvPr/>
        </p:nvPicPr>
        <p:blipFill rotWithShape="1">
          <a:blip r:embed="rId3">
            <a:alphaModFix/>
          </a:blip>
          <a:srcRect/>
          <a:stretch/>
        </p:blipFill>
        <p:spPr>
          <a:xfrm>
            <a:off x="8229600" y="2187614"/>
            <a:ext cx="2254019" cy="375090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7"/>
          <p:cNvSpPr txBox="1"/>
          <p:nvPr/>
        </p:nvSpPr>
        <p:spPr>
          <a:xfrm>
            <a:off x="1252151" y="537511"/>
            <a:ext cx="9687698"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Common Use Case: Sentence Embeddings</a:t>
            </a:r>
            <a:endParaRPr sz="1400" b="0" i="0" u="none" strike="noStrike" cap="none">
              <a:solidFill>
                <a:srgbClr val="000000"/>
              </a:solidFill>
              <a:latin typeface="Arial"/>
              <a:ea typeface="Arial"/>
              <a:cs typeface="Arial"/>
              <a:sym typeface="Arial"/>
            </a:endParaRPr>
          </a:p>
        </p:txBody>
      </p:sp>
      <p:sp>
        <p:nvSpPr>
          <p:cNvPr id="130" name="Google Shape;130;p7"/>
          <p:cNvSpPr txBox="1"/>
          <p:nvPr/>
        </p:nvSpPr>
        <p:spPr>
          <a:xfrm>
            <a:off x="768888" y="1791969"/>
            <a:ext cx="10933117" cy="37240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Mean Pooling of Contextual Word Embeddings</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For a given sentence, you can extract the contextual word embeddings from *after* the MultiHeadAttention layers and then average them. </a:t>
            </a:r>
            <a:endParaRPr sz="1400" b="0" i="0" u="none" strike="noStrike" cap="none">
              <a:solidFill>
                <a:srgbClr val="000000"/>
              </a:solidFill>
              <a:latin typeface="Arial"/>
              <a:ea typeface="Arial"/>
              <a:cs typeface="Arial"/>
              <a:sym typeface="Arial"/>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Quicksand"/>
                <a:ea typeface="Quicksand"/>
                <a:cs typeface="Quicksand"/>
                <a:sym typeface="Quicksand"/>
              </a:rPr>
              <a:t>Pre-Trained BERT Classifier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Or load a pre-trained BERT model’s transformer and embedding layers (backbone / base layers) to pre-process your text and obtain contextual embeddings for a given prediction task.</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Or, load the embedding and attention layers, freeze them, and add your Dense layers on top like we did with pre-trained vision models.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Quicksand"/>
              <a:ea typeface="Quicksand"/>
              <a:cs typeface="Quicksand"/>
              <a:sym typeface="Quicksand"/>
            </a:endParaRPr>
          </a:p>
        </p:txBody>
      </p:sp>
      <p:pic>
        <p:nvPicPr>
          <p:cNvPr id="131" name="Google Shape;131;p7"/>
          <p:cNvPicPr preferRelativeResize="0"/>
          <p:nvPr/>
        </p:nvPicPr>
        <p:blipFill rotWithShape="1">
          <a:blip r:embed="rId3">
            <a:alphaModFix/>
          </a:blip>
          <a:srcRect/>
          <a:stretch/>
        </p:blipFill>
        <p:spPr>
          <a:xfrm>
            <a:off x="2641600" y="5516025"/>
            <a:ext cx="6908800" cy="914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8"/>
          <p:cNvSpPr txBox="1"/>
          <p:nvPr/>
        </p:nvSpPr>
        <p:spPr>
          <a:xfrm>
            <a:off x="698890" y="603331"/>
            <a:ext cx="10794220"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Multi-Head Attention for Audio Representations</a:t>
            </a:r>
            <a:endParaRPr sz="1400" b="0" i="0" u="none" strike="noStrike" cap="none">
              <a:solidFill>
                <a:srgbClr val="000000"/>
              </a:solidFill>
              <a:latin typeface="Arial"/>
              <a:ea typeface="Arial"/>
              <a:cs typeface="Arial"/>
              <a:sym typeface="Arial"/>
            </a:endParaRPr>
          </a:p>
        </p:txBody>
      </p:sp>
      <p:sp>
        <p:nvSpPr>
          <p:cNvPr id="137" name="Google Shape;137;p8"/>
          <p:cNvSpPr txBox="1"/>
          <p:nvPr/>
        </p:nvSpPr>
        <p:spPr>
          <a:xfrm>
            <a:off x="768889" y="1791969"/>
            <a:ext cx="6337968"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Wav2Vec for Audio Understanding</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Wav2vec implements a self-supervised learning architecture with random masking of sequence input for audio. </a:t>
            </a:r>
            <a:endParaRPr sz="1400" b="0" i="0" u="none" strike="noStrike" cap="none">
              <a:solidFill>
                <a:srgbClr val="000000"/>
              </a:solidFill>
              <a:latin typeface="Arial"/>
              <a:ea typeface="Arial"/>
              <a:cs typeface="Arial"/>
              <a:sym typeface="Arial"/>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The model first obtains 1D convolutional feature maps per chunk/segment of raw audio signal (spoken words), yielding sequences of feature maps.</a:t>
            </a:r>
            <a:endParaRPr sz="1400" b="0" i="0" u="none" strike="noStrike" cap="none">
              <a:solidFill>
                <a:srgbClr val="000000"/>
              </a:solidFill>
              <a:latin typeface="Arial"/>
              <a:ea typeface="Arial"/>
              <a:cs typeface="Arial"/>
              <a:sym typeface="Arial"/>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 random subsample of feature maps is masked, and the model tries to predict them from the feature maps that remain visible. This model then yields audio embeddings highly representative of spoken semantic content in audio. </a:t>
            </a:r>
            <a:endParaRPr sz="1400" b="0" i="0" u="none" strike="noStrike" cap="none">
              <a:solidFill>
                <a:srgbClr val="000000"/>
              </a:solidFill>
              <a:latin typeface="Arial"/>
              <a:ea typeface="Arial"/>
              <a:cs typeface="Arial"/>
              <a:sym typeface="Arial"/>
            </a:endParaRPr>
          </a:p>
        </p:txBody>
      </p:sp>
      <p:pic>
        <p:nvPicPr>
          <p:cNvPr id="138" name="Google Shape;138;p8"/>
          <p:cNvPicPr preferRelativeResize="0"/>
          <p:nvPr/>
        </p:nvPicPr>
        <p:blipFill rotWithShape="1">
          <a:blip r:embed="rId3">
            <a:alphaModFix/>
          </a:blip>
          <a:srcRect/>
          <a:stretch/>
        </p:blipFill>
        <p:spPr>
          <a:xfrm>
            <a:off x="7222602" y="2595332"/>
            <a:ext cx="4565409" cy="239432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p:nvPr/>
        </p:nvSpPr>
        <p:spPr>
          <a:xfrm>
            <a:off x="698890" y="603331"/>
            <a:ext cx="10794220"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‘Physics’ Representations from Video</a:t>
            </a:r>
            <a:endParaRPr sz="1400" b="0" i="0" u="none" strike="noStrike" cap="none">
              <a:solidFill>
                <a:srgbClr val="000000"/>
              </a:solidFill>
              <a:latin typeface="Arial"/>
              <a:ea typeface="Arial"/>
              <a:cs typeface="Arial"/>
              <a:sym typeface="Arial"/>
            </a:endParaRPr>
          </a:p>
        </p:txBody>
      </p:sp>
      <p:pic>
        <p:nvPicPr>
          <p:cNvPr id="144" name="Google Shape;144;p9"/>
          <p:cNvPicPr preferRelativeResize="0"/>
          <p:nvPr/>
        </p:nvPicPr>
        <p:blipFill rotWithShape="1">
          <a:blip r:embed="rId3">
            <a:alphaModFix/>
          </a:blip>
          <a:srcRect/>
          <a:stretch/>
        </p:blipFill>
        <p:spPr>
          <a:xfrm>
            <a:off x="1406027" y="1795618"/>
            <a:ext cx="9379945" cy="410196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p:nvPr/>
        </p:nvSpPr>
        <p:spPr>
          <a:xfrm>
            <a:off x="2615237" y="586938"/>
            <a:ext cx="6961525"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err="1">
                <a:solidFill>
                  <a:schemeClr val="dk1"/>
                </a:solidFill>
                <a:latin typeface="Economica"/>
                <a:ea typeface="Economica"/>
                <a:cs typeface="Economica"/>
                <a:sym typeface="Economica"/>
              </a:rPr>
              <a:t>CharRNN</a:t>
            </a:r>
            <a:r>
              <a:rPr lang="en-US" sz="5400" b="0" i="0" u="none" strike="noStrike" cap="none" dirty="0">
                <a:solidFill>
                  <a:schemeClr val="dk1"/>
                </a:solidFill>
                <a:latin typeface="Economica"/>
                <a:ea typeface="Economica"/>
                <a:cs typeface="Economica"/>
                <a:sym typeface="Economica"/>
              </a:rPr>
              <a:t>: Decoder-Only</a:t>
            </a:r>
            <a:endParaRPr sz="1400" b="0" i="0" u="none" strike="noStrike" cap="none" dirty="0">
              <a:solidFill>
                <a:srgbClr val="000000"/>
              </a:solidFill>
              <a:latin typeface="Arial"/>
              <a:ea typeface="Arial"/>
              <a:cs typeface="Arial"/>
              <a:sym typeface="Arial"/>
            </a:endParaRPr>
          </a:p>
        </p:txBody>
      </p:sp>
      <p:sp>
        <p:nvSpPr>
          <p:cNvPr id="150" name="Google Shape;150;p10"/>
          <p:cNvSpPr txBox="1"/>
          <p:nvPr/>
        </p:nvSpPr>
        <p:spPr>
          <a:xfrm>
            <a:off x="890336" y="1940249"/>
            <a:ext cx="10490088" cy="20620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Training a Generative Language Model</a:t>
            </a: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We train a model to predict the next token at every position in a sequence of observed input tokens.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We will not use this exact model for inference; we will modify it slightly and add a feedback loop to make auto-regression possible.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Quicksand"/>
              <a:ea typeface="Quicksand"/>
              <a:cs typeface="Quicksand"/>
              <a:sym typeface="Quicksand"/>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51" name="Google Shape;151;p10"/>
          <p:cNvPicPr preferRelativeResize="0"/>
          <p:nvPr/>
        </p:nvPicPr>
        <p:blipFill rotWithShape="1">
          <a:blip r:embed="rId3">
            <a:alphaModFix/>
          </a:blip>
          <a:srcRect/>
          <a:stretch/>
        </p:blipFill>
        <p:spPr>
          <a:xfrm>
            <a:off x="3004732" y="3941565"/>
            <a:ext cx="6261295" cy="232949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p:nvPr/>
        </p:nvSpPr>
        <p:spPr>
          <a:xfrm>
            <a:off x="609600" y="424892"/>
            <a:ext cx="10972800"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5400" b="0" i="0" u="none" strike="noStrike" cap="none">
                <a:solidFill>
                  <a:srgbClr val="000000"/>
                </a:solidFill>
                <a:latin typeface="Economica"/>
                <a:ea typeface="Economica"/>
                <a:cs typeface="Economica"/>
                <a:sym typeface="Economica"/>
              </a:rPr>
              <a:t>In Training: Loss at Each Sequence Position</a:t>
            </a:r>
            <a:endParaRPr sz="5400" b="0" i="0" u="none" strike="noStrike" cap="none">
              <a:solidFill>
                <a:srgbClr val="000000"/>
              </a:solidFill>
              <a:latin typeface="Economica"/>
              <a:ea typeface="Economica"/>
              <a:cs typeface="Economica"/>
              <a:sym typeface="Economica"/>
            </a:endParaRPr>
          </a:p>
        </p:txBody>
      </p:sp>
      <p:sp>
        <p:nvSpPr>
          <p:cNvPr id="158" name="Google Shape;158;p11"/>
          <p:cNvSpPr txBox="1"/>
          <p:nvPr/>
        </p:nvSpPr>
        <p:spPr>
          <a:xfrm>
            <a:off x="609600" y="1675364"/>
            <a:ext cx="10972800" cy="468333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Quicksand"/>
                <a:ea typeface="Quicksand"/>
                <a:cs typeface="Quicksand"/>
                <a:sym typeface="Quicksand"/>
              </a:rPr>
              <a:t>Training: Predict All Positions in Parallel</a:t>
            </a:r>
            <a:endParaRPr/>
          </a:p>
          <a:p>
            <a:pPr marL="0" marR="0" lvl="0" indent="0" algn="l" rtl="0">
              <a:lnSpc>
                <a:spcPct val="100000"/>
              </a:lnSpc>
              <a:spcBef>
                <a:spcPts val="600"/>
              </a:spcBef>
              <a:spcAft>
                <a:spcPts val="0"/>
              </a:spcAft>
              <a:buNone/>
            </a:pPr>
            <a:r>
              <a:rPr lang="en-US" sz="1600" b="0" i="0" u="none" strike="noStrike" cap="none">
                <a:solidFill>
                  <a:srgbClr val="000000"/>
                </a:solidFill>
                <a:latin typeface="Quicksand"/>
                <a:ea typeface="Quicksand"/>
                <a:cs typeface="Quicksand"/>
                <a:sym typeface="Quicksand"/>
              </a:rPr>
              <a:t>During training, we already know the full sequence. So, we compute loss at every position simultaneously. This is purely an efficiency trick — it does not mean the model "sees the future." Our model predicts one prediction per token in the sequence, in parallel.  </a:t>
            </a:r>
            <a:endParaRPr sz="1600" b="0" i="0" u="none" strike="noStrike" cap="none">
              <a:solidFill>
                <a:srgbClr val="000000"/>
              </a:solidFill>
              <a:latin typeface="Quicksand"/>
              <a:ea typeface="Quicksand"/>
              <a:cs typeface="Quicksand"/>
              <a:sym typeface="Quicksand"/>
            </a:endParaRPr>
          </a:p>
          <a:p>
            <a:pPr marL="0" marR="0" lvl="4" indent="0" algn="l" rtl="0">
              <a:lnSpc>
                <a:spcPct val="100000"/>
              </a:lnSpc>
              <a:spcBef>
                <a:spcPts val="1200"/>
              </a:spcBef>
              <a:spcAft>
                <a:spcPts val="0"/>
              </a:spcAft>
              <a:buNone/>
            </a:pPr>
            <a:r>
              <a:rPr lang="en-US" sz="1600" b="1" i="0" u="none" strike="noStrike" cap="none">
                <a:solidFill>
                  <a:srgbClr val="000000"/>
                </a:solidFill>
                <a:latin typeface="Quicksand"/>
                <a:ea typeface="Quicksand"/>
                <a:cs typeface="Quicksand"/>
                <a:sym typeface="Quicksand"/>
              </a:rPr>
              <a:t>Example (character-level):</a:t>
            </a:r>
            <a:endParaRPr/>
          </a:p>
          <a:p>
            <a:pPr marL="0" marR="0" lvl="4" indent="0" algn="l" rtl="0">
              <a:lnSpc>
                <a:spcPct val="100000"/>
              </a:lnSpc>
              <a:spcBef>
                <a:spcPts val="200"/>
              </a:spcBef>
              <a:spcAft>
                <a:spcPts val="0"/>
              </a:spcAft>
              <a:buNone/>
            </a:pPr>
            <a:r>
              <a:rPr lang="en-US" sz="1300" b="0" i="0" u="none" strike="noStrike" cap="none">
                <a:solidFill>
                  <a:srgbClr val="000000"/>
                </a:solidFill>
                <a:latin typeface="Consolas"/>
                <a:ea typeface="Consolas"/>
                <a:cs typeface="Consolas"/>
                <a:sym typeface="Consolas"/>
              </a:rPr>
              <a:t>Position 0:  model sees [S]              → predicts 'h'</a:t>
            </a:r>
            <a:endParaRPr/>
          </a:p>
          <a:p>
            <a:pPr marL="0" marR="0" lvl="4" indent="0" algn="l" rtl="0">
              <a:lnSpc>
                <a:spcPct val="100000"/>
              </a:lnSpc>
              <a:spcBef>
                <a:spcPts val="200"/>
              </a:spcBef>
              <a:spcAft>
                <a:spcPts val="0"/>
              </a:spcAft>
              <a:buNone/>
            </a:pPr>
            <a:r>
              <a:rPr lang="en-US" sz="1300" b="0" i="0" u="none" strike="noStrike" cap="none">
                <a:solidFill>
                  <a:srgbClr val="000000"/>
                </a:solidFill>
                <a:latin typeface="Consolas"/>
                <a:ea typeface="Consolas"/>
                <a:cs typeface="Consolas"/>
                <a:sym typeface="Consolas"/>
              </a:rPr>
              <a:t>Position 1:  model sees [S, h]           → predicts 'a'</a:t>
            </a:r>
            <a:endParaRPr/>
          </a:p>
          <a:p>
            <a:pPr marL="0" marR="0" lvl="4" indent="0" algn="l" rtl="0">
              <a:lnSpc>
                <a:spcPct val="100000"/>
              </a:lnSpc>
              <a:spcBef>
                <a:spcPts val="200"/>
              </a:spcBef>
              <a:spcAft>
                <a:spcPts val="0"/>
              </a:spcAft>
              <a:buNone/>
            </a:pPr>
            <a:r>
              <a:rPr lang="en-US" sz="1300" b="0" i="0" u="none" strike="noStrike" cap="none">
                <a:solidFill>
                  <a:srgbClr val="000000"/>
                </a:solidFill>
                <a:latin typeface="Consolas"/>
                <a:ea typeface="Consolas"/>
                <a:cs typeface="Consolas"/>
                <a:sym typeface="Consolas"/>
              </a:rPr>
              <a:t>Position 2:  model sees [S, h, a]        → predicts 'k'</a:t>
            </a:r>
            <a:endParaRPr/>
          </a:p>
          <a:p>
            <a:pPr marL="0" marR="0" lvl="4" indent="0" algn="l" rtl="0">
              <a:lnSpc>
                <a:spcPct val="100000"/>
              </a:lnSpc>
              <a:spcBef>
                <a:spcPts val="200"/>
              </a:spcBef>
              <a:spcAft>
                <a:spcPts val="0"/>
              </a:spcAft>
              <a:buNone/>
            </a:pPr>
            <a:r>
              <a:rPr lang="en-US" sz="1300" b="0" i="0" u="none" strike="noStrike" cap="none">
                <a:solidFill>
                  <a:srgbClr val="000000"/>
                </a:solidFill>
                <a:latin typeface="Consolas"/>
                <a:ea typeface="Consolas"/>
                <a:cs typeface="Consolas"/>
                <a:sym typeface="Consolas"/>
              </a:rPr>
              <a:t>Position 3:  model sees [S, h, a, k]     → predicts 'e'</a:t>
            </a:r>
            <a:endParaRPr/>
          </a:p>
          <a:p>
            <a:pPr marL="0" marR="0" lvl="4" indent="0" algn="l" rtl="0">
              <a:lnSpc>
                <a:spcPct val="100000"/>
              </a:lnSpc>
              <a:spcBef>
                <a:spcPts val="200"/>
              </a:spcBef>
              <a:spcAft>
                <a:spcPts val="0"/>
              </a:spcAft>
              <a:buNone/>
            </a:pPr>
            <a:r>
              <a:rPr lang="en-US" sz="1300" b="0" i="0" u="none" strike="noStrike" cap="none">
                <a:solidFill>
                  <a:srgbClr val="000000"/>
                </a:solidFill>
                <a:latin typeface="Consolas"/>
                <a:ea typeface="Consolas"/>
                <a:cs typeface="Consolas"/>
                <a:sym typeface="Consolas"/>
              </a:rPr>
              <a:t>Position 4:  model sees [S, h, a, k, e]  → predicts 's'</a:t>
            </a:r>
            <a:endParaRPr/>
          </a:p>
          <a:p>
            <a:pPr marL="0" marR="0" lvl="4" indent="0" algn="l" rtl="0">
              <a:lnSpc>
                <a:spcPct val="100000"/>
              </a:lnSpc>
              <a:spcBef>
                <a:spcPts val="600"/>
              </a:spcBef>
              <a:spcAft>
                <a:spcPts val="0"/>
              </a:spcAft>
              <a:buNone/>
            </a:pPr>
            <a:r>
              <a:rPr lang="en-US" sz="1600" b="0" i="0" u="none" strike="noStrike" cap="none">
                <a:solidFill>
                  <a:srgbClr val="000000"/>
                </a:solidFill>
                <a:latin typeface="Quicksand"/>
                <a:ea typeface="Quicksand"/>
                <a:cs typeface="Quicksand"/>
                <a:sym typeface="Quicksand"/>
              </a:rPr>
              <a:t>All 5 predictions happen in ONE forward pass, together. </a:t>
            </a:r>
            <a:br>
              <a:rPr lang="en-US" sz="1600" b="0" i="0" u="none" strike="noStrike" cap="none">
                <a:solidFill>
                  <a:srgbClr val="000000"/>
                </a:solidFill>
                <a:latin typeface="Quicksand"/>
                <a:ea typeface="Quicksand"/>
                <a:cs typeface="Quicksand"/>
                <a:sym typeface="Quicksand"/>
              </a:rPr>
            </a:br>
            <a:r>
              <a:rPr lang="en-US" sz="1600" b="0" i="0" u="none" strike="noStrike" cap="none">
                <a:solidFill>
                  <a:srgbClr val="000000"/>
                </a:solidFill>
                <a:latin typeface="Quicksand"/>
                <a:ea typeface="Quicksand"/>
                <a:cs typeface="Quicksand"/>
                <a:sym typeface="Quicksand"/>
              </a:rPr>
              <a:t>Loss = average of all 5 cross-entropy values.</a:t>
            </a:r>
            <a:endParaRPr/>
          </a:p>
          <a:p>
            <a:pPr marL="0" marR="0" lvl="0" indent="0" algn="l" rtl="0">
              <a:lnSpc>
                <a:spcPct val="100000"/>
              </a:lnSpc>
              <a:spcBef>
                <a:spcPts val="0"/>
              </a:spcBef>
              <a:spcAft>
                <a:spcPts val="0"/>
              </a:spcAft>
              <a:buNone/>
            </a:pPr>
            <a:endParaRPr sz="1600" b="0" i="0" u="none" strike="noStrike" cap="none">
              <a:solidFill>
                <a:srgbClr val="000000"/>
              </a:solidFill>
              <a:latin typeface="Quicksand"/>
              <a:ea typeface="Quicksand"/>
              <a:cs typeface="Quicksand"/>
              <a:sym typeface="Quicksand"/>
            </a:endParaRPr>
          </a:p>
          <a:p>
            <a:pPr marL="0" marR="0" lvl="0" indent="0" algn="l" rtl="0">
              <a:lnSpc>
                <a:spcPct val="100000"/>
              </a:lnSpc>
              <a:spcBef>
                <a:spcPts val="0"/>
              </a:spcBef>
              <a:spcAft>
                <a:spcPts val="0"/>
              </a:spcAft>
              <a:buNone/>
            </a:pPr>
            <a:r>
              <a:rPr lang="en-US" sz="2000" b="1" i="0" u="none" strike="noStrike" cap="none">
                <a:solidFill>
                  <a:srgbClr val="000000"/>
                </a:solidFill>
                <a:latin typeface="Quicksand"/>
                <a:ea typeface="Quicksand"/>
                <a:cs typeface="Quicksand"/>
                <a:sym typeface="Quicksand"/>
              </a:rPr>
              <a:t>Inference: One Token at a Time</a:t>
            </a:r>
            <a:endParaRPr/>
          </a:p>
          <a:p>
            <a:pPr marL="0" marR="0" lvl="0" indent="0" algn="l" rtl="0">
              <a:lnSpc>
                <a:spcPct val="100000"/>
              </a:lnSpc>
              <a:spcBef>
                <a:spcPts val="600"/>
              </a:spcBef>
              <a:spcAft>
                <a:spcPts val="0"/>
              </a:spcAft>
              <a:buNone/>
            </a:pPr>
            <a:r>
              <a:rPr lang="en-US" sz="1600" b="0" i="0" u="none" strike="noStrike" cap="none">
                <a:solidFill>
                  <a:srgbClr val="000000"/>
                </a:solidFill>
                <a:latin typeface="Quicksand"/>
                <a:ea typeface="Quicksand"/>
                <a:cs typeface="Quicksand"/>
                <a:sym typeface="Quicksand"/>
              </a:rPr>
              <a:t>At inference, we set return_sequences = False.</a:t>
            </a:r>
            <a:br>
              <a:rPr lang="en-US" sz="1600" b="0" i="0" u="none" strike="noStrike" cap="none">
                <a:solidFill>
                  <a:srgbClr val="000000"/>
                </a:solidFill>
                <a:latin typeface="Quicksand"/>
                <a:ea typeface="Quicksand"/>
                <a:cs typeface="Quicksand"/>
                <a:sym typeface="Quicksand"/>
              </a:rPr>
            </a:br>
            <a:r>
              <a:rPr lang="en-US" sz="1600" b="0" i="0" u="none" strike="noStrike" cap="none">
                <a:solidFill>
                  <a:srgbClr val="000000"/>
                </a:solidFill>
                <a:latin typeface="Quicksand"/>
                <a:ea typeface="Quicksand"/>
                <a:cs typeface="Quicksand"/>
                <a:sym typeface="Quicksand"/>
              </a:rPr>
              <a:t>We generate one token only, feed it back as input, </a:t>
            </a:r>
            <a:br>
              <a:rPr lang="en-US" sz="1600" b="0" i="0" u="none" strike="noStrike" cap="none">
                <a:solidFill>
                  <a:srgbClr val="000000"/>
                </a:solidFill>
                <a:latin typeface="Quicksand"/>
                <a:ea typeface="Quicksand"/>
                <a:cs typeface="Quicksand"/>
                <a:sym typeface="Quicksand"/>
              </a:rPr>
            </a:br>
            <a:r>
              <a:rPr lang="en-US" sz="1600" b="0" i="0" u="none" strike="noStrike" cap="none">
                <a:solidFill>
                  <a:srgbClr val="000000"/>
                </a:solidFill>
                <a:latin typeface="Quicksand"/>
                <a:ea typeface="Quicksand"/>
                <a:cs typeface="Quicksand"/>
                <a:sym typeface="Quicksand"/>
              </a:rPr>
              <a:t>and repeat. Same weights, just a different loop.</a:t>
            </a:r>
            <a:endParaRPr/>
          </a:p>
        </p:txBody>
      </p:sp>
      <p:pic>
        <p:nvPicPr>
          <p:cNvPr id="159" name="Google Shape;159;p11"/>
          <p:cNvPicPr preferRelativeResize="0"/>
          <p:nvPr/>
        </p:nvPicPr>
        <p:blipFill rotWithShape="1">
          <a:blip r:embed="rId3">
            <a:alphaModFix/>
          </a:blip>
          <a:srcRect/>
          <a:stretch/>
        </p:blipFill>
        <p:spPr>
          <a:xfrm>
            <a:off x="6096000" y="3072300"/>
            <a:ext cx="5863482" cy="319826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2"/>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Generative Language Model</a:t>
            </a:r>
            <a:endParaRPr sz="1400" b="0" i="0" u="none" strike="noStrike" cap="none">
              <a:solidFill>
                <a:srgbClr val="000000"/>
              </a:solidFill>
              <a:latin typeface="Arial"/>
              <a:ea typeface="Arial"/>
              <a:cs typeface="Arial"/>
              <a:sym typeface="Arial"/>
            </a:endParaRPr>
          </a:p>
        </p:txBody>
      </p:sp>
      <p:sp>
        <p:nvSpPr>
          <p:cNvPr id="165" name="Google Shape;165;p12"/>
          <p:cNvSpPr txBox="1"/>
          <p:nvPr/>
        </p:nvSpPr>
        <p:spPr>
          <a:xfrm>
            <a:off x="805961" y="1779611"/>
            <a:ext cx="10576733" cy="20620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Inference with Generative Language Models</a:t>
            </a: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We modify the layer to only produce a single output token (return_sequences = False).</a:t>
            </a:r>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We then wrap the new layers with a feedback loop that takes the last prediction and passes it as input to the model again along with the most recent embedding that captures ‘what we’ve done so far’.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Quicksand"/>
              <a:ea typeface="Quicksand"/>
              <a:cs typeface="Quicksand"/>
              <a:sym typeface="Quicksand"/>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66" name="Google Shape;166;p12" descr="Getting Started with Large Language Models: Finetuning [Part 2/3] | by  keithczq | GoPenAI"/>
          <p:cNvPicPr preferRelativeResize="0"/>
          <p:nvPr/>
        </p:nvPicPr>
        <p:blipFill rotWithShape="1">
          <a:blip r:embed="rId3">
            <a:alphaModFix/>
          </a:blip>
          <a:srcRect/>
          <a:stretch/>
        </p:blipFill>
        <p:spPr>
          <a:xfrm>
            <a:off x="3689597" y="3559002"/>
            <a:ext cx="4809459" cy="27120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3"/>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5400" b="0" i="0" u="none" strike="noStrike" cap="none" dirty="0">
                <a:solidFill>
                  <a:srgbClr val="000000"/>
                </a:solidFill>
                <a:latin typeface="Economica"/>
                <a:ea typeface="Economica"/>
                <a:cs typeface="Economica"/>
                <a:sym typeface="Economica"/>
              </a:rPr>
              <a:t>Where Did the Encoder Go?</a:t>
            </a:r>
            <a:endParaRPr dirty="0"/>
          </a:p>
        </p:txBody>
      </p:sp>
      <p:sp>
        <p:nvSpPr>
          <p:cNvPr id="172" name="Google Shape;172;p13"/>
          <p:cNvSpPr txBox="1"/>
          <p:nvPr/>
        </p:nvSpPr>
        <p:spPr>
          <a:xfrm>
            <a:off x="756088" y="1781737"/>
            <a:ext cx="10200600" cy="43703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600"/>
              </a:spcBef>
              <a:spcAft>
                <a:spcPts val="0"/>
              </a:spcAft>
              <a:buNone/>
            </a:pPr>
            <a:r>
              <a:rPr lang="en-US" sz="1800" b="0" i="0" u="none" strike="noStrike" cap="none" dirty="0">
                <a:solidFill>
                  <a:srgbClr val="000000"/>
                </a:solidFill>
                <a:latin typeface="Arial"/>
                <a:ea typeface="Arial"/>
                <a:cs typeface="Arial"/>
                <a:sym typeface="Arial"/>
              </a:rPr>
              <a:t>Char-RNN is decoder-only: one RNN, no encoder, no attention. </a:t>
            </a:r>
            <a:r>
              <a:rPr lang="en-US" sz="1800" dirty="0"/>
              <a:t>This works b</a:t>
            </a:r>
            <a:r>
              <a:rPr lang="en-US" sz="1800" b="0" i="0" u="none" strike="noStrike" cap="none" dirty="0">
                <a:solidFill>
                  <a:srgbClr val="000000"/>
                </a:solidFill>
                <a:latin typeface="Arial"/>
                <a:ea typeface="Arial"/>
                <a:cs typeface="Arial"/>
                <a:sym typeface="Arial"/>
              </a:rPr>
              <a:t>ecause input and output are trivially aligned — predict position t+1 from position t. The hidden state hₜ already encodes everything from characters 1 through t. No need to 'look back.'</a:t>
            </a:r>
            <a:br>
              <a:rPr lang="en-US" sz="1800" dirty="0"/>
            </a:br>
            <a:endParaRPr dirty="0"/>
          </a:p>
          <a:p>
            <a:pPr marL="0" marR="0" lvl="0" indent="0" algn="l" rtl="0">
              <a:lnSpc>
                <a:spcPct val="100000"/>
              </a:lnSpc>
              <a:spcBef>
                <a:spcPts val="600"/>
              </a:spcBef>
              <a:spcAft>
                <a:spcPts val="0"/>
              </a:spcAft>
              <a:buNone/>
            </a:pPr>
            <a:r>
              <a:rPr lang="en-US" sz="1800" b="0" i="0" u="none" strike="noStrike" cap="none" dirty="0">
                <a:solidFill>
                  <a:srgbClr val="000000"/>
                </a:solidFill>
                <a:latin typeface="Arial"/>
                <a:ea typeface="Arial"/>
                <a:cs typeface="Arial"/>
                <a:sym typeface="Arial"/>
              </a:rPr>
              <a:t>Translation is </a:t>
            </a:r>
            <a:r>
              <a:rPr lang="en-US" sz="1800" b="0" i="1" u="none" strike="noStrike" cap="none" dirty="0">
                <a:solidFill>
                  <a:srgbClr val="000000"/>
                </a:solidFill>
                <a:latin typeface="Arial"/>
                <a:ea typeface="Arial"/>
                <a:cs typeface="Arial"/>
                <a:sym typeface="Arial"/>
              </a:rPr>
              <a:t>different</a:t>
            </a:r>
            <a:r>
              <a:rPr lang="en-US" sz="1800" b="0" i="0" u="none" strike="noStrike" cap="none" dirty="0">
                <a:solidFill>
                  <a:srgbClr val="000000"/>
                </a:solidFill>
                <a:latin typeface="Arial"/>
                <a:ea typeface="Arial"/>
                <a:cs typeface="Arial"/>
                <a:sym typeface="Arial"/>
              </a:rPr>
              <a:t>: input and output are different lengths, vocabularies, and orderings. You must read the whole input before writing any output.</a:t>
            </a:r>
            <a:br>
              <a:rPr lang="en-US" sz="1800" b="0" i="0" u="none" strike="noStrike" cap="none" dirty="0">
                <a:solidFill>
                  <a:srgbClr val="000000"/>
                </a:solidFill>
                <a:latin typeface="Arial"/>
                <a:ea typeface="Arial"/>
                <a:cs typeface="Arial"/>
                <a:sym typeface="Arial"/>
              </a:rPr>
            </a:br>
            <a:endParaRPr dirty="0"/>
          </a:p>
          <a:p>
            <a:pPr marL="0" marR="0" lvl="0" indent="0" algn="l" rtl="0">
              <a:lnSpc>
                <a:spcPct val="100000"/>
              </a:lnSpc>
              <a:spcBef>
                <a:spcPts val="600"/>
              </a:spcBef>
              <a:spcAft>
                <a:spcPts val="0"/>
              </a:spcAft>
              <a:buNone/>
            </a:pPr>
            <a:r>
              <a:rPr lang="en-US" sz="1800" b="0" i="0" u="none" strike="noStrike" cap="none" dirty="0">
                <a:solidFill>
                  <a:srgbClr val="000000"/>
                </a:solidFill>
                <a:latin typeface="Arial"/>
                <a:ea typeface="Arial"/>
                <a:cs typeface="Arial"/>
                <a:sym typeface="Arial"/>
              </a:rPr>
              <a:t>The encoder-decoder split also solved a memory problem with RNN hidden states, which degrade over long sequences. The encoder saves all the input hidden states; attention lets the decoder look back</a:t>
            </a:r>
            <a:r>
              <a:rPr lang="en-US" sz="1800" dirty="0"/>
              <a:t> (like </a:t>
            </a:r>
            <a:r>
              <a:rPr lang="en-US" sz="1800" dirty="0" err="1"/>
              <a:t>Badenhau</a:t>
            </a:r>
            <a:r>
              <a:rPr lang="en-US" sz="1800" dirty="0"/>
              <a:t> attention).</a:t>
            </a:r>
            <a:br>
              <a:rPr lang="en-US" sz="1800" dirty="0"/>
            </a:br>
            <a:endParaRPr dirty="0"/>
          </a:p>
          <a:p>
            <a:pPr marL="0" marR="0" lvl="0" indent="0" algn="l" rtl="0">
              <a:lnSpc>
                <a:spcPct val="100000"/>
              </a:lnSpc>
              <a:spcBef>
                <a:spcPts val="600"/>
              </a:spcBef>
              <a:spcAft>
                <a:spcPts val="0"/>
              </a:spcAft>
              <a:buNone/>
            </a:pPr>
            <a:r>
              <a:rPr lang="en-US" sz="1800" dirty="0"/>
              <a:t>Ultimately, the </a:t>
            </a:r>
            <a:r>
              <a:rPr lang="en-US" sz="1800" b="0" i="0" u="none" strike="noStrike" cap="none" dirty="0">
                <a:solidFill>
                  <a:srgbClr val="000000"/>
                </a:solidFill>
                <a:latin typeface="Arial"/>
                <a:ea typeface="Arial"/>
                <a:cs typeface="Arial"/>
                <a:sym typeface="Arial"/>
              </a:rPr>
              <a:t>encoder-decoder architecture compensates for RNN limitations, not task requirements. When the task is aligned (shift by 1), a single RNN is both simpler and better. With transformers, even in the case of translation tasks, we no longer need the encoder-decoder architecture (given </a:t>
            </a:r>
            <a:r>
              <a:rPr lang="en-US" sz="1800" dirty="0"/>
              <a:t>enough</a:t>
            </a:r>
            <a:r>
              <a:rPr lang="en-US" sz="1800" b="0" i="0" u="none" strike="noStrike" cap="none" dirty="0">
                <a:solidFill>
                  <a:srgbClr val="000000"/>
                </a:solidFill>
                <a:latin typeface="Arial"/>
                <a:ea typeface="Arial"/>
                <a:cs typeface="Arial"/>
                <a:sym typeface="Arial"/>
              </a:rPr>
              <a:t> pre-training). </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6"/>
          <p:cNvSpPr txBox="1"/>
          <p:nvPr/>
        </p:nvSpPr>
        <p:spPr>
          <a:xfrm>
            <a:off x="1836516" y="486655"/>
            <a:ext cx="8518967"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Generative Pre-trained Transformers</a:t>
            </a:r>
            <a:endParaRPr sz="1400" b="0" i="0" u="none" strike="noStrike" cap="none">
              <a:solidFill>
                <a:srgbClr val="000000"/>
              </a:solidFill>
              <a:latin typeface="Arial"/>
              <a:ea typeface="Arial"/>
              <a:cs typeface="Arial"/>
              <a:sym typeface="Arial"/>
            </a:endParaRPr>
          </a:p>
        </p:txBody>
      </p:sp>
      <p:sp>
        <p:nvSpPr>
          <p:cNvPr id="178" name="Google Shape;178;p16"/>
          <p:cNvSpPr txBox="1"/>
          <p:nvPr/>
        </p:nvSpPr>
        <p:spPr>
          <a:xfrm>
            <a:off x="550379" y="1789175"/>
            <a:ext cx="5954111"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Generative Pre-trained Transformers (GPTs)</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1800" b="0" i="0" u="none" strike="noStrike" cap="none">
                <a:solidFill>
                  <a:schemeClr val="dk1"/>
                </a:solidFill>
                <a:latin typeface="Quicksand"/>
                <a:ea typeface="Quicksand"/>
                <a:cs typeface="Quicksand"/>
                <a:sym typeface="Quicksand"/>
              </a:rPr>
              <a:t>In 2018, not long after “Attention Is All You Need,” OpenAI put out a paper about the efficacy of scaling data and compute with a mixture of basic ingredients: i) vast amounts of highly varied text, ii) a generative language architecture, and iii) transformers (oh, and RLHF).</a:t>
            </a:r>
            <a:br>
              <a:rPr lang="en-US" sz="1800" b="0"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GPT-1 (2018) had 117 million parameters trained on 10 million tokens.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GPT-2 (2019) had 1.5 billion parameters and was trained on 10 billion tokens.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GPT-3 (2020) had 175 billion parameters and was trained on 300 billion tokens.</a:t>
            </a:r>
            <a:endParaRPr sz="1400" b="0" i="0" u="none" strike="noStrike" cap="none">
              <a:solidFill>
                <a:srgbClr val="000000"/>
              </a:solidFill>
              <a:latin typeface="Arial"/>
              <a:ea typeface="Arial"/>
              <a:cs typeface="Arial"/>
              <a:sym typeface="Arial"/>
            </a:endParaRPr>
          </a:p>
        </p:txBody>
      </p:sp>
      <p:pic>
        <p:nvPicPr>
          <p:cNvPr id="179" name="Google Shape;179;p16"/>
          <p:cNvPicPr preferRelativeResize="0"/>
          <p:nvPr/>
        </p:nvPicPr>
        <p:blipFill rotWithShape="1">
          <a:blip r:embed="rId3">
            <a:alphaModFix/>
          </a:blip>
          <a:srcRect/>
          <a:stretch/>
        </p:blipFill>
        <p:spPr>
          <a:xfrm>
            <a:off x="6597088" y="1946704"/>
            <a:ext cx="5243814" cy="396299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7"/>
          <p:cNvSpPr txBox="1"/>
          <p:nvPr/>
        </p:nvSpPr>
        <p:spPr>
          <a:xfrm>
            <a:off x="798653" y="423819"/>
            <a:ext cx="10444705"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GPTs (and LLMs Generally) Have Many Problems</a:t>
            </a:r>
            <a:endParaRPr sz="1400" b="0" i="0" u="none" strike="noStrike" cap="none">
              <a:solidFill>
                <a:srgbClr val="000000"/>
              </a:solidFill>
              <a:latin typeface="Arial"/>
              <a:ea typeface="Arial"/>
              <a:cs typeface="Arial"/>
              <a:sym typeface="Arial"/>
            </a:endParaRPr>
          </a:p>
        </p:txBody>
      </p:sp>
      <p:sp>
        <p:nvSpPr>
          <p:cNvPr id="185" name="Google Shape;185;p17"/>
          <p:cNvSpPr txBox="1"/>
          <p:nvPr/>
        </p:nvSpPr>
        <p:spPr>
          <a:xfrm>
            <a:off x="550379" y="1695483"/>
            <a:ext cx="8338978" cy="48320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Various Challenges with LLMs (Among Many Others)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sng" strike="noStrike" cap="none">
                <a:solidFill>
                  <a:schemeClr val="dk1"/>
                </a:solidFill>
                <a:latin typeface="Quicksand"/>
                <a:ea typeface="Quicksand"/>
                <a:cs typeface="Quicksand"/>
                <a:sym typeface="Quicksand"/>
              </a:rPr>
              <a:t>Hallucination:</a:t>
            </a:r>
            <a:r>
              <a:rPr lang="en-US" sz="1800" b="0" i="0" u="none" strike="noStrike" cap="none">
                <a:solidFill>
                  <a:schemeClr val="dk1"/>
                </a:solidFill>
                <a:latin typeface="Quicksand"/>
                <a:ea typeface="Quicksand"/>
                <a:cs typeface="Quicksand"/>
                <a:sym typeface="Quicksand"/>
              </a:rPr>
              <a:t> They produce plausible text as output, not necessarily truthful or correct text. Therefore, they are highly dependent on the quality of training data.</a:t>
            </a:r>
            <a:endParaRPr sz="1400" b="0" i="0" u="none" strike="noStrike" cap="none">
              <a:solidFill>
                <a:srgbClr val="000000"/>
              </a:solidFill>
              <a:latin typeface="Arial"/>
              <a:ea typeface="Arial"/>
              <a:cs typeface="Arial"/>
              <a:sym typeface="Arial"/>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sng" strike="noStrike" cap="none">
                <a:solidFill>
                  <a:schemeClr val="dk1"/>
                </a:solidFill>
                <a:latin typeface="Quicksand"/>
                <a:ea typeface="Quicksand"/>
                <a:cs typeface="Quicksand"/>
                <a:sym typeface="Quicksand"/>
              </a:rPr>
              <a:t>Prompt Brittleness:</a:t>
            </a:r>
            <a:r>
              <a:rPr lang="en-US" sz="1800" b="0" i="0" u="none" strike="noStrike" cap="none">
                <a:solidFill>
                  <a:schemeClr val="dk1"/>
                </a:solidFill>
                <a:latin typeface="Quicksand"/>
                <a:ea typeface="Quicksand"/>
                <a:cs typeface="Quicksand"/>
                <a:sym typeface="Quicksand"/>
              </a:rPr>
              <a:t> Rewording a prompt even slightly can lead to considerable changes in model response. For example, if you ask the same question of an LLM in different languages, you can get very different answers (conceptually and semantically)! </a:t>
            </a:r>
            <a:endParaRPr sz="1400" b="0" i="0" u="none" strike="noStrike" cap="none">
              <a:solidFill>
                <a:srgbClr val="000000"/>
              </a:solidFill>
              <a:latin typeface="Arial"/>
              <a:ea typeface="Arial"/>
              <a:cs typeface="Arial"/>
              <a:sym typeface="Arial"/>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sng" strike="noStrike" cap="none">
                <a:solidFill>
                  <a:schemeClr val="dk1"/>
                </a:solidFill>
                <a:latin typeface="Quicksand"/>
                <a:ea typeface="Quicksand"/>
                <a:cs typeface="Quicksand"/>
                <a:sym typeface="Quicksand"/>
              </a:rPr>
              <a:t>Memorization:</a:t>
            </a:r>
            <a:r>
              <a:rPr lang="en-US" sz="1800" b="1" i="0" u="none" strike="noStrike" cap="none">
                <a:solidFill>
                  <a:schemeClr val="dk1"/>
                </a:solidFill>
                <a:latin typeface="Quicksand"/>
                <a:ea typeface="Quicksand"/>
                <a:cs typeface="Quicksand"/>
                <a:sym typeface="Quicksand"/>
              </a:rPr>
              <a:t> </a:t>
            </a:r>
            <a:r>
              <a:rPr lang="en-US" sz="1800" b="0" i="0" u="none" strike="noStrike" cap="none">
                <a:solidFill>
                  <a:schemeClr val="dk1"/>
                </a:solidFill>
                <a:latin typeface="Quicksand"/>
                <a:ea typeface="Quicksand"/>
                <a:cs typeface="Quicksand"/>
                <a:sym typeface="Quicksand"/>
              </a:rPr>
              <a:t>Assessing the performance of LLMs on various task benchmarks is quite challenging because it is often tough to assess whether the model has seen the problem previously and is merely looking up the answer in training data. This affects whether performance reflects how a model might perform on an entirely new task. </a:t>
            </a:r>
            <a:endParaRPr sz="1800" b="0" i="0" u="sng" strike="noStrike" cap="none">
              <a:solidFill>
                <a:schemeClr val="dk1"/>
              </a:solidFill>
              <a:latin typeface="Quicksand"/>
              <a:ea typeface="Quicksand"/>
              <a:cs typeface="Quicksand"/>
              <a:sym typeface="Quicksand"/>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p:txBody>
      </p:sp>
      <p:pic>
        <p:nvPicPr>
          <p:cNvPr id="186" name="Google Shape;186;p17" descr="The Sisyphus Treadmill: Why we keep falling for rehashed ideas - Darius  Foroux"/>
          <p:cNvPicPr preferRelativeResize="0"/>
          <p:nvPr/>
        </p:nvPicPr>
        <p:blipFill rotWithShape="1">
          <a:blip r:embed="rId3">
            <a:alphaModFix/>
          </a:blip>
          <a:srcRect/>
          <a:stretch/>
        </p:blipFill>
        <p:spPr>
          <a:xfrm>
            <a:off x="8696445" y="2355448"/>
            <a:ext cx="2862805" cy="2147104"/>
          </a:xfrm>
          <a:prstGeom prst="rect">
            <a:avLst/>
          </a:prstGeom>
          <a:noFill/>
          <a:ln>
            <a:noFill/>
          </a:ln>
          <a:effectLst>
            <a:outerShdw blurRad="292100" dist="139700" dir="2700000" algn="tl" rotWithShape="0">
              <a:srgbClr val="333333">
                <a:alpha val="64705"/>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8"/>
          <p:cNvSpPr txBox="1"/>
          <p:nvPr/>
        </p:nvSpPr>
        <p:spPr>
          <a:xfrm>
            <a:off x="1836516" y="486655"/>
            <a:ext cx="8518967"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Lots of Pre-Trained LLMs Around</a:t>
            </a:r>
            <a:endParaRPr sz="1400" b="0" i="0" u="none" strike="noStrike" cap="none">
              <a:solidFill>
                <a:srgbClr val="000000"/>
              </a:solidFill>
              <a:latin typeface="Arial"/>
              <a:ea typeface="Arial"/>
              <a:cs typeface="Arial"/>
              <a:sym typeface="Arial"/>
            </a:endParaRPr>
          </a:p>
        </p:txBody>
      </p:sp>
      <p:sp>
        <p:nvSpPr>
          <p:cNvPr id="192" name="Google Shape;192;p18"/>
          <p:cNvSpPr txBox="1"/>
          <p:nvPr/>
        </p:nvSpPr>
        <p:spPr>
          <a:xfrm>
            <a:off x="550380" y="1789175"/>
            <a:ext cx="5044534" cy="34778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Loading Pre-trained Models from Keras Hub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1800" b="0" i="0" u="none" strike="noStrike" cap="none">
                <a:solidFill>
                  <a:schemeClr val="dk1"/>
                </a:solidFill>
                <a:latin typeface="Quicksand"/>
                <a:ea typeface="Quicksand"/>
                <a:cs typeface="Quicksand"/>
                <a:sym typeface="Quicksand"/>
              </a:rPr>
              <a:t>Check out what is available on the Keras hub. Many open-source and free-to-use models are there, though many are too large for a Colab notebook.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1800" b="0" i="0" u="none" strike="noStrike" cap="none">
                <a:solidFill>
                  <a:schemeClr val="dk1"/>
                </a:solidFill>
                <a:latin typeface="Quicksand"/>
                <a:ea typeface="Quicksand"/>
                <a:cs typeface="Quicksand"/>
                <a:sym typeface="Quicksand"/>
              </a:rPr>
              <a:t>Kaggle hosts some of the models. For a given model, you may need to visit Kaggle and create an API key, complete a request form, or agree to terms and conditions.  </a:t>
            </a:r>
            <a:endParaRPr sz="1400" b="0" i="0" u="none" strike="noStrike" cap="none">
              <a:solidFill>
                <a:srgbClr val="000000"/>
              </a:solidFill>
              <a:latin typeface="Arial"/>
              <a:ea typeface="Arial"/>
              <a:cs typeface="Arial"/>
              <a:sym typeface="Arial"/>
            </a:endParaRPr>
          </a:p>
        </p:txBody>
      </p:sp>
      <p:pic>
        <p:nvPicPr>
          <p:cNvPr id="193" name="Google Shape;193;p18"/>
          <p:cNvPicPr preferRelativeResize="0"/>
          <p:nvPr/>
        </p:nvPicPr>
        <p:blipFill rotWithShape="1">
          <a:blip r:embed="rId3">
            <a:alphaModFix/>
          </a:blip>
          <a:srcRect/>
          <a:stretch/>
        </p:blipFill>
        <p:spPr>
          <a:xfrm>
            <a:off x="5990016" y="1789175"/>
            <a:ext cx="5651604" cy="42334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1"/>
          <p:cNvSpPr txBox="1"/>
          <p:nvPr/>
        </p:nvSpPr>
        <p:spPr>
          <a:xfrm>
            <a:off x="1750621" y="2828835"/>
            <a:ext cx="8690758"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a:solidFill>
                  <a:schemeClr val="dk1"/>
                </a:solidFill>
                <a:latin typeface="Economica"/>
                <a:ea typeface="Economica"/>
                <a:cs typeface="Economica"/>
                <a:sym typeface="Economica"/>
              </a:rPr>
              <a:t>Questions?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1879</Words>
  <Application>Microsoft Macintosh PowerPoint</Application>
  <PresentationFormat>Widescreen</PresentationFormat>
  <Paragraphs>114</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Consolas</vt:lpstr>
      <vt:lpstr>Calibri</vt:lpstr>
      <vt:lpstr>Economica</vt:lpstr>
      <vt:lpstr>Roboto</vt:lpstr>
      <vt:lpstr>Quicksand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Gordon Burtch</dc:creator>
  <cp:lastModifiedBy>Burtch, Gordon</cp:lastModifiedBy>
  <cp:revision>1</cp:revision>
  <dcterms:created xsi:type="dcterms:W3CDTF">2019-12-28T13:51:56Z</dcterms:created>
  <dcterms:modified xsi:type="dcterms:W3CDTF">2026-04-02T17:05:16Z</dcterms:modified>
</cp:coreProperties>
</file>