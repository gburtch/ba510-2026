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2"/>
  </p:notesMasterIdLst>
  <p:sldIdLst>
    <p:sldId id="256" r:id="rId2"/>
    <p:sldId id="259" r:id="rId3"/>
    <p:sldId id="279" r:id="rId4"/>
    <p:sldId id="285" r:id="rId5"/>
    <p:sldId id="286" r:id="rId6"/>
    <p:sldId id="287" r:id="rId7"/>
    <p:sldId id="288" r:id="rId8"/>
    <p:sldId id="289" r:id="rId9"/>
    <p:sldId id="290" r:id="rId10"/>
    <p:sldId id="280" r:id="rId11"/>
    <p:sldId id="281" r:id="rId12"/>
    <p:sldId id="282" r:id="rId13"/>
    <p:sldId id="283" r:id="rId14"/>
    <p:sldId id="284" r:id="rId15"/>
    <p:sldId id="293" r:id="rId16"/>
    <p:sldId id="294" r:id="rId17"/>
    <p:sldId id="295" r:id="rId18"/>
    <p:sldId id="296" r:id="rId19"/>
    <p:sldId id="297" r:id="rId20"/>
    <p:sldId id="292" r:id="rId21"/>
  </p:sldIdLst>
  <p:sldSz cx="12192000" cy="6858000"/>
  <p:notesSz cx="6858000" cy="9144000"/>
  <p:embeddedFontLst>
    <p:embeddedFont>
      <p:font typeface="Economica" panose="02000506040000020004" pitchFamily="2" charset="77"/>
      <p:regular r:id="rId23"/>
      <p:bold r:id="rId24"/>
      <p:italic r:id="rId25"/>
      <p:boldItalic r:id="rId26"/>
    </p:embeddedFont>
    <p:embeddedFont>
      <p:font typeface="Quicksand" pitchFamily="2" charset="77"/>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 roundtripDataSignature="AMtx7mg4MTa/PFjWeeH+1PYiaQkpJn1Tr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219"/>
  </p:normalViewPr>
  <p:slideViewPr>
    <p:cSldViewPr snapToGrid="0">
      <p:cViewPr varScale="1">
        <p:scale>
          <a:sx n="107" d="100"/>
          <a:sy n="107" d="100"/>
        </p:scale>
        <p:origin x="11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a1cf8ce4d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g3a1cf8ce4d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4" name="Google Shape;244;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https://www.youtube.com/watch?v=G06dEcZ-QTg</a:t>
            </a:r>
            <a:endParaRPr/>
          </a:p>
        </p:txBody>
      </p:sp>
      <p:sp>
        <p:nvSpPr>
          <p:cNvPr id="291" name="Google Shape;29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2154984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9027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pair a discriminator with the generator. Discriminator is a standard network we’ve seen before; it’s a classifier. It takes in an image, and predicts whether the image is real or fake. </a:t>
            </a:r>
            <a:endParaRPr/>
          </a:p>
        </p:txBody>
      </p:sp>
      <p:sp>
        <p:nvSpPr>
          <p:cNvPr id="306" name="Google Shape;30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3621288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pair a discriminator with the generator. Discriminator is a standard network we’ve seen before; it’s a classifier. It takes in an image, and predicts whether the image is real or fake. </a:t>
            </a:r>
            <a:endParaRPr/>
          </a:p>
        </p:txBody>
      </p:sp>
      <p:sp>
        <p:nvSpPr>
          <p:cNvPr id="314" name="Google Shape;31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25175573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pair a discriminator with the generator. Discriminator is a standard network we’ve seen before; it’s a classifier. It takes in an image, and predicts whether the image is real or fake. </a:t>
            </a:r>
            <a:endParaRPr/>
          </a:p>
        </p:txBody>
      </p:sp>
      <p:sp>
        <p:nvSpPr>
          <p:cNvPr id="323" name="Google Shape;32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2122076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pair a discriminator with the generator. Discriminator is a standard network we’ve seen before; it’s a classifier. It takes in an image, and predicts whether the image is real or fake. </a:t>
            </a:r>
            <a:endParaRPr/>
          </a:p>
        </p:txBody>
      </p:sp>
      <p:sp>
        <p:nvSpPr>
          <p:cNvPr id="330" name="Google Shape;330;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extLst>
      <p:ext uri="{BB962C8B-B14F-4D97-AF65-F5344CB8AC3E}">
        <p14:creationId xmlns:p14="http://schemas.microsoft.com/office/powerpoint/2010/main" val="103372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how a Conditional VAE works. </a:t>
            </a:r>
            <a:endParaRPr/>
          </a:p>
        </p:txBody>
      </p:sp>
      <p:sp>
        <p:nvSpPr>
          <p:cNvPr id="269" name="Google Shape;26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1D678F0F-A4EE-1000-3ABF-3594198B22AA}"/>
            </a:ext>
          </a:extLst>
        </p:cNvPr>
        <p:cNvGrpSpPr/>
        <p:nvPr/>
      </p:nvGrpSpPr>
      <p:grpSpPr>
        <a:xfrm>
          <a:off x="0" y="0"/>
          <a:ext cx="0" cy="0"/>
          <a:chOff x="0" y="0"/>
          <a:chExt cx="0" cy="0"/>
        </a:xfrm>
      </p:grpSpPr>
      <p:sp>
        <p:nvSpPr>
          <p:cNvPr id="336" name="Google Shape;336;p17:notes">
            <a:extLst>
              <a:ext uri="{FF2B5EF4-FFF2-40B4-BE49-F238E27FC236}">
                <a16:creationId xmlns:a16="http://schemas.microsoft.com/office/drawing/2014/main" id="{446C043D-1276-A0D8-8EE8-78E9577003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17:notes">
            <a:extLst>
              <a:ext uri="{FF2B5EF4-FFF2-40B4-BE49-F238E27FC236}">
                <a16:creationId xmlns:a16="http://schemas.microsoft.com/office/drawing/2014/main" id="{D698BD29-8F39-A046-55BF-9D215E4F90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Weights are not initialized until you “build” the model (or compile it, which will first build). </a:t>
            </a:r>
            <a:endParaRPr/>
          </a:p>
        </p:txBody>
      </p:sp>
      <p:sp>
        <p:nvSpPr>
          <p:cNvPr id="338" name="Google Shape;338;p17:notes">
            <a:extLst>
              <a:ext uri="{FF2B5EF4-FFF2-40B4-BE49-F238E27FC236}">
                <a16:creationId xmlns:a16="http://schemas.microsoft.com/office/drawing/2014/main" id="{C831F1A4-6BB5-4C40-C83D-73565886A64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3091883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9"/>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Economica"/>
                <a:ea typeface="Economica"/>
                <a:cs typeface="Economica"/>
                <a:sym typeface="Economica"/>
              </a:rPr>
              <a:t>© Gordon Burtch, 2026</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7"/>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2" name="Google Shape;62;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grpSp>
        <p:nvGrpSpPr>
          <p:cNvPr id="82" name="Google Shape;82;p1"/>
          <p:cNvGrpSpPr/>
          <p:nvPr/>
        </p:nvGrpSpPr>
        <p:grpSpPr>
          <a:xfrm>
            <a:off x="3058028" y="1385048"/>
            <a:ext cx="5818346" cy="2370043"/>
            <a:chOff x="3164307" y="2588206"/>
            <a:chExt cx="5818346" cy="2370043"/>
          </a:xfrm>
        </p:grpSpPr>
        <p:grpSp>
          <p:nvGrpSpPr>
            <p:cNvPr id="84" name="Google Shape;84;p1"/>
            <p:cNvGrpSpPr/>
            <p:nvPr/>
          </p:nvGrpSpPr>
          <p:grpSpPr>
            <a:xfrm>
              <a:off x="3164307" y="2588206"/>
              <a:ext cx="1213182" cy="661736"/>
              <a:chOff x="3132555" y="2419542"/>
              <a:chExt cx="1651279" cy="1070810"/>
            </a:xfrm>
          </p:grpSpPr>
          <p:cxnSp>
            <p:nvCxnSpPr>
              <p:cNvPr id="85" name="Google Shape;85;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86" name="Google Shape;86;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87" name="Google Shape;87;p1"/>
            <p:cNvGrpSpPr/>
            <p:nvPr/>
          </p:nvGrpSpPr>
          <p:grpSpPr>
            <a:xfrm rot="10800000">
              <a:off x="7889785" y="4296513"/>
              <a:ext cx="1092868" cy="661736"/>
              <a:chOff x="3499627" y="1305495"/>
              <a:chExt cx="1388919" cy="1070810"/>
            </a:xfrm>
          </p:grpSpPr>
          <p:cxnSp>
            <p:nvCxnSpPr>
              <p:cNvPr id="88" name="Google Shape;88;p1"/>
              <p:cNvCxnSpPr/>
              <p:nvPr/>
            </p:nvCxnSpPr>
            <p:spPr>
              <a:xfrm>
                <a:off x="3499627" y="1305497"/>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89" name="Google Shape;89;p1"/>
              <p:cNvCxnSpPr/>
              <p:nvPr/>
            </p:nvCxnSpPr>
            <p:spPr>
              <a:xfrm rot="10800000">
                <a:off x="3499627" y="1305495"/>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90" name="Google Shape;90;p1"/>
          <p:cNvSpPr txBox="1"/>
          <p:nvPr/>
        </p:nvSpPr>
        <p:spPr>
          <a:xfrm>
            <a:off x="3516233" y="1715916"/>
            <a:ext cx="4995106"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6000" b="0" i="0" u="none" strike="noStrike" cap="none" dirty="0">
                <a:solidFill>
                  <a:schemeClr val="dk1"/>
                </a:solidFill>
                <a:latin typeface="Economica"/>
                <a:ea typeface="Economica"/>
                <a:cs typeface="Economica"/>
                <a:sym typeface="Economica"/>
              </a:rPr>
              <a:t>Other Generative Models</a:t>
            </a:r>
            <a:endParaRPr sz="36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a1cf8ce4d7_0_0"/>
          <p:cNvSpPr txBox="1"/>
          <p:nvPr/>
        </p:nvSpPr>
        <p:spPr>
          <a:xfrm>
            <a:off x="2865521" y="586938"/>
            <a:ext cx="6461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This Week’s Agenda</a:t>
            </a:r>
            <a:endParaRPr sz="1400" b="0" i="0" u="none" strike="noStrike" cap="none" dirty="0">
              <a:solidFill>
                <a:srgbClr val="000000"/>
              </a:solidFill>
              <a:latin typeface="Arial"/>
              <a:ea typeface="Arial"/>
              <a:cs typeface="Arial"/>
              <a:sym typeface="Arial"/>
            </a:endParaRPr>
          </a:p>
        </p:txBody>
      </p:sp>
      <p:sp>
        <p:nvSpPr>
          <p:cNvPr id="109" name="Google Shape;109;g3a1cf8ce4d7_0_0"/>
          <p:cNvSpPr txBox="1"/>
          <p:nvPr/>
        </p:nvSpPr>
        <p:spPr>
          <a:xfrm>
            <a:off x="1589453" y="2413357"/>
            <a:ext cx="6874500" cy="25852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chemeClr val="dk1"/>
                </a:solidFill>
                <a:latin typeface="Quicksand"/>
                <a:ea typeface="Quicksand"/>
                <a:cs typeface="Quicksand"/>
                <a:sym typeface="Quicksand"/>
              </a:rPr>
              <a:t>AI News</a:t>
            </a:r>
          </a:p>
          <a:p>
            <a:pPr marL="0" marR="0" lvl="0" indent="0" algn="l" rtl="0">
              <a:lnSpc>
                <a:spcPct val="100000"/>
              </a:lnSpc>
              <a:spcBef>
                <a:spcPts val="0"/>
              </a:spcBef>
              <a:spcAft>
                <a:spcPts val="0"/>
              </a:spcAft>
              <a:buNone/>
            </a:pPr>
            <a:endParaRPr lang="en-US" sz="1800" b="1"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None/>
            </a:pPr>
            <a:r>
              <a:rPr lang="en-US" sz="1800" b="1" i="0" u="none" strike="noStrike" cap="none" dirty="0">
                <a:solidFill>
                  <a:schemeClr val="dk1"/>
                </a:solidFill>
                <a:latin typeface="Quicksand"/>
                <a:ea typeface="Quicksand"/>
                <a:cs typeface="Quicksand"/>
                <a:sym typeface="Quicksand"/>
              </a:rPr>
              <a:t>Quiz 4 Review</a:t>
            </a:r>
          </a:p>
          <a:p>
            <a:pPr marL="0" marR="0" lvl="0" indent="0" algn="l" rtl="0">
              <a:lnSpc>
                <a:spcPct val="100000"/>
              </a:lnSpc>
              <a:spcBef>
                <a:spcPts val="0"/>
              </a:spcBef>
              <a:spcAft>
                <a:spcPts val="0"/>
              </a:spcAft>
              <a:buNone/>
            </a:pPr>
            <a:endParaRPr lang="en-US" sz="18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None/>
            </a:pPr>
            <a:r>
              <a:rPr lang="en-US" sz="1800" b="1" i="0" u="none" strike="noStrike" cap="none" dirty="0">
                <a:solidFill>
                  <a:schemeClr val="dk1"/>
                </a:solidFill>
                <a:latin typeface="Quicksand"/>
                <a:ea typeface="Quicksand"/>
                <a:cs typeface="Quicksand"/>
                <a:sym typeface="Quicksand"/>
              </a:rPr>
              <a:t>Other Generative Models / Architectures</a:t>
            </a:r>
            <a:endParaRPr lang="en-US" sz="1800" b="0" i="0" u="none" strike="noStrike" cap="none" dirty="0">
              <a:solidFill>
                <a:schemeClr val="dk1"/>
              </a:solidFill>
              <a:latin typeface="Quicksand"/>
              <a:ea typeface="Quicksand"/>
              <a:cs typeface="Quicksand"/>
              <a:sym typeface="Quicksand"/>
            </a:endParaRPr>
          </a:p>
          <a:p>
            <a:pPr marL="342900" indent="-342900">
              <a:buClr>
                <a:schemeClr val="dk1"/>
              </a:buClr>
              <a:buSzPts val="1800"/>
              <a:buFont typeface="Arial"/>
              <a:buChar char="•"/>
            </a:pPr>
            <a:r>
              <a:rPr lang="en-US" sz="1800" dirty="0">
                <a:solidFill>
                  <a:schemeClr val="dk1"/>
                </a:solidFill>
                <a:latin typeface="Quicksand"/>
                <a:ea typeface="Quicksand"/>
                <a:cs typeface="Quicksand"/>
                <a:sym typeface="Quicksand"/>
              </a:rPr>
              <a:t>Generative Adversarial Networks</a:t>
            </a: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Variational Auto-encoders &amp; </a:t>
            </a:r>
            <a:r>
              <a:rPr lang="en-US" sz="1800" dirty="0">
                <a:solidFill>
                  <a:schemeClr val="dk1"/>
                </a:solidFill>
                <a:latin typeface="Quicksand"/>
                <a:ea typeface="Quicksand"/>
                <a:cs typeface="Quicksand"/>
                <a:sym typeface="Quicksand"/>
              </a:rPr>
              <a:t>Diffusion Models</a:t>
            </a:r>
            <a:endParaRPr lang="en-US"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endParaRPr lang="en-US" sz="1800" dirty="0">
              <a:solidFill>
                <a:schemeClr val="dk1"/>
              </a:solidFill>
              <a:latin typeface="Quicksand"/>
              <a:ea typeface="Quicksand"/>
              <a:cs typeface="Quicksand"/>
              <a:sym typeface="Quicksand"/>
            </a:endParaRPr>
          </a:p>
          <a:p>
            <a:pPr>
              <a:buClr>
                <a:schemeClr val="dk1"/>
              </a:buClr>
              <a:buSzPts val="1800"/>
            </a:pPr>
            <a:r>
              <a:rPr lang="en-US" sz="1800" b="1" dirty="0">
                <a:solidFill>
                  <a:schemeClr val="dk1"/>
                </a:solidFill>
                <a:latin typeface="Quicksand"/>
                <a:ea typeface="Quicksand"/>
                <a:cs typeface="Quicksand"/>
                <a:sym typeface="Quicksand"/>
              </a:rPr>
              <a:t>Quiz 4</a:t>
            </a:r>
            <a:endParaRPr lang="en-US" sz="1800" dirty="0">
              <a:solidFill>
                <a:schemeClr val="dk1"/>
              </a:solidFill>
              <a:latin typeface="Quicksand"/>
              <a:ea typeface="Quicksand"/>
              <a:cs typeface="Quicksand"/>
              <a:sym typeface="Quicksand"/>
            </a:endParaRPr>
          </a:p>
        </p:txBody>
      </p:sp>
      <p:pic>
        <p:nvPicPr>
          <p:cNvPr id="110" name="Google Shape;110;g3a1cf8ce4d7_0_0" descr="Build an Effective Meeting Agenda Template | WorkPatterns"/>
          <p:cNvPicPr preferRelativeResize="0"/>
          <p:nvPr/>
        </p:nvPicPr>
        <p:blipFill rotWithShape="1">
          <a:blip r:embed="rId3">
            <a:alphaModFix/>
          </a:blip>
          <a:srcRect/>
          <a:stretch/>
        </p:blipFill>
        <p:spPr>
          <a:xfrm>
            <a:off x="7165298" y="2476129"/>
            <a:ext cx="5026701" cy="26429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52"/>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Generative </a:t>
            </a:r>
            <a:r>
              <a:rPr lang="en-US" sz="5400" dirty="0">
                <a:solidFill>
                  <a:schemeClr val="dk1"/>
                </a:solidFill>
                <a:latin typeface="Economica"/>
                <a:ea typeface="Economica"/>
                <a:cs typeface="Economica"/>
                <a:sym typeface="Economica"/>
              </a:rPr>
              <a:t>Image, </a:t>
            </a:r>
            <a:r>
              <a:rPr lang="en-US" sz="5400" b="0" i="0" u="none" strike="noStrike" cap="none" dirty="0">
                <a:solidFill>
                  <a:schemeClr val="dk1"/>
                </a:solidFill>
                <a:latin typeface="Economica"/>
                <a:ea typeface="Economica"/>
                <a:cs typeface="Economica"/>
                <a:sym typeface="Economica"/>
              </a:rPr>
              <a:t>Audio, Video Models</a:t>
            </a:r>
            <a:endParaRPr sz="1400" b="0" i="0" u="none" strike="noStrike" cap="none" dirty="0">
              <a:solidFill>
                <a:srgbClr val="000000"/>
              </a:solidFill>
              <a:latin typeface="Arial"/>
              <a:ea typeface="Arial"/>
              <a:cs typeface="Arial"/>
              <a:sym typeface="Arial"/>
            </a:endParaRPr>
          </a:p>
        </p:txBody>
      </p:sp>
      <p:sp>
        <p:nvSpPr>
          <p:cNvPr id="247" name="Google Shape;247;p52"/>
          <p:cNvSpPr txBox="1"/>
          <p:nvPr/>
        </p:nvSpPr>
        <p:spPr>
          <a:xfrm>
            <a:off x="995679" y="1858752"/>
            <a:ext cx="10200640" cy="230828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dirty="0">
                <a:solidFill>
                  <a:schemeClr val="accent1"/>
                </a:solidFill>
                <a:latin typeface="Arial"/>
                <a:ea typeface="Arial"/>
                <a:cs typeface="Arial"/>
                <a:sym typeface="Arial"/>
              </a:rPr>
              <a:t>Generative Models Have Taken Off</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dirty="0">
              <a:solidFill>
                <a:schemeClr val="accent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Text-to-Image:</a:t>
            </a:r>
            <a:r>
              <a:rPr lang="en-US" sz="1800" b="0" i="0" u="none" strike="noStrike" cap="none" dirty="0">
                <a:solidFill>
                  <a:schemeClr val="dk1"/>
                </a:solidFill>
                <a:latin typeface="Arial"/>
                <a:ea typeface="Arial"/>
                <a:cs typeface="Arial"/>
                <a:sym typeface="Arial"/>
              </a:rPr>
              <a:t> Stable Diffusion, DALL-E, Nano Banana.</a:t>
            </a:r>
            <a:endParaRPr sz="14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Text-to-Video: </a:t>
            </a:r>
            <a:r>
              <a:rPr lang="en-US" sz="1800" i="0" u="none" strike="noStrike" cap="none" dirty="0">
                <a:solidFill>
                  <a:schemeClr val="dk1"/>
                </a:solidFill>
                <a:latin typeface="Arial"/>
                <a:ea typeface="Arial"/>
                <a:cs typeface="Arial"/>
                <a:sym typeface="Arial"/>
              </a:rPr>
              <a:t>Sora, Veo3</a:t>
            </a:r>
            <a:endParaRPr lang="en-US" sz="1800" b="1" i="0" u="none" strike="noStrike" cap="none" dirty="0">
              <a:solidFill>
                <a:schemeClr val="dk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Photo to Video: </a:t>
            </a:r>
            <a:r>
              <a:rPr lang="en-US" sz="1800" b="0" i="0" u="none" strike="noStrike" cap="none" dirty="0">
                <a:solidFill>
                  <a:schemeClr val="dk1"/>
                </a:solidFill>
                <a:latin typeface="Arial"/>
                <a:ea typeface="Arial"/>
                <a:cs typeface="Arial"/>
                <a:sym typeface="Arial"/>
              </a:rPr>
              <a:t>Kling</a:t>
            </a:r>
            <a:endParaRPr sz="14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Text-to-Voice/Speech: </a:t>
            </a:r>
            <a:r>
              <a:rPr lang="en-US" sz="1800" b="0" i="0" u="none" strike="noStrike" cap="none" dirty="0" err="1">
                <a:solidFill>
                  <a:schemeClr val="dk1"/>
                </a:solidFill>
                <a:latin typeface="Arial"/>
                <a:ea typeface="Arial"/>
                <a:cs typeface="Arial"/>
                <a:sym typeface="Arial"/>
              </a:rPr>
              <a:t>ElevenLabs</a:t>
            </a:r>
            <a:endParaRPr lang="en-US" sz="1800" b="0" i="0" u="none" strike="noStrike" cap="none" dirty="0">
              <a:solidFill>
                <a:schemeClr val="dk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dirty="0">
                <a:solidFill>
                  <a:schemeClr val="dk1"/>
                </a:solidFill>
              </a:rPr>
              <a:t>Text-to-Music:</a:t>
            </a:r>
            <a:r>
              <a:rPr lang="en-US" sz="1800" dirty="0">
                <a:solidFill>
                  <a:schemeClr val="dk1"/>
                </a:solidFill>
              </a:rPr>
              <a:t> </a:t>
            </a:r>
            <a:r>
              <a:rPr lang="en-US" sz="1800" dirty="0" err="1">
                <a:solidFill>
                  <a:schemeClr val="dk1"/>
                </a:solidFill>
              </a:rPr>
              <a:t>MusicGen</a:t>
            </a:r>
            <a:r>
              <a:rPr lang="en-US" sz="1800" dirty="0">
                <a:solidFill>
                  <a:schemeClr val="dk1"/>
                </a:solidFill>
              </a:rPr>
              <a:t>, </a:t>
            </a:r>
            <a:r>
              <a:rPr lang="en-US" sz="1800" dirty="0" err="1">
                <a:solidFill>
                  <a:schemeClr val="dk1"/>
                </a:solidFill>
              </a:rPr>
              <a:t>MusicLM</a:t>
            </a:r>
            <a:endParaRPr sz="1800" b="1" i="0" u="none" strike="noStrike" cap="none" dirty="0">
              <a:solidFill>
                <a:schemeClr val="dk1"/>
              </a:solidFill>
              <a:latin typeface="Arial"/>
              <a:ea typeface="Arial"/>
              <a:cs typeface="Arial"/>
              <a:sym typeface="Arial"/>
            </a:endParaRPr>
          </a:p>
          <a:p>
            <a:pPr marL="285750" marR="0" lvl="0" indent="-171450" algn="just"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Arial"/>
              <a:ea typeface="Arial"/>
              <a:cs typeface="Arial"/>
              <a:sym typeface="Arial"/>
            </a:endParaRPr>
          </a:p>
        </p:txBody>
      </p:sp>
      <p:pic>
        <p:nvPicPr>
          <p:cNvPr id="248" name="Google Shape;248;p52" descr="How to Create Visually Stunning Images with Midjourney Bot » Dulu Lain  Sekarang Lain"/>
          <p:cNvPicPr preferRelativeResize="0"/>
          <p:nvPr/>
        </p:nvPicPr>
        <p:blipFill rotWithShape="1">
          <a:blip r:embed="rId3">
            <a:alphaModFix/>
          </a:blip>
          <a:srcRect/>
          <a:stretch/>
        </p:blipFill>
        <p:spPr>
          <a:xfrm>
            <a:off x="849618" y="4161950"/>
            <a:ext cx="4516097" cy="2027226"/>
          </a:xfrm>
          <a:prstGeom prst="rect">
            <a:avLst/>
          </a:prstGeom>
          <a:noFill/>
          <a:ln>
            <a:noFill/>
          </a:ln>
          <a:effectLst>
            <a:outerShdw blurRad="292100" dist="139700" dir="2700000" algn="tl" rotWithShape="0">
              <a:srgbClr val="333333">
                <a:alpha val="64313"/>
              </a:srgbClr>
            </a:outerShdw>
          </a:effectLst>
        </p:spPr>
      </p:pic>
      <p:pic>
        <p:nvPicPr>
          <p:cNvPr id="249" name="Google Shape;249;p52" descr="Dall-E 2: How to Get Early Access - Geekflare"/>
          <p:cNvPicPr preferRelativeResize="0"/>
          <p:nvPr/>
        </p:nvPicPr>
        <p:blipFill rotWithShape="1">
          <a:blip r:embed="rId4">
            <a:alphaModFix/>
          </a:blip>
          <a:srcRect/>
          <a:stretch/>
        </p:blipFill>
        <p:spPr>
          <a:xfrm>
            <a:off x="5978688" y="4993468"/>
            <a:ext cx="4604658" cy="1477328"/>
          </a:xfrm>
          <a:prstGeom prst="rect">
            <a:avLst/>
          </a:prstGeom>
          <a:noFill/>
          <a:ln>
            <a:noFill/>
          </a:ln>
          <a:effectLst>
            <a:outerShdw blurRad="292100" dist="139700" dir="2700000" algn="tl" rotWithShape="0">
              <a:srgbClr val="333333">
                <a:alpha val="64313"/>
              </a:srgbClr>
            </a:outerShdw>
          </a:effectLst>
        </p:spPr>
      </p:pic>
      <p:pic>
        <p:nvPicPr>
          <p:cNvPr id="250" name="Google Shape;250;p52"/>
          <p:cNvPicPr preferRelativeResize="0"/>
          <p:nvPr/>
        </p:nvPicPr>
        <p:blipFill rotWithShape="1">
          <a:blip r:embed="rId5">
            <a:alphaModFix/>
          </a:blip>
          <a:srcRect/>
          <a:stretch/>
        </p:blipFill>
        <p:spPr>
          <a:xfrm>
            <a:off x="6729555" y="3856352"/>
            <a:ext cx="2247900" cy="723900"/>
          </a:xfrm>
          <a:prstGeom prst="rect">
            <a:avLst/>
          </a:prstGeom>
          <a:noFill/>
          <a:ln>
            <a:noFill/>
          </a:ln>
          <a:effectLst>
            <a:outerShdw blurRad="292100" dist="139700" dir="2700000" algn="tl" rotWithShape="0">
              <a:srgbClr val="333333">
                <a:alpha val="64313"/>
              </a:srgbClr>
            </a:outerShdw>
          </a:effectLst>
        </p:spPr>
      </p:pic>
      <p:pic>
        <p:nvPicPr>
          <p:cNvPr id="1026" name="Picture 2" descr="Nano Banana: The #1 AI Image Editor Dominating 2025">
            <a:extLst>
              <a:ext uri="{FF2B5EF4-FFF2-40B4-BE49-F238E27FC236}">
                <a16:creationId xmlns:a16="http://schemas.microsoft.com/office/drawing/2014/main" id="{59F9EEC1-DC0B-31AD-FA17-4BFA2D3285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48319" y="1804445"/>
            <a:ext cx="3048000" cy="16891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Generative Adversarial Networks (GANs)</a:t>
            </a:r>
            <a:endParaRPr sz="1400" b="0" i="0" u="none" strike="noStrike" cap="none">
              <a:solidFill>
                <a:srgbClr val="000000"/>
              </a:solidFill>
              <a:latin typeface="Arial"/>
              <a:ea typeface="Arial"/>
              <a:cs typeface="Arial"/>
              <a:sym typeface="Arial"/>
            </a:endParaRPr>
          </a:p>
        </p:txBody>
      </p:sp>
      <p:sp>
        <p:nvSpPr>
          <p:cNvPr id="294" name="Google Shape;294;p3"/>
          <p:cNvSpPr txBox="1"/>
          <p:nvPr/>
        </p:nvSpPr>
        <p:spPr>
          <a:xfrm>
            <a:off x="995679" y="1858752"/>
            <a:ext cx="10200640" cy="147732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GANs are a Powerful Flexible Tool for Generative Modeling</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What is a GAN? How do GANs work?</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What problems can we address with GANs?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How do we implement a GAN?</a:t>
            </a:r>
            <a:endParaRPr sz="1400" b="0" i="0" u="none" strike="noStrike" cap="none">
              <a:solidFill>
                <a:srgbClr val="000000"/>
              </a:solidFill>
              <a:latin typeface="Arial"/>
              <a:ea typeface="Arial"/>
              <a:cs typeface="Arial"/>
              <a:sym typeface="Arial"/>
            </a:endParaRPr>
          </a:p>
        </p:txBody>
      </p:sp>
      <p:pic>
        <p:nvPicPr>
          <p:cNvPr id="295" name="Google Shape;295;p3"/>
          <p:cNvPicPr preferRelativeResize="0"/>
          <p:nvPr/>
        </p:nvPicPr>
        <p:blipFill rotWithShape="1">
          <a:blip r:embed="rId3">
            <a:alphaModFix/>
          </a:blip>
          <a:srcRect/>
          <a:stretch/>
        </p:blipFill>
        <p:spPr>
          <a:xfrm>
            <a:off x="3132532" y="3867418"/>
            <a:ext cx="5926934" cy="2403644"/>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352"/>
              </a:srgbClr>
            </a:outerShdw>
          </a:effectLst>
        </p:spPr>
      </p:pic>
    </p:spTree>
    <p:extLst>
      <p:ext uri="{BB962C8B-B14F-4D97-AF65-F5344CB8AC3E}">
        <p14:creationId xmlns:p14="http://schemas.microsoft.com/office/powerpoint/2010/main" val="29449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The Goal</a:t>
            </a:r>
            <a:endParaRPr sz="1400" b="0" i="0" u="none" strike="noStrike" cap="none">
              <a:solidFill>
                <a:srgbClr val="000000"/>
              </a:solidFill>
              <a:latin typeface="Arial"/>
              <a:ea typeface="Arial"/>
              <a:cs typeface="Arial"/>
              <a:sym typeface="Arial"/>
            </a:endParaRPr>
          </a:p>
        </p:txBody>
      </p:sp>
      <p:pic>
        <p:nvPicPr>
          <p:cNvPr id="301" name="Google Shape;301;p4"/>
          <p:cNvPicPr preferRelativeResize="0"/>
          <p:nvPr/>
        </p:nvPicPr>
        <p:blipFill rotWithShape="1">
          <a:blip r:embed="rId3">
            <a:alphaModFix/>
          </a:blip>
          <a:srcRect/>
          <a:stretch/>
        </p:blipFill>
        <p:spPr>
          <a:xfrm>
            <a:off x="2914650" y="4054806"/>
            <a:ext cx="6362700" cy="2324100"/>
          </a:xfrm>
          <a:prstGeom prst="rect">
            <a:avLst/>
          </a:prstGeom>
          <a:noFill/>
          <a:ln>
            <a:noFill/>
          </a:ln>
        </p:spPr>
      </p:pic>
      <p:sp>
        <p:nvSpPr>
          <p:cNvPr id="302" name="Google Shape;302;p4"/>
          <p:cNvSpPr txBox="1"/>
          <p:nvPr/>
        </p:nvSpPr>
        <p:spPr>
          <a:xfrm>
            <a:off x="995679" y="1858752"/>
            <a:ext cx="10200640" cy="2031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Synthesize Samples That Conform to the Real Data’s Distribution</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We train a network to produce synthetic samples that are indistinguishable from true samples.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More concrete, this means we train a network to learn the probability distribution of real data.</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For example, learn the joint probability distribution of pixel values in a set of images.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So, the resulting network could take a random vector of noise as input, and map it to a synthetic output that looks very similar to real data.</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2397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How Might We Do This?</a:t>
            </a:r>
            <a:endParaRPr sz="1400" b="0" i="0" u="none" strike="noStrike" cap="none">
              <a:solidFill>
                <a:srgbClr val="000000"/>
              </a:solidFill>
              <a:latin typeface="Arial"/>
              <a:ea typeface="Arial"/>
              <a:cs typeface="Arial"/>
              <a:sym typeface="Arial"/>
            </a:endParaRPr>
          </a:p>
        </p:txBody>
      </p:sp>
      <p:sp>
        <p:nvSpPr>
          <p:cNvPr id="309" name="Google Shape;309;p5"/>
          <p:cNvSpPr txBox="1"/>
          <p:nvPr/>
        </p:nvSpPr>
        <p:spPr>
          <a:xfrm>
            <a:off x="995679" y="2011152"/>
            <a:ext cx="10200600" cy="2308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A Neural Net That Produces Image Output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Take in a random vector as input, and have it produce image predictions.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Next, compare those predictions with authentic images. But how?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We don’t want it to try to predict a specific image, because then it won’t be able to produce new synthetic examples.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The problem? </a:t>
            </a:r>
            <a:r>
              <a:rPr lang="en-US" sz="1800" b="1" i="0" u="none" strike="noStrike" cap="none">
                <a:solidFill>
                  <a:schemeClr val="dk1"/>
                </a:solidFill>
                <a:latin typeface="Arial"/>
                <a:ea typeface="Arial"/>
                <a:cs typeface="Arial"/>
                <a:sym typeface="Arial"/>
              </a:rPr>
              <a:t>The loss function is highly complicated.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A solution… </a:t>
            </a:r>
            <a:endParaRPr sz="1400" b="0" i="0" u="none" strike="noStrike" cap="none">
              <a:solidFill>
                <a:srgbClr val="000000"/>
              </a:solidFill>
              <a:latin typeface="Arial"/>
              <a:ea typeface="Arial"/>
              <a:cs typeface="Arial"/>
              <a:sym typeface="Arial"/>
            </a:endParaRPr>
          </a:p>
        </p:txBody>
      </p:sp>
      <p:pic>
        <p:nvPicPr>
          <p:cNvPr id="310" name="Google Shape;310;p5"/>
          <p:cNvPicPr preferRelativeResize="0"/>
          <p:nvPr/>
        </p:nvPicPr>
        <p:blipFill rotWithShape="1">
          <a:blip r:embed="rId3">
            <a:alphaModFix/>
          </a:blip>
          <a:srcRect b="53865"/>
          <a:stretch/>
        </p:blipFill>
        <p:spPr>
          <a:xfrm>
            <a:off x="3747572" y="4578365"/>
            <a:ext cx="4696877" cy="1779116"/>
          </a:xfrm>
          <a:prstGeom prst="rect">
            <a:avLst/>
          </a:prstGeom>
          <a:noFill/>
          <a:ln>
            <a:noFill/>
          </a:ln>
        </p:spPr>
      </p:pic>
    </p:spTree>
    <p:extLst>
      <p:ext uri="{BB962C8B-B14F-4D97-AF65-F5344CB8AC3E}">
        <p14:creationId xmlns:p14="http://schemas.microsoft.com/office/powerpoint/2010/main" val="361936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7"/>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Adversarial Architecture</a:t>
            </a:r>
            <a:endParaRPr sz="1400" b="0" i="0" u="none" strike="noStrike" cap="none">
              <a:solidFill>
                <a:srgbClr val="000000"/>
              </a:solidFill>
              <a:latin typeface="Arial"/>
              <a:ea typeface="Arial"/>
              <a:cs typeface="Arial"/>
              <a:sym typeface="Arial"/>
            </a:endParaRPr>
          </a:p>
        </p:txBody>
      </p:sp>
      <p:sp>
        <p:nvSpPr>
          <p:cNvPr id="317" name="Google Shape;317;p7"/>
          <p:cNvSpPr txBox="1"/>
          <p:nvPr/>
        </p:nvSpPr>
        <p:spPr>
          <a:xfrm>
            <a:off x="753029" y="1705487"/>
            <a:ext cx="3361168" cy="2031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Discriminator</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Serves as an adaptive loss function for the generator.</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It’s a throw-away network that is just there to help train the generator.</a:t>
            </a:r>
            <a:endParaRPr sz="1400" b="0" i="0" u="none" strike="noStrike" cap="none">
              <a:solidFill>
                <a:srgbClr val="000000"/>
              </a:solidFill>
              <a:latin typeface="Arial"/>
              <a:ea typeface="Arial"/>
              <a:cs typeface="Arial"/>
              <a:sym typeface="Arial"/>
            </a:endParaRPr>
          </a:p>
        </p:txBody>
      </p:sp>
      <p:pic>
        <p:nvPicPr>
          <p:cNvPr id="318" name="Google Shape;318;p7"/>
          <p:cNvPicPr preferRelativeResize="0"/>
          <p:nvPr/>
        </p:nvPicPr>
        <p:blipFill rotWithShape="1">
          <a:blip r:embed="rId3">
            <a:alphaModFix/>
          </a:blip>
          <a:srcRect/>
          <a:stretch/>
        </p:blipFill>
        <p:spPr>
          <a:xfrm>
            <a:off x="2211097" y="3736812"/>
            <a:ext cx="5382410" cy="2946376"/>
          </a:xfrm>
          <a:prstGeom prst="rect">
            <a:avLst/>
          </a:prstGeom>
          <a:noFill/>
          <a:ln>
            <a:noFill/>
          </a:ln>
        </p:spPr>
      </p:pic>
      <p:pic>
        <p:nvPicPr>
          <p:cNvPr id="319" name="Google Shape;319;p7"/>
          <p:cNvPicPr preferRelativeResize="0"/>
          <p:nvPr/>
        </p:nvPicPr>
        <p:blipFill rotWithShape="1">
          <a:blip r:embed="rId4">
            <a:alphaModFix/>
          </a:blip>
          <a:srcRect/>
          <a:stretch/>
        </p:blipFill>
        <p:spPr>
          <a:xfrm>
            <a:off x="6063018" y="2106220"/>
            <a:ext cx="5519382" cy="1956649"/>
          </a:xfrm>
          <a:prstGeom prst="rect">
            <a:avLst/>
          </a:prstGeom>
          <a:noFill/>
          <a:ln>
            <a:noFill/>
          </a:ln>
        </p:spPr>
      </p:pic>
    </p:spTree>
    <p:extLst>
      <p:ext uri="{BB962C8B-B14F-4D97-AF65-F5344CB8AC3E}">
        <p14:creationId xmlns:p14="http://schemas.microsoft.com/office/powerpoint/2010/main" val="96630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8"/>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Adversarial Architecture</a:t>
            </a:r>
            <a:endParaRPr sz="1400" b="0" i="0" u="none" strike="noStrike" cap="none">
              <a:solidFill>
                <a:srgbClr val="000000"/>
              </a:solidFill>
              <a:latin typeface="Arial"/>
              <a:ea typeface="Arial"/>
              <a:cs typeface="Arial"/>
              <a:sym typeface="Arial"/>
            </a:endParaRPr>
          </a:p>
        </p:txBody>
      </p:sp>
      <p:pic>
        <p:nvPicPr>
          <p:cNvPr id="326" name="Google Shape;326;p8" descr="A second diagram of a generator and discriminator"/>
          <p:cNvPicPr preferRelativeResize="0"/>
          <p:nvPr/>
        </p:nvPicPr>
        <p:blipFill rotWithShape="1">
          <a:blip r:embed="rId3">
            <a:alphaModFix/>
          </a:blip>
          <a:srcRect/>
          <a:stretch/>
        </p:blipFill>
        <p:spPr>
          <a:xfrm>
            <a:off x="2214088" y="1695963"/>
            <a:ext cx="7763823" cy="5011912"/>
          </a:xfrm>
          <a:prstGeom prst="rect">
            <a:avLst/>
          </a:prstGeom>
          <a:noFill/>
          <a:ln>
            <a:noFill/>
          </a:ln>
        </p:spPr>
      </p:pic>
    </p:spTree>
    <p:extLst>
      <p:ext uri="{BB962C8B-B14F-4D97-AF65-F5344CB8AC3E}">
        <p14:creationId xmlns:p14="http://schemas.microsoft.com/office/powerpoint/2010/main" val="2146355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1"/>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Conditional GANs</a:t>
            </a:r>
            <a:endParaRPr sz="1400" b="0" i="0" u="none" strike="noStrike" cap="none">
              <a:solidFill>
                <a:srgbClr val="000000"/>
              </a:solidFill>
              <a:latin typeface="Arial"/>
              <a:ea typeface="Arial"/>
              <a:cs typeface="Arial"/>
              <a:sym typeface="Arial"/>
            </a:endParaRPr>
          </a:p>
        </p:txBody>
      </p:sp>
      <p:sp>
        <p:nvSpPr>
          <p:cNvPr id="333" name="Google Shape;333;p31"/>
          <p:cNvSpPr txBox="1"/>
          <p:nvPr/>
        </p:nvSpPr>
        <p:spPr>
          <a:xfrm>
            <a:off x="753028" y="1705487"/>
            <a:ext cx="10085301" cy="2031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GAN /w Labels as Input Too</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We don’t want our GAN to just learn P(X); it needs to learn P(X|Y).</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This is a simple modification; we give two inputs to the generator, a label and a noise vector. So, it tries to produces images that match real images given a particular label, rather than images in general.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End result is a generator that you can pass a noise vector and a label, and it spits out an image of that label. </a:t>
            </a:r>
            <a:endParaRPr sz="1400" b="0" i="0" u="none" strike="noStrike" cap="none">
              <a:solidFill>
                <a:srgbClr val="000000"/>
              </a:solidFill>
              <a:latin typeface="Arial"/>
              <a:ea typeface="Arial"/>
              <a:cs typeface="Arial"/>
              <a:sym typeface="Arial"/>
            </a:endParaRPr>
          </a:p>
        </p:txBody>
      </p:sp>
      <p:pic>
        <p:nvPicPr>
          <p:cNvPr id="334" name="Google Shape;334;p31" descr="cGAN: Conditional Generative Adversarial Network — How to Gain Control Over  GAN Outputs | by Saul Dobilas | Towards Data Science"/>
          <p:cNvPicPr preferRelativeResize="0"/>
          <p:nvPr/>
        </p:nvPicPr>
        <p:blipFill rotWithShape="1">
          <a:blip r:embed="rId3">
            <a:alphaModFix/>
          </a:blip>
          <a:srcRect/>
          <a:stretch/>
        </p:blipFill>
        <p:spPr>
          <a:xfrm>
            <a:off x="3390899" y="3829001"/>
            <a:ext cx="6717574" cy="2667776"/>
          </a:xfrm>
          <a:prstGeom prst="rect">
            <a:avLst/>
          </a:prstGeom>
          <a:noFill/>
          <a:ln>
            <a:noFill/>
          </a:ln>
        </p:spPr>
      </p:pic>
    </p:spTree>
    <p:extLst>
      <p:ext uri="{BB962C8B-B14F-4D97-AF65-F5344CB8AC3E}">
        <p14:creationId xmlns:p14="http://schemas.microsoft.com/office/powerpoint/2010/main" val="88672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53"/>
          <p:cNvSpPr txBox="1"/>
          <p:nvPr/>
        </p:nvSpPr>
        <p:spPr>
          <a:xfrm>
            <a:off x="949124" y="1851346"/>
            <a:ext cx="10293749"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Quicksand"/>
                <a:ea typeface="Quicksand"/>
                <a:cs typeface="Quicksand"/>
                <a:sym typeface="Quicksand"/>
              </a:rPr>
              <a:t>VAEs:</a:t>
            </a:r>
            <a:r>
              <a:rPr lang="en-US" sz="1800" b="0" i="0" u="none" strike="noStrike" cap="none" dirty="0">
                <a:solidFill>
                  <a:srgbClr val="000000"/>
                </a:solidFill>
                <a:latin typeface="Quicksand"/>
                <a:ea typeface="Quicksand"/>
                <a:cs typeface="Quicksand"/>
                <a:sym typeface="Quicksand"/>
              </a:rPr>
              <a:t> employ an auto-encoder architecture (like our translation case, or the image-sharpening example) to compress and recover the input image. The trick is in the architecture we use to capture the compression in th</a:t>
            </a:r>
            <a:r>
              <a:rPr lang="en-US" sz="1800" dirty="0">
                <a:latin typeface="Quicksand"/>
                <a:ea typeface="Quicksand"/>
                <a:cs typeface="Quicksand"/>
                <a:sym typeface="Quicksand"/>
              </a:rPr>
              <a:t>e middle (the bottleneck)</a:t>
            </a:r>
            <a:r>
              <a:rPr lang="en-US" sz="1800" b="0" i="0" u="none" strike="noStrike" cap="none" dirty="0">
                <a:solidFill>
                  <a:srgbClr val="000000"/>
                </a:solidFill>
                <a:latin typeface="Quicksand"/>
                <a:ea typeface="Quicksand"/>
                <a:cs typeface="Quicksand"/>
                <a:sym typeface="Quicksand"/>
              </a:rPr>
              <a:t>. </a:t>
            </a:r>
            <a:endParaRPr dirty="0"/>
          </a:p>
        </p:txBody>
      </p:sp>
      <p:pic>
        <p:nvPicPr>
          <p:cNvPr id="257" name="Google Shape;257;p53" descr="image"/>
          <p:cNvPicPr preferRelativeResize="0"/>
          <p:nvPr/>
        </p:nvPicPr>
        <p:blipFill rotWithShape="1">
          <a:blip r:embed="rId3">
            <a:alphaModFix/>
          </a:blip>
          <a:srcRect/>
          <a:stretch/>
        </p:blipFill>
        <p:spPr>
          <a:xfrm>
            <a:off x="3320503" y="2791134"/>
            <a:ext cx="5550989" cy="2260872"/>
          </a:xfrm>
          <a:prstGeom prst="rect">
            <a:avLst/>
          </a:prstGeom>
          <a:noFill/>
          <a:ln>
            <a:noFill/>
          </a:ln>
        </p:spPr>
      </p:pic>
      <p:pic>
        <p:nvPicPr>
          <p:cNvPr id="258" name="Google Shape;258;p53" descr="image"/>
          <p:cNvPicPr preferRelativeResize="0"/>
          <p:nvPr/>
        </p:nvPicPr>
        <p:blipFill rotWithShape="1">
          <a:blip r:embed="rId4">
            <a:alphaModFix/>
          </a:blip>
          <a:srcRect/>
          <a:stretch/>
        </p:blipFill>
        <p:spPr>
          <a:xfrm>
            <a:off x="3265097" y="5159344"/>
            <a:ext cx="5661800" cy="1111718"/>
          </a:xfrm>
          <a:prstGeom prst="rect">
            <a:avLst/>
          </a:prstGeom>
          <a:noFill/>
          <a:ln>
            <a:noFill/>
          </a:ln>
        </p:spPr>
      </p:pic>
      <p:sp>
        <p:nvSpPr>
          <p:cNvPr id="259" name="Google Shape;259;p53"/>
          <p:cNvSpPr txBox="1"/>
          <p:nvPr/>
        </p:nvSpPr>
        <p:spPr>
          <a:xfrm>
            <a:off x="1628173" y="586938"/>
            <a:ext cx="893565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Variational Auto-Encoders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54"/>
          <p:cNvSpPr txBox="1"/>
          <p:nvPr/>
        </p:nvSpPr>
        <p:spPr>
          <a:xfrm>
            <a:off x="1628173" y="586938"/>
            <a:ext cx="893565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Variational Auto-encoder (VAE)</a:t>
            </a:r>
            <a:endParaRPr sz="1400" b="0" i="0" u="none" strike="noStrike" cap="none">
              <a:solidFill>
                <a:srgbClr val="000000"/>
              </a:solidFill>
              <a:latin typeface="Arial"/>
              <a:ea typeface="Arial"/>
              <a:cs typeface="Arial"/>
              <a:sym typeface="Arial"/>
            </a:endParaRPr>
          </a:p>
        </p:txBody>
      </p:sp>
      <p:sp>
        <p:nvSpPr>
          <p:cNvPr id="265" name="Google Shape;265;p54"/>
          <p:cNvSpPr txBox="1"/>
          <p:nvPr/>
        </p:nvSpPr>
        <p:spPr>
          <a:xfrm>
            <a:off x="528580" y="1786011"/>
            <a:ext cx="11092402" cy="233906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Mapping Images to a Latent Normal Distribution</a:t>
            </a:r>
            <a:br>
              <a:rPr lang="en-US" sz="2000" b="1" i="0" u="none" strike="noStrike" cap="none" dirty="0">
                <a:solidFill>
                  <a:schemeClr val="dk1"/>
                </a:solidFill>
                <a:latin typeface="Quicksand"/>
                <a:ea typeface="Quicksand"/>
                <a:cs typeface="Quicksand"/>
                <a:sym typeface="Quicksand"/>
              </a:rPr>
            </a:br>
            <a:endParaRPr sz="1800" b="0" i="0" u="none" strike="noStrike" cap="none" dirty="0">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Quicksand"/>
                <a:ea typeface="Quicksand"/>
                <a:cs typeface="Quicksand"/>
                <a:sym typeface="Quicksand"/>
              </a:rPr>
              <a:t>We learn to map each image in our training data to a multivariate normal distribution over latent variables — in our example, a bivariate normal with 2 learned means and 2 log-variances.</a:t>
            </a:r>
            <a:br>
              <a:rPr lang="en-US" sz="1800" b="0" i="0" u="none" strike="noStrike" cap="none" dirty="0">
                <a:solidFill>
                  <a:srgbClr val="000000"/>
                </a:solidFill>
                <a:latin typeface="Quicksand"/>
                <a:ea typeface="Quicksand"/>
                <a:cs typeface="Quicksand"/>
                <a:sym typeface="Quicksand"/>
              </a:rPr>
            </a:b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Quicksand"/>
                <a:ea typeface="Quicksand"/>
                <a:cs typeface="Quicksand"/>
                <a:sym typeface="Quicksand"/>
              </a:rPr>
              <a:t>We do this in a self-supervised way, using the auto-encoder architecture. The encoder compresses each image into parameters of a bivariate normal (2 means + 2 log-variances). We sample from that distribution and the decoder converts the sample back to an image.</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dirty="0">
                <a:solidFill>
                  <a:srgbClr val="000000"/>
                </a:solidFill>
                <a:latin typeface="Quicksand"/>
                <a:ea typeface="Quicksand"/>
                <a:cs typeface="Quicksand"/>
                <a:sym typeface="Quicksand"/>
              </a:rPr>
              <a:t>How do we enforce the normal distribution? A KL divergence term in the loss function penalizes the encoder whenever its learned means and log-variances drift from N(0,1). This regularization keeps the latent space well-shaped and smoothly interpolatable.</a:t>
            </a:r>
            <a:endParaRPr dirty="0"/>
          </a:p>
        </p:txBody>
      </p:sp>
      <p:pic>
        <p:nvPicPr>
          <p:cNvPr id="266" name="Google Shape;266;p54" descr="Variational autoencoder - Wikipedia"/>
          <p:cNvPicPr preferRelativeResize="0"/>
          <p:nvPr/>
        </p:nvPicPr>
        <p:blipFill rotWithShape="1">
          <a:blip r:embed="rId3">
            <a:alphaModFix/>
          </a:blip>
          <a:srcRect/>
          <a:stretch/>
        </p:blipFill>
        <p:spPr>
          <a:xfrm>
            <a:off x="3470476" y="4274749"/>
            <a:ext cx="5251047" cy="22645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55"/>
          <p:cNvSpPr txBox="1"/>
          <p:nvPr/>
        </p:nvSpPr>
        <p:spPr>
          <a:xfrm>
            <a:off x="2291787" y="586938"/>
            <a:ext cx="7801337"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Conditional VAE (Guiding with Text)</a:t>
            </a:r>
            <a:endParaRPr sz="1400" b="0" i="0" u="none" strike="noStrike" cap="none">
              <a:solidFill>
                <a:srgbClr val="000000"/>
              </a:solidFill>
              <a:latin typeface="Arial"/>
              <a:ea typeface="Arial"/>
              <a:cs typeface="Arial"/>
              <a:sym typeface="Arial"/>
            </a:endParaRPr>
          </a:p>
        </p:txBody>
      </p:sp>
      <p:pic>
        <p:nvPicPr>
          <p:cNvPr id="272" name="Google Shape;272;p55" descr="image"/>
          <p:cNvPicPr preferRelativeResize="0"/>
          <p:nvPr/>
        </p:nvPicPr>
        <p:blipFill rotWithShape="1">
          <a:blip r:embed="rId3">
            <a:alphaModFix/>
          </a:blip>
          <a:srcRect/>
          <a:stretch/>
        </p:blipFill>
        <p:spPr>
          <a:xfrm>
            <a:off x="1587729" y="4279068"/>
            <a:ext cx="9016537" cy="2434935"/>
          </a:xfrm>
          <a:prstGeom prst="rect">
            <a:avLst/>
          </a:prstGeom>
          <a:noFill/>
          <a:ln>
            <a:noFill/>
          </a:ln>
        </p:spPr>
      </p:pic>
      <p:sp>
        <p:nvSpPr>
          <p:cNvPr id="273" name="Google Shape;273;p55"/>
          <p:cNvSpPr txBox="1"/>
          <p:nvPr/>
        </p:nvSpPr>
        <p:spPr>
          <a:xfrm>
            <a:off x="949124" y="1946048"/>
            <a:ext cx="10293749" cy="25852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Quicksand"/>
                <a:ea typeface="Quicksand"/>
                <a:cs typeface="Quicksand"/>
                <a:sym typeface="Quicksand"/>
              </a:rPr>
              <a:t>We train the model by passing it an image along with textual captions. The image is projected into the latent space as a set of means and variances in a way that considers the text (conditional on the text). The decoder then samples from the normal distributions specified at that point in the latent space and attempts to reconstruct the input image, again taking the caption as input. </a:t>
            </a:r>
            <a:endParaRPr/>
          </a:p>
          <a:p>
            <a:pPr marL="0" marR="0" lvl="0" indent="0" algn="l" rtl="0">
              <a:lnSpc>
                <a:spcPct val="100000"/>
              </a:lnSpc>
              <a:spcBef>
                <a:spcPts val="0"/>
              </a:spcBef>
              <a:spcAft>
                <a:spcPts val="0"/>
              </a:spcAft>
              <a:buNone/>
            </a:pPr>
            <a:endParaRPr sz="1800" b="0" i="0" u="none" strike="noStrike" cap="none">
              <a:solidFill>
                <a:srgbClr val="000000"/>
              </a:solidFill>
              <a:latin typeface="Quicksand"/>
              <a:ea typeface="Quicksand"/>
              <a:cs typeface="Quicksand"/>
              <a:sym typeface="Quicksand"/>
            </a:endParaRPr>
          </a:p>
          <a:p>
            <a:pPr marL="0" marR="0" lvl="0" indent="0" algn="l" rtl="0">
              <a:lnSpc>
                <a:spcPct val="100000"/>
              </a:lnSpc>
              <a:spcBef>
                <a:spcPts val="0"/>
              </a:spcBef>
              <a:spcAft>
                <a:spcPts val="0"/>
              </a:spcAft>
              <a:buNone/>
            </a:pPr>
            <a:r>
              <a:rPr lang="en-US" sz="1800" b="0" i="0" u="none" strike="noStrike" cap="none">
                <a:solidFill>
                  <a:srgbClr val="000000"/>
                </a:solidFill>
                <a:latin typeface="Quicksand"/>
                <a:ea typeface="Quicksand"/>
                <a:cs typeface="Quicksand"/>
                <a:sym typeface="Quicksand"/>
              </a:rPr>
              <a:t>At inference, we drop the encoder and randomly sample from the latent distributional space (synthesize a random vector of values). We use that, along with a textual prompt, to synthesize a new image.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6"/>
          <p:cNvSpPr txBox="1"/>
          <p:nvPr/>
        </p:nvSpPr>
        <p:spPr>
          <a:xfrm>
            <a:off x="1628173" y="586938"/>
            <a:ext cx="893565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Encoder</a:t>
            </a:r>
            <a:endParaRPr sz="1400" b="0" i="0" u="none" strike="noStrike" cap="none" dirty="0">
              <a:solidFill>
                <a:srgbClr val="000000"/>
              </a:solidFill>
              <a:latin typeface="Arial"/>
              <a:ea typeface="Arial"/>
              <a:cs typeface="Arial"/>
              <a:sym typeface="Arial"/>
            </a:endParaRPr>
          </a:p>
        </p:txBody>
      </p:sp>
      <p:pic>
        <p:nvPicPr>
          <p:cNvPr id="279" name="Google Shape;279;p56"/>
          <p:cNvPicPr preferRelativeResize="0"/>
          <p:nvPr/>
        </p:nvPicPr>
        <p:blipFill rotWithShape="1">
          <a:blip r:embed="rId3">
            <a:alphaModFix/>
          </a:blip>
          <a:srcRect/>
          <a:stretch/>
        </p:blipFill>
        <p:spPr>
          <a:xfrm>
            <a:off x="2209800" y="3173230"/>
            <a:ext cx="7772400" cy="2571833"/>
          </a:xfrm>
          <a:prstGeom prst="rect">
            <a:avLst/>
          </a:prstGeom>
          <a:noFill/>
          <a:ln>
            <a:noFill/>
          </a:ln>
        </p:spPr>
      </p:pic>
      <p:sp>
        <p:nvSpPr>
          <p:cNvPr id="280" name="Google Shape;280;p56"/>
          <p:cNvSpPr txBox="1"/>
          <p:nvPr/>
        </p:nvSpPr>
        <p:spPr>
          <a:xfrm>
            <a:off x="1325302" y="1741584"/>
            <a:ext cx="9541395"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Quicksand"/>
                <a:ea typeface="Quicksand"/>
                <a:cs typeface="Quicksand"/>
                <a:sym typeface="Quicksand"/>
              </a:rPr>
              <a:t>The encoder takes in the image and compresses it with convolutions (like our image sharpening task). Two output layers produce the parameters of a bivariate normal distribution: one Dense(2) layer outputs 2 means, another Dense(2) outputs 2 log-variances.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7"/>
          <p:cNvSpPr txBox="1"/>
          <p:nvPr/>
        </p:nvSpPr>
        <p:spPr>
          <a:xfrm>
            <a:off x="1628173" y="586938"/>
            <a:ext cx="893565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Arial"/>
                <a:cs typeface="Arial"/>
                <a:sym typeface="Economica"/>
              </a:rPr>
              <a:t>Decoder</a:t>
            </a:r>
            <a:endParaRPr sz="1400" b="0" i="0" u="none" strike="noStrike" cap="none" dirty="0">
              <a:solidFill>
                <a:srgbClr val="000000"/>
              </a:solidFill>
              <a:latin typeface="Arial"/>
              <a:ea typeface="Arial"/>
              <a:cs typeface="Arial"/>
              <a:sym typeface="Arial"/>
            </a:endParaRPr>
          </a:p>
        </p:txBody>
      </p:sp>
      <p:sp>
        <p:nvSpPr>
          <p:cNvPr id="286" name="Google Shape;286;p57"/>
          <p:cNvSpPr txBox="1"/>
          <p:nvPr/>
        </p:nvSpPr>
        <p:spPr>
          <a:xfrm>
            <a:off x="1325301" y="2031910"/>
            <a:ext cx="9541395"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Quicksand"/>
                <a:ea typeface="Quicksand"/>
                <a:cs typeface="Quicksand"/>
                <a:sym typeface="Quicksand"/>
              </a:rPr>
              <a:t>We sample a 2-element vector from the bivariate normal defined by the encoder's means and log-variances (the reparameterization trick). The decoder takes this sampled vector and up-samples it back into an image.</a:t>
            </a:r>
            <a:endParaRPr dirty="0"/>
          </a:p>
        </p:txBody>
      </p:sp>
      <p:pic>
        <p:nvPicPr>
          <p:cNvPr id="287" name="Google Shape;287;p57"/>
          <p:cNvPicPr preferRelativeResize="0"/>
          <p:nvPr/>
        </p:nvPicPr>
        <p:blipFill rotWithShape="1">
          <a:blip r:embed="rId3">
            <a:alphaModFix/>
          </a:blip>
          <a:srcRect/>
          <a:stretch/>
        </p:blipFill>
        <p:spPr>
          <a:xfrm>
            <a:off x="2209799" y="3199884"/>
            <a:ext cx="7772400" cy="14305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586938"/>
            <a:ext cx="10972800" cy="923330"/>
          </a:xfrm>
          <a:prstGeom prst="rect">
            <a:avLst/>
          </a:prstGeom>
          <a:noFill/>
        </p:spPr>
        <p:txBody>
          <a:bodyPr wrap="square">
            <a:spAutoFit/>
          </a:bodyPr>
          <a:lstStyle/>
          <a:p>
            <a:r>
              <a:rPr sz="5400" b="0" dirty="0">
                <a:latin typeface="Economica"/>
              </a:rPr>
              <a:t>Generative </a:t>
            </a:r>
            <a:r>
              <a:rPr lang="en-US" sz="5400" b="0" dirty="0">
                <a:latin typeface="Economica"/>
              </a:rPr>
              <a:t>Music</a:t>
            </a:r>
            <a:r>
              <a:rPr sz="5400" b="0" dirty="0">
                <a:latin typeface="Economica"/>
              </a:rPr>
              <a:t> Models</a:t>
            </a:r>
          </a:p>
        </p:txBody>
      </p:sp>
      <p:sp>
        <p:nvSpPr>
          <p:cNvPr id="6" name="TextBox 5"/>
          <p:cNvSpPr txBox="1"/>
          <p:nvPr/>
        </p:nvSpPr>
        <p:spPr>
          <a:xfrm>
            <a:off x="609600" y="1674421"/>
            <a:ext cx="9869582" cy="1056700"/>
          </a:xfrm>
          <a:prstGeom prst="rect">
            <a:avLst/>
          </a:prstGeom>
          <a:noFill/>
        </p:spPr>
        <p:txBody>
          <a:bodyPr wrap="square">
            <a:spAutoFit/>
          </a:bodyPr>
          <a:lstStyle/>
          <a:p>
            <a:r>
              <a:rPr sz="2000" b="1" dirty="0"/>
              <a:t>Applying Transformers to Music Generation</a:t>
            </a:r>
          </a:p>
          <a:p>
            <a:pPr>
              <a:spcBef>
                <a:spcPts val="800"/>
              </a:spcBef>
            </a:pPr>
            <a:r>
              <a:rPr sz="1800" dirty="0"/>
              <a:t>How can we generate music with neural networks?</a:t>
            </a:r>
            <a:r>
              <a:rPr lang="en-US" sz="1800" dirty="0"/>
              <a:t> </a:t>
            </a:r>
            <a:r>
              <a:rPr sz="1800" dirty="0"/>
              <a:t>How do we tokenize audio for sequence modeling?</a:t>
            </a:r>
            <a:r>
              <a:rPr lang="en-US" sz="1800" dirty="0"/>
              <a:t> </a:t>
            </a:r>
            <a:r>
              <a:rPr sz="1800" dirty="0"/>
              <a:t>What architectural modifications help with music?</a:t>
            </a:r>
          </a:p>
        </p:txBody>
      </p:sp>
      <p:pic>
        <p:nvPicPr>
          <p:cNvPr id="7" name="Picture 6" descr="slide15.png"/>
          <p:cNvPicPr>
            <a:picLocks noChangeAspect="1"/>
          </p:cNvPicPr>
          <p:nvPr/>
        </p:nvPicPr>
        <p:blipFill>
          <a:blip r:embed="rId2"/>
          <a:stretch>
            <a:fillRect/>
          </a:stretch>
        </p:blipFill>
        <p:spPr>
          <a:xfrm>
            <a:off x="3810000" y="3429000"/>
            <a:ext cx="4572000" cy="255181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444434"/>
            <a:ext cx="10972800" cy="923330"/>
          </a:xfrm>
          <a:prstGeom prst="rect">
            <a:avLst/>
          </a:prstGeom>
          <a:noFill/>
        </p:spPr>
        <p:txBody>
          <a:bodyPr wrap="square">
            <a:spAutoFit/>
          </a:bodyPr>
          <a:lstStyle/>
          <a:p>
            <a:pPr algn="ctr"/>
            <a:r>
              <a:rPr lang="en-US" sz="5400" b="0" dirty="0">
                <a:latin typeface="Economica"/>
              </a:rPr>
              <a:t>What is MIDI?</a:t>
            </a:r>
            <a:endParaRPr sz="5400" b="0" dirty="0">
              <a:latin typeface="Economica"/>
            </a:endParaRPr>
          </a:p>
        </p:txBody>
      </p:sp>
      <p:sp>
        <p:nvSpPr>
          <p:cNvPr id="6" name="TextBox 5"/>
          <p:cNvSpPr txBox="1"/>
          <p:nvPr/>
        </p:nvSpPr>
        <p:spPr>
          <a:xfrm>
            <a:off x="609600" y="1699856"/>
            <a:ext cx="10972800" cy="1554272"/>
          </a:xfrm>
          <a:prstGeom prst="rect">
            <a:avLst/>
          </a:prstGeom>
          <a:noFill/>
        </p:spPr>
        <p:txBody>
          <a:bodyPr wrap="square">
            <a:spAutoFit/>
          </a:bodyPr>
          <a:lstStyle/>
          <a:p>
            <a:pPr>
              <a:spcAft>
                <a:spcPts val="600"/>
              </a:spcAft>
            </a:pPr>
            <a:r>
              <a:rPr lang="en-US" sz="1800" b="1" dirty="0">
                <a:latin typeface="Quicksand" pitchFamily="2" charset="77"/>
              </a:rPr>
              <a:t>Musical Instrument Digital Interface (MIDI)</a:t>
            </a:r>
            <a:endParaRPr sz="1800" b="1" dirty="0">
              <a:latin typeface="Quicksand" pitchFamily="2" charset="77"/>
            </a:endParaRPr>
          </a:p>
          <a:p>
            <a:pPr marL="285750" indent="-285750">
              <a:spcAft>
                <a:spcPts val="600"/>
              </a:spcAft>
              <a:buFont typeface="Arial" panose="020B0604020202020204" pitchFamily="34" charset="0"/>
              <a:buChar char="•"/>
            </a:pPr>
            <a:r>
              <a:rPr sz="1800" b="0" dirty="0">
                <a:latin typeface="Arial"/>
              </a:rPr>
              <a:t>MIDI stores musical events, not audio waveforms -- digital sheet music.</a:t>
            </a:r>
            <a:r>
              <a:rPr lang="en-US" sz="1800" b="0" dirty="0">
                <a:latin typeface="Arial"/>
              </a:rPr>
              <a:t> </a:t>
            </a:r>
            <a:r>
              <a:rPr sz="1800" b="0" dirty="0">
                <a:latin typeface="Arial"/>
              </a:rPr>
              <a:t>Events</a:t>
            </a:r>
            <a:r>
              <a:rPr lang="en-US" sz="1800" dirty="0"/>
              <a:t> are things like</a:t>
            </a:r>
            <a:r>
              <a:rPr sz="1800" b="0" dirty="0">
                <a:latin typeface="Arial"/>
              </a:rPr>
              <a:t> Note On/Off, Time Shift (wait), Velocity (loudness).</a:t>
            </a:r>
            <a:r>
              <a:rPr lang="en-US" sz="1800" b="0" dirty="0">
                <a:latin typeface="Arial"/>
              </a:rPr>
              <a:t> </a:t>
            </a:r>
            <a:r>
              <a:rPr sz="1800" b="0" dirty="0">
                <a:latin typeface="Arial"/>
              </a:rPr>
              <a:t>Each event maps to an integer token -- just like words in text models.</a:t>
            </a:r>
            <a:r>
              <a:rPr lang="en-US" sz="1800" b="0" dirty="0">
                <a:latin typeface="Arial"/>
              </a:rPr>
              <a:t> </a:t>
            </a:r>
            <a:r>
              <a:rPr sz="1800" b="0" dirty="0">
                <a:latin typeface="Arial"/>
              </a:rPr>
              <a:t>A piano piece = ~10,000+ tokens a Transformer can learn to predict.</a:t>
            </a:r>
            <a:r>
              <a:rPr lang="en-US" sz="1800" b="0" dirty="0">
                <a:latin typeface="Arial"/>
              </a:rPr>
              <a:t> </a:t>
            </a:r>
            <a:r>
              <a:rPr sz="1800" b="0" dirty="0">
                <a:latin typeface="Arial"/>
              </a:rPr>
              <a:t>Same next-token prediction as Shakespeare &amp; Mini GPT, new modality.</a:t>
            </a:r>
          </a:p>
        </p:txBody>
      </p:sp>
      <p:pic>
        <p:nvPicPr>
          <p:cNvPr id="7" name="Picture 6" descr="slide16.png"/>
          <p:cNvPicPr>
            <a:picLocks noChangeAspect="1"/>
          </p:cNvPicPr>
          <p:nvPr/>
        </p:nvPicPr>
        <p:blipFill>
          <a:blip r:embed="rId2"/>
          <a:stretch>
            <a:fillRect/>
          </a:stretch>
        </p:blipFill>
        <p:spPr>
          <a:xfrm>
            <a:off x="3328060" y="3429000"/>
            <a:ext cx="5535880" cy="308979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586938"/>
            <a:ext cx="10972800" cy="923330"/>
          </a:xfrm>
          <a:prstGeom prst="rect">
            <a:avLst/>
          </a:prstGeom>
          <a:noFill/>
        </p:spPr>
        <p:txBody>
          <a:bodyPr wrap="square">
            <a:spAutoFit/>
          </a:bodyPr>
          <a:lstStyle/>
          <a:p>
            <a:r>
              <a:rPr sz="5400" b="0">
                <a:latin typeface="Economica"/>
              </a:rPr>
              <a:t>MIDI Tokenization</a:t>
            </a:r>
          </a:p>
        </p:txBody>
      </p:sp>
      <p:sp>
        <p:nvSpPr>
          <p:cNvPr id="6" name="TextBox 5"/>
          <p:cNvSpPr txBox="1"/>
          <p:nvPr/>
        </p:nvSpPr>
        <p:spPr>
          <a:xfrm>
            <a:off x="609600" y="1843644"/>
            <a:ext cx="4841174" cy="2970044"/>
          </a:xfrm>
          <a:prstGeom prst="rect">
            <a:avLst/>
          </a:prstGeom>
          <a:noFill/>
        </p:spPr>
        <p:txBody>
          <a:bodyPr wrap="square">
            <a:spAutoFit/>
          </a:bodyPr>
          <a:lstStyle/>
          <a:p>
            <a:pPr>
              <a:spcAft>
                <a:spcPts val="600"/>
              </a:spcAft>
            </a:pPr>
            <a:r>
              <a:rPr sz="1800" b="1" dirty="0">
                <a:latin typeface="Arial"/>
              </a:rPr>
              <a:t>Four Event Types Map to Integer Ranges</a:t>
            </a:r>
          </a:p>
          <a:p>
            <a:pPr marL="285750" indent="-285750">
              <a:spcAft>
                <a:spcPts val="600"/>
              </a:spcAft>
              <a:buFont typeface="Arial" panose="020B0604020202020204" pitchFamily="34" charset="0"/>
              <a:buChar char="•"/>
            </a:pPr>
            <a:r>
              <a:rPr sz="1600" b="0" dirty="0">
                <a:latin typeface="Arial"/>
              </a:rPr>
              <a:t>Note On (0-127): Start a pitch. Token 60 = Middle C.</a:t>
            </a:r>
            <a:endParaRPr lang="en-US" sz="1600" b="0" dirty="0">
              <a:latin typeface="Arial"/>
            </a:endParaRPr>
          </a:p>
          <a:p>
            <a:pPr marL="285750" indent="-285750">
              <a:spcAft>
                <a:spcPts val="600"/>
              </a:spcAft>
              <a:buFont typeface="Arial" panose="020B0604020202020204" pitchFamily="34" charset="0"/>
              <a:buChar char="•"/>
            </a:pPr>
            <a:r>
              <a:rPr sz="1600" b="0" dirty="0">
                <a:latin typeface="Arial"/>
              </a:rPr>
              <a:t>Note Off (128-255): Stop a pitch. Token 188 = release Middle C.</a:t>
            </a:r>
            <a:endParaRPr lang="en-US" sz="1600" b="0" dirty="0">
              <a:latin typeface="Arial"/>
            </a:endParaRPr>
          </a:p>
          <a:p>
            <a:pPr marL="285750" indent="-285750">
              <a:spcAft>
                <a:spcPts val="600"/>
              </a:spcAft>
              <a:buFont typeface="Arial" panose="020B0604020202020204" pitchFamily="34" charset="0"/>
              <a:buChar char="•"/>
            </a:pPr>
            <a:r>
              <a:rPr sz="1600" b="0" dirty="0">
                <a:latin typeface="Arial"/>
              </a:rPr>
              <a:t>Time Shift (256-355): Wait in 10ms steps (up to 1s).</a:t>
            </a:r>
            <a:endParaRPr lang="en-US" sz="1600" b="0" dirty="0">
              <a:latin typeface="Arial"/>
            </a:endParaRPr>
          </a:p>
          <a:p>
            <a:pPr marL="285750" indent="-285750">
              <a:spcAft>
                <a:spcPts val="600"/>
              </a:spcAft>
              <a:buFont typeface="Arial" panose="020B0604020202020204" pitchFamily="34" charset="0"/>
              <a:buChar char="•"/>
            </a:pPr>
            <a:r>
              <a:rPr sz="1600" b="0" dirty="0">
                <a:latin typeface="Arial"/>
              </a:rPr>
              <a:t>Velocity (356-387): Loudness (32 levels).</a:t>
            </a:r>
            <a:endParaRPr lang="en-US" sz="1600" b="0" dirty="0">
              <a:latin typeface="Arial"/>
            </a:endParaRPr>
          </a:p>
          <a:p>
            <a:pPr marL="285750" indent="-285750">
              <a:spcAft>
                <a:spcPts val="600"/>
              </a:spcAft>
              <a:buFont typeface="Arial" panose="020B0604020202020204" pitchFamily="34" charset="0"/>
              <a:buChar char="•"/>
            </a:pPr>
            <a:r>
              <a:rPr sz="1600" b="0" dirty="0">
                <a:latin typeface="Arial"/>
              </a:rPr>
              <a:t>Total vocab: 391 tokens (388 MIDI + 3 special). Compare: ~30K for GPT!</a:t>
            </a:r>
          </a:p>
        </p:txBody>
      </p:sp>
      <p:pic>
        <p:nvPicPr>
          <p:cNvPr id="7" name="Picture 6" descr="slide17.png"/>
          <p:cNvPicPr>
            <a:picLocks noChangeAspect="1"/>
          </p:cNvPicPr>
          <p:nvPr/>
        </p:nvPicPr>
        <p:blipFill>
          <a:blip r:embed="rId2"/>
          <a:stretch>
            <a:fillRect/>
          </a:stretch>
        </p:blipFill>
        <p:spPr>
          <a:xfrm>
            <a:off x="5901543" y="1843644"/>
            <a:ext cx="5680857" cy="317071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586938"/>
            <a:ext cx="10972800" cy="923330"/>
          </a:xfrm>
          <a:prstGeom prst="rect">
            <a:avLst/>
          </a:prstGeom>
          <a:noFill/>
        </p:spPr>
        <p:txBody>
          <a:bodyPr wrap="square">
            <a:spAutoFit/>
          </a:bodyPr>
          <a:lstStyle/>
          <a:p>
            <a:r>
              <a:rPr sz="5400" b="0">
                <a:latin typeface="Economica"/>
              </a:rPr>
              <a:t>The Music Transformer</a:t>
            </a:r>
          </a:p>
        </p:txBody>
      </p:sp>
      <p:sp>
        <p:nvSpPr>
          <p:cNvPr id="6" name="TextBox 5"/>
          <p:cNvSpPr txBox="1"/>
          <p:nvPr/>
        </p:nvSpPr>
        <p:spPr>
          <a:xfrm>
            <a:off x="731520" y="1982450"/>
            <a:ext cx="5364480" cy="2893100"/>
          </a:xfrm>
          <a:prstGeom prst="rect">
            <a:avLst/>
          </a:prstGeom>
          <a:noFill/>
        </p:spPr>
        <p:txBody>
          <a:bodyPr wrap="square">
            <a:spAutoFit/>
          </a:bodyPr>
          <a:lstStyle/>
          <a:p>
            <a:pPr>
              <a:spcAft>
                <a:spcPts val="600"/>
              </a:spcAft>
            </a:pPr>
            <a:r>
              <a:rPr sz="1800" b="1" dirty="0">
                <a:latin typeface="Arial"/>
              </a:rPr>
              <a:t>Decoder-Only Transformer + Relative Attention</a:t>
            </a:r>
          </a:p>
          <a:p>
            <a:pPr marL="285750" indent="-285750">
              <a:spcAft>
                <a:spcPts val="600"/>
              </a:spcAft>
              <a:buFont typeface="Arial" panose="020B0604020202020204" pitchFamily="34" charset="0"/>
              <a:buChar char="•"/>
            </a:pPr>
            <a:r>
              <a:rPr sz="1600" b="0" dirty="0">
                <a:latin typeface="Arial"/>
              </a:rPr>
              <a:t>Same architecture as Mini GPT: stacked blocks with causal masking.</a:t>
            </a:r>
            <a:endParaRPr lang="en-US" sz="1600" b="0" dirty="0">
              <a:latin typeface="Arial"/>
            </a:endParaRPr>
          </a:p>
          <a:p>
            <a:pPr marL="285750" indent="-285750">
              <a:spcAft>
                <a:spcPts val="600"/>
              </a:spcAft>
              <a:buFont typeface="Arial" panose="020B0604020202020204" pitchFamily="34" charset="0"/>
              <a:buChar char="•"/>
            </a:pPr>
            <a:r>
              <a:rPr sz="1600" b="0" dirty="0">
                <a:latin typeface="Arial"/>
              </a:rPr>
              <a:t>Key change: relative positional attention replaces fixed embeddings.</a:t>
            </a:r>
            <a:endParaRPr lang="en-US" sz="1600" b="0" dirty="0">
              <a:latin typeface="Arial"/>
            </a:endParaRPr>
          </a:p>
          <a:p>
            <a:pPr marL="285750" indent="-285750">
              <a:spcAft>
                <a:spcPts val="600"/>
              </a:spcAft>
              <a:buFont typeface="Arial" panose="020B0604020202020204" pitchFamily="34" charset="0"/>
              <a:buChar char="•"/>
            </a:pPr>
            <a:r>
              <a:rPr sz="1600" b="0" dirty="0">
                <a:latin typeface="Arial"/>
              </a:rPr>
              <a:t>Standard embeddings encode where a token is (position 0, 1, 2...).</a:t>
            </a:r>
            <a:endParaRPr lang="en-US" sz="1600" b="0" dirty="0">
              <a:latin typeface="Arial"/>
            </a:endParaRPr>
          </a:p>
          <a:p>
            <a:pPr marL="285750" indent="-285750">
              <a:spcAft>
                <a:spcPts val="600"/>
              </a:spcAft>
              <a:buFont typeface="Arial" panose="020B0604020202020204" pitchFamily="34" charset="0"/>
              <a:buChar char="•"/>
            </a:pPr>
            <a:r>
              <a:rPr sz="1600" b="0" dirty="0">
                <a:latin typeface="Arial"/>
              </a:rPr>
              <a:t>Relative attention encodes how far apart two tokens are.</a:t>
            </a:r>
            <a:r>
              <a:rPr lang="en-US" sz="1600" b="0" dirty="0">
                <a:latin typeface="Arial"/>
              </a:rPr>
              <a:t> </a:t>
            </a:r>
            <a:r>
              <a:rPr sz="1600" b="0" dirty="0">
                <a:latin typeface="Arial"/>
              </a:rPr>
              <a:t>Intuition: a melody at beat 1 should sound the same at beat 5.</a:t>
            </a:r>
          </a:p>
        </p:txBody>
      </p:sp>
      <p:pic>
        <p:nvPicPr>
          <p:cNvPr id="7" name="Picture 6" descr="slide18.png"/>
          <p:cNvPicPr>
            <a:picLocks noChangeAspect="1"/>
          </p:cNvPicPr>
          <p:nvPr/>
        </p:nvPicPr>
        <p:blipFill>
          <a:blip r:embed="rId2"/>
          <a:stretch>
            <a:fillRect/>
          </a:stretch>
        </p:blipFill>
        <p:spPr>
          <a:xfrm>
            <a:off x="6348548" y="2098104"/>
            <a:ext cx="5389844" cy="300828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586938"/>
            <a:ext cx="10972800" cy="923330"/>
          </a:xfrm>
          <a:prstGeom prst="rect">
            <a:avLst/>
          </a:prstGeom>
          <a:noFill/>
        </p:spPr>
        <p:txBody>
          <a:bodyPr wrap="square">
            <a:spAutoFit/>
          </a:bodyPr>
          <a:lstStyle/>
          <a:p>
            <a:r>
              <a:rPr sz="5400" b="0">
                <a:latin typeface="Economica"/>
              </a:rPr>
              <a:t>Relative Positional Attention</a:t>
            </a:r>
          </a:p>
        </p:txBody>
      </p:sp>
      <p:sp>
        <p:nvSpPr>
          <p:cNvPr id="6" name="TextBox 5"/>
          <p:cNvSpPr txBox="1"/>
          <p:nvPr/>
        </p:nvSpPr>
        <p:spPr>
          <a:xfrm>
            <a:off x="995678" y="1858752"/>
            <a:ext cx="10404633" cy="1184940"/>
          </a:xfrm>
          <a:prstGeom prst="rect">
            <a:avLst/>
          </a:prstGeom>
          <a:noFill/>
        </p:spPr>
        <p:txBody>
          <a:bodyPr wrap="square">
            <a:spAutoFit/>
          </a:bodyPr>
          <a:lstStyle/>
          <a:p>
            <a:pPr>
              <a:spcAft>
                <a:spcPts val="600"/>
              </a:spcAft>
            </a:pPr>
            <a:r>
              <a:rPr sz="1800" b="1" dirty="0">
                <a:latin typeface="Arial"/>
              </a:rPr>
              <a:t>Encoding Distance Instead of Position</a:t>
            </a:r>
          </a:p>
          <a:p>
            <a:pPr>
              <a:spcAft>
                <a:spcPts val="600"/>
              </a:spcAft>
            </a:pPr>
            <a:r>
              <a:rPr sz="1600" b="0" dirty="0">
                <a:latin typeface="Arial"/>
              </a:rPr>
              <a:t>Standard: score(</a:t>
            </a:r>
            <a:r>
              <a:rPr sz="1600" b="0" dirty="0" err="1">
                <a:latin typeface="Arial"/>
              </a:rPr>
              <a:t>i,j</a:t>
            </a:r>
            <a:r>
              <a:rPr sz="1600" b="0" dirty="0">
                <a:latin typeface="Arial"/>
              </a:rPr>
              <a:t>) = f(</a:t>
            </a:r>
            <a:r>
              <a:rPr sz="1600" b="0" dirty="0" err="1">
                <a:latin typeface="Arial"/>
              </a:rPr>
              <a:t>q_i</a:t>
            </a:r>
            <a:r>
              <a:rPr sz="1600" b="0" dirty="0">
                <a:latin typeface="Arial"/>
              </a:rPr>
              <a:t>, </a:t>
            </a:r>
            <a:r>
              <a:rPr sz="1600" b="0" dirty="0" err="1">
                <a:latin typeface="Arial"/>
              </a:rPr>
              <a:t>k_j</a:t>
            </a:r>
            <a:r>
              <a:rPr sz="1600" b="0" dirty="0">
                <a:latin typeface="Arial"/>
              </a:rPr>
              <a:t>) + pos(</a:t>
            </a:r>
            <a:r>
              <a:rPr sz="1600" b="0" dirty="0" err="1">
                <a:latin typeface="Arial"/>
              </a:rPr>
              <a:t>i</a:t>
            </a:r>
            <a:r>
              <a:rPr sz="1600" b="0" dirty="0">
                <a:latin typeface="Arial"/>
              </a:rPr>
              <a:t>) + pos(j)</a:t>
            </a:r>
            <a:r>
              <a:rPr lang="en-US" sz="1600" b="0" dirty="0">
                <a:latin typeface="Arial"/>
              </a:rPr>
              <a:t>; </a:t>
            </a:r>
            <a:r>
              <a:rPr sz="1600" b="0" dirty="0">
                <a:latin typeface="Arial"/>
              </a:rPr>
              <a:t>Relative: score(</a:t>
            </a:r>
            <a:r>
              <a:rPr sz="1600" b="0" dirty="0" err="1">
                <a:latin typeface="Arial"/>
              </a:rPr>
              <a:t>i,j</a:t>
            </a:r>
            <a:r>
              <a:rPr sz="1600" b="0" dirty="0">
                <a:latin typeface="Arial"/>
              </a:rPr>
              <a:t>) = f(</a:t>
            </a:r>
            <a:r>
              <a:rPr sz="1600" b="0" dirty="0" err="1">
                <a:latin typeface="Arial"/>
              </a:rPr>
              <a:t>q_i</a:t>
            </a:r>
            <a:r>
              <a:rPr sz="1600" b="0" dirty="0">
                <a:latin typeface="Arial"/>
              </a:rPr>
              <a:t>, </a:t>
            </a:r>
            <a:r>
              <a:rPr sz="1600" b="0" dirty="0" err="1">
                <a:latin typeface="Arial"/>
              </a:rPr>
              <a:t>k_j</a:t>
            </a:r>
            <a:r>
              <a:rPr sz="1600" b="0" dirty="0">
                <a:latin typeface="Arial"/>
              </a:rPr>
              <a:t>) + </a:t>
            </a:r>
            <a:r>
              <a:rPr sz="1600" b="0" dirty="0" err="1">
                <a:latin typeface="Arial"/>
              </a:rPr>
              <a:t>rel_embed</a:t>
            </a:r>
            <a:r>
              <a:rPr sz="1600" b="0" dirty="0">
                <a:latin typeface="Arial"/>
              </a:rPr>
              <a:t>(</a:t>
            </a:r>
            <a:r>
              <a:rPr sz="1600" b="0" dirty="0" err="1">
                <a:latin typeface="Arial"/>
              </a:rPr>
              <a:t>i</a:t>
            </a:r>
            <a:r>
              <a:rPr sz="1600" b="0" dirty="0">
                <a:latin typeface="Arial"/>
              </a:rPr>
              <a:t> - j)</a:t>
            </a:r>
            <a:r>
              <a:rPr lang="en-US" sz="1600" b="0" dirty="0">
                <a:latin typeface="Arial"/>
              </a:rPr>
              <a:t>. </a:t>
            </a:r>
            <a:r>
              <a:rPr sz="1600" b="0" dirty="0">
                <a:latin typeface="Arial"/>
              </a:rPr>
              <a:t>Learn embeddings for each possible distance in the sequence.</a:t>
            </a:r>
            <a:r>
              <a:rPr lang="en-US" sz="1600" b="0" dirty="0">
                <a:latin typeface="Arial"/>
              </a:rPr>
              <a:t> </a:t>
            </a:r>
            <a:r>
              <a:rPr sz="1600" b="0" dirty="0">
                <a:latin typeface="Arial"/>
              </a:rPr>
              <a:t>Biases attention toward musically meaningful distances</a:t>
            </a:r>
            <a:r>
              <a:rPr lang="en-US" sz="1600" dirty="0"/>
              <a:t> and m</a:t>
            </a:r>
            <a:r>
              <a:rPr sz="1600" b="0" dirty="0">
                <a:latin typeface="Arial"/>
              </a:rPr>
              <a:t>akes the model translation-invariant in time.</a:t>
            </a:r>
          </a:p>
        </p:txBody>
      </p:sp>
      <p:pic>
        <p:nvPicPr>
          <p:cNvPr id="7" name="Picture 6" descr="slide19.png"/>
          <p:cNvPicPr>
            <a:picLocks noChangeAspect="1"/>
          </p:cNvPicPr>
          <p:nvPr/>
        </p:nvPicPr>
        <p:blipFill>
          <a:blip r:embed="rId2"/>
          <a:stretch>
            <a:fillRect/>
          </a:stretch>
        </p:blipFill>
        <p:spPr>
          <a:xfrm>
            <a:off x="3810000" y="3534788"/>
            <a:ext cx="4572000" cy="255181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10C0B536-91FC-B0E8-73CD-8F25A7324F40}"/>
            </a:ext>
          </a:extLst>
        </p:cNvPr>
        <p:cNvGrpSpPr/>
        <p:nvPr/>
      </p:nvGrpSpPr>
      <p:grpSpPr>
        <a:xfrm>
          <a:off x="0" y="0"/>
          <a:ext cx="0" cy="0"/>
          <a:chOff x="0" y="0"/>
          <a:chExt cx="0" cy="0"/>
        </a:xfrm>
      </p:grpSpPr>
      <p:sp>
        <p:nvSpPr>
          <p:cNvPr id="340" name="Google Shape;340;p17">
            <a:extLst>
              <a:ext uri="{FF2B5EF4-FFF2-40B4-BE49-F238E27FC236}">
                <a16:creationId xmlns:a16="http://schemas.microsoft.com/office/drawing/2014/main" id="{720DB44C-6188-89EE-6A0B-40BF3A474D2D}"/>
              </a:ext>
            </a:extLst>
          </p:cNvPr>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4166553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1353</Words>
  <Application>Microsoft Macintosh PowerPoint</Application>
  <PresentationFormat>Widescreen</PresentationFormat>
  <Paragraphs>104</Paragraphs>
  <Slides>20</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Economica</vt:lpstr>
      <vt:lpstr>Quicksand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Gordon Burtch</dc:creator>
  <cp:lastModifiedBy>Burtch, Gordon</cp:lastModifiedBy>
  <cp:revision>19</cp:revision>
  <dcterms:created xsi:type="dcterms:W3CDTF">2019-12-28T13:51:56Z</dcterms:created>
  <dcterms:modified xsi:type="dcterms:W3CDTF">2026-04-03T18:31:08Z</dcterms:modified>
</cp:coreProperties>
</file>