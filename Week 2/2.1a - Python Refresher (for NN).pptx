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54" d="100"/>
          <a:sy n="154" d="100"/>
        </p:scale>
        <p:origin x="8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12221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94560"/>
                </a:solidFill>
                <a:latin typeface="Arial"/>
              </a:defRPr>
            </a:pPr>
            <a:r>
              <a:t>FAST REFRESHER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87978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Python for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1949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8C0D8"/>
                </a:solidFill>
                <a:latin typeface="Arial"/>
              </a:defRPr>
            </a:pPr>
            <a:r>
              <a:t>Essential Concepts for Keras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8C0D8"/>
                </a:solidFill>
                <a:latin typeface="Arial"/>
              </a:defRPr>
            </a:pPr>
            <a:r>
              <a:t>What you need to know before training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99A728-3FE9-B9A1-3FBA-25F768FB3C8C}"/>
              </a:ext>
            </a:extLst>
          </p:cNvPr>
          <p:cNvSpPr txBox="1"/>
          <p:nvPr/>
        </p:nvSpPr>
        <p:spPr>
          <a:xfrm>
            <a:off x="3528753" y="3291840"/>
            <a:ext cx="208649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 Claude Opus 4.5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(minor formatting edits by Gord)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rPr dirty="0"/>
              <a:t>Integers and Floats: Scalars </a:t>
            </a:r>
            <a:r>
              <a:rPr lang="en-US" dirty="0"/>
              <a:t>in</a:t>
            </a:r>
            <a:r>
              <a:rPr dirty="0"/>
              <a:t>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WHERE THEY APPEAR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2004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EC8E3"/>
                </a:solidFill>
                <a:latin typeface="Arial"/>
              </a:defRPr>
            </a:pPr>
            <a:r>
              <a:t>Integers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• epochs (training iterations)</a:t>
            </a:r>
            <a:br/>
            <a:r>
              <a:t>• batch_size (samples per update)</a:t>
            </a:r>
            <a:br/>
            <a:r>
              <a:t>• number of layers/units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86000"/>
            <a:ext cx="32004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EC8E3"/>
                </a:solidFill>
                <a:latin typeface="Arial"/>
              </a:defRPr>
            </a:pPr>
            <a:r>
              <a:t>Floats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60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• learning_rate (step size)</a:t>
            </a:r>
            <a:br/>
            <a:r>
              <a:t>• dropout_rate (regularization)</a:t>
            </a:r>
            <a:br/>
            <a:r>
              <a:t>• loss values,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383280"/>
            <a:ext cx="3200400" cy="54864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4D03"/>
                </a:solidFill>
                <a:latin typeface="Arial"/>
              </a:defRPr>
            </a:pPr>
            <a:r>
              <a:t>Watch out: Type mismatches cause silent bugs or cryptic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868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188720"/>
            <a:ext cx="5029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Hyperparameters you'll constantly tune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epochs = 50              # int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batch_size</a:t>
            </a:r>
            <a:r>
              <a:rPr dirty="0"/>
              <a:t> = 32          # int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learning_rate</a:t>
            </a:r>
            <a:r>
              <a:rPr dirty="0"/>
              <a:t> = 0.001    # float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dropout_rate</a:t>
            </a:r>
            <a:r>
              <a:rPr dirty="0"/>
              <a:t> = 0.25      # float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Using in </a:t>
            </a:r>
            <a:r>
              <a:rPr dirty="0" err="1"/>
              <a:t>model.fit</a:t>
            </a:r>
            <a:r>
              <a:rPr dirty="0"/>
              <a:t>()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model.fit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  epochs=epochs,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  </a:t>
            </a:r>
            <a:r>
              <a:rPr dirty="0" err="1"/>
              <a:t>batch_size</a:t>
            </a:r>
            <a:r>
              <a:rPr dirty="0"/>
              <a:t>=</a:t>
            </a:r>
            <a:r>
              <a:rPr dirty="0" err="1"/>
              <a:t>batch_size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Strings: Configuration and Bookkeeping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WHERE THEY APPEAR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926080" cy="16459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13E"/>
                </a:solidFill>
                <a:latin typeface="Arial"/>
              </a:defRPr>
            </a:pPr>
            <a:r>
              <a:t>• Loss functions by name</a:t>
            </a:r>
            <a:br/>
            <a:r>
              <a:t>• Optimizers by name</a:t>
            </a:r>
            <a:br/>
            <a:r>
              <a:t>• Metrics specification</a:t>
            </a:r>
            <a:br/>
            <a:r>
              <a:t>• File paths for saving/loading</a:t>
            </a:r>
            <a:br/>
            <a:r>
              <a:t>• Plot labels and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926080"/>
            <a:ext cx="2926080" cy="640080"/>
          </a:xfrm>
          <a:prstGeom prst="round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55160"/>
                </a:solidFill>
                <a:latin typeface="Arial"/>
              </a:defRPr>
            </a:pPr>
            <a:r>
              <a:t>Tip: String arguments are convenient but provide no autocomplete. Consult the docs for valid options.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5303520" cy="23774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Keras</a:t>
            </a:r>
            <a:r>
              <a:rPr dirty="0"/>
              <a:t> accepts string names for common components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model.compile</a:t>
            </a:r>
            <a:r>
              <a:rPr dirty="0"/>
              <a:t>(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optimizer='</a:t>
            </a:r>
            <a:r>
              <a:rPr dirty="0" err="1"/>
              <a:t>adam</a:t>
            </a:r>
            <a:r>
              <a:rPr dirty="0"/>
              <a:t>',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loss='</a:t>
            </a:r>
            <a:r>
              <a:rPr dirty="0" err="1"/>
              <a:t>categorical_crossentropy</a:t>
            </a:r>
            <a:r>
              <a:rPr dirty="0"/>
              <a:t>',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metrics=['accuracy']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File operations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model.save</a:t>
            </a:r>
            <a:r>
              <a:rPr dirty="0"/>
              <a:t>('models/my_classifier.h5')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model = </a:t>
            </a:r>
            <a:r>
              <a:rPr dirty="0" err="1"/>
              <a:t>keras.models.load_model</a:t>
            </a:r>
            <a:r>
              <a:rPr dirty="0"/>
              <a:t>('models/my_classifier.h5')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Booleans: Flags and Switches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WHERE THEY APPEAR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926080" cy="146304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13E"/>
                </a:solidFill>
                <a:latin typeface="Arial"/>
              </a:defRPr>
            </a:pPr>
            <a:r>
              <a:t>• shuffle data between epochs</a:t>
            </a:r>
            <a:br/>
            <a:r>
              <a:t>• verbose output control</a:t>
            </a:r>
            <a:br/>
            <a:r>
              <a:t>• validation split enabling</a:t>
            </a:r>
            <a:br/>
            <a:r>
              <a:t>• callback conditions</a:t>
            </a:r>
            <a:br/>
            <a:r>
              <a:t>• save_best_only flags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43200"/>
            <a:ext cx="2926080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4D03"/>
                </a:solidFill>
                <a:latin typeface="Arial"/>
              </a:defRPr>
            </a:pPr>
            <a:r>
              <a:t>Watch out: Setting shuffle=False can cause training to memorize batch order rather than learn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5303520" cy="267669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history = </a:t>
            </a:r>
            <a:r>
              <a:rPr dirty="0" err="1"/>
              <a:t>model.fit</a:t>
            </a:r>
            <a:r>
              <a:rPr dirty="0"/>
              <a:t>(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epochs=20,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shuffle=True,         # default=True, randomizes each epoch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verbose=1,            # 0=silent, 1=bar, 2=line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validation_split</a:t>
            </a:r>
            <a:r>
              <a:rPr dirty="0"/>
              <a:t>=0.2  # hold out 20%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Conditional training behavior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if </a:t>
            </a:r>
            <a:r>
              <a:rPr dirty="0" err="1"/>
              <a:t>use_early_stopping</a:t>
            </a:r>
            <a:r>
              <a:rPr dirty="0"/>
              <a:t>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callbacks.append</a:t>
            </a:r>
            <a:r>
              <a:rPr dirty="0"/>
              <a:t>(</a:t>
            </a:r>
            <a:r>
              <a:rPr dirty="0" err="1"/>
              <a:t>EarlyStopping</a:t>
            </a:r>
            <a:r>
              <a:rPr dirty="0"/>
              <a:t>(patience=5))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Lists and Tuples: Collections in Keras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4114800" cy="365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Lists — Ordered, Mutable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Callbacks, metrics, layer collections</a:t>
            </a:r>
            <a:br/>
            <a:r>
              <a:t>• metrics=['accuracy', 'precision']</a:t>
            </a:r>
            <a:br/>
            <a:r>
              <a:t>• callbacks=[EarlyStopping(), Checkpoint()]</a:t>
            </a:r>
            <a:br/>
            <a:r>
              <a:t>• history.history['loss'] returns a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4114800" cy="12801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Key operations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losses = </a:t>
            </a:r>
            <a:r>
              <a:rPr dirty="0" err="1"/>
              <a:t>history.history</a:t>
            </a:r>
            <a:r>
              <a:rPr dirty="0"/>
              <a:t>['loss']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losses[0]     # first element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losses[-1]    # last element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losses[1:5]   # slicing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22960"/>
            <a:ext cx="4206240" cy="36576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8686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Tuples — Immutable (Especially Shapes!)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Input shapes, output shapes, function returns</a:t>
            </a:r>
            <a:br/>
            <a:r>
              <a:t>• input_shape=(784,) — 1D features</a:t>
            </a:r>
            <a:br/>
            <a:r>
              <a:t>• input_shape=(28, 28, 1) — 2D image</a:t>
            </a:r>
            <a:br/>
            <a:r>
              <a:t>• X_train.shape returns a tuple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4206240" cy="12801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Shapes are tuples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print(</a:t>
            </a:r>
            <a:r>
              <a:rPr dirty="0" err="1"/>
              <a:t>X_train.shape</a:t>
            </a:r>
            <a:r>
              <a:rPr dirty="0"/>
              <a:t>)  # (60000, 28, 28)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n, h, w = </a:t>
            </a:r>
            <a:r>
              <a:rPr dirty="0" err="1"/>
              <a:t>X_train.shape</a:t>
            </a:r>
            <a:r>
              <a:rPr dirty="0"/>
              <a:t>  # unpacking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Single-element tuples need a comma!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input_shape</a:t>
            </a:r>
            <a:r>
              <a:rPr dirty="0"/>
              <a:t>=(784,)  # correct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474720"/>
            <a:ext cx="4206240" cy="365760"/>
          </a:xfrm>
          <a:prstGeom prst="round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3520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21C24"/>
                </a:solidFill>
                <a:latin typeface="Arial"/>
              </a:defRPr>
            </a:pPr>
            <a:r>
              <a:t>Common pitfall: (784) is an int, (784,) is a tuple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Dictionaries: Key-Value Access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Arial"/>
              </a:defRPr>
            </a:pPr>
            <a:r>
              <a:rPr dirty="0"/>
              <a:t>The most important structure to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WHERE THEY APPEAR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3383280" cy="12801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13E"/>
                </a:solidFill>
                <a:latin typeface="Arial"/>
              </a:defRPr>
            </a:pPr>
            <a:r>
              <a:t>• history.history — training metrics</a:t>
            </a:r>
            <a:br/>
            <a:r>
              <a:t>• model config — hyperparameters</a:t>
            </a:r>
            <a:br/>
            <a:r>
              <a:t>• **kwargs — flexible arguments</a:t>
            </a:r>
            <a:br/>
            <a:r>
              <a:t>• JSON configs and API responses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51760"/>
            <a:ext cx="3383280" cy="6400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5724"/>
                </a:solidFill>
                <a:latin typeface="Arial"/>
              </a:defRPr>
            </a:pPr>
            <a:r>
              <a:t>Essential skill: Reading history.history['metric_name'] is how you extract data for plotting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005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280159"/>
            <a:ext cx="4846320" cy="2668385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Training history is a dictionary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history = </a:t>
            </a:r>
            <a:r>
              <a:rPr dirty="0" err="1"/>
              <a:t>model.fit</a:t>
            </a:r>
            <a:r>
              <a:rPr dirty="0"/>
              <a:t>(X, y, epochs=10, </a:t>
            </a:r>
            <a:r>
              <a:rPr dirty="0" err="1"/>
              <a:t>validation_split</a:t>
            </a:r>
            <a:r>
              <a:rPr dirty="0"/>
              <a:t>=0.2)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print(</a:t>
            </a:r>
            <a:r>
              <a:rPr dirty="0" err="1"/>
              <a:t>history.history.keys</a:t>
            </a:r>
            <a:r>
              <a:rPr dirty="0"/>
              <a:t>())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dict_keys</a:t>
            </a:r>
            <a:r>
              <a:rPr dirty="0"/>
              <a:t>(['loss', 'accuracy', '</a:t>
            </a:r>
            <a:r>
              <a:rPr dirty="0" err="1"/>
              <a:t>val_loss</a:t>
            </a:r>
            <a:r>
              <a:rPr dirty="0"/>
              <a:t>', '</a:t>
            </a:r>
            <a:r>
              <a:rPr dirty="0" err="1"/>
              <a:t>val_accuracy</a:t>
            </a:r>
            <a:r>
              <a:rPr dirty="0"/>
              <a:t>'])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train_loss</a:t>
            </a:r>
            <a:r>
              <a:rPr dirty="0"/>
              <a:t> = </a:t>
            </a:r>
            <a:r>
              <a:rPr dirty="0" err="1"/>
              <a:t>history.history</a:t>
            </a:r>
            <a:r>
              <a:rPr dirty="0"/>
              <a:t>['loss']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val_loss</a:t>
            </a:r>
            <a:r>
              <a:rPr dirty="0"/>
              <a:t> = </a:t>
            </a:r>
            <a:r>
              <a:rPr dirty="0" err="1"/>
              <a:t>history.history</a:t>
            </a:r>
            <a:r>
              <a:rPr dirty="0"/>
              <a:t>['</a:t>
            </a:r>
            <a:r>
              <a:rPr dirty="0" err="1"/>
              <a:t>val_loss</a:t>
            </a:r>
            <a:r>
              <a:rPr dirty="0"/>
              <a:t>']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Passing config as dictionary with **</a:t>
            </a:r>
            <a:r>
              <a:rPr dirty="0" err="1"/>
              <a:t>kwargs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config = {'</a:t>
            </a:r>
            <a:r>
              <a:rPr dirty="0" err="1"/>
              <a:t>learning_rate</a:t>
            </a:r>
            <a:r>
              <a:rPr dirty="0"/>
              <a:t>': 0.001, 'beta_1': 0.9}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optimizer = Adam(**config)  # unpacks to </a:t>
            </a:r>
            <a:r>
              <a:rPr dirty="0" err="1"/>
              <a:t>kwargs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NumPy Arrays: Foundation of Neural Network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WHY ARRAYS, NOT LISTS?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200400" cy="1463040"/>
          </a:xfrm>
          <a:prstGeom prst="roundRect">
            <a:avLst/>
          </a:prstGeom>
          <a:solidFill>
            <a:srgbClr val="1F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• Vectorization: Operations apply</a:t>
            </a:r>
            <a:br/>
            <a:r>
              <a:t>   element-wise without loops</a:t>
            </a:r>
            <a:br/>
            <a:r>
              <a:t>• Memory: Contiguous, typed storage</a:t>
            </a:r>
            <a:br/>
            <a:r>
              <a:t>• Required: Keras/TensorFlow expect</a:t>
            </a:r>
            <a:br/>
            <a:r>
              <a:t>   arrays or tensors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51760"/>
            <a:ext cx="3200400" cy="6400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Golden rule: If you're writing a for-loop over array elements, there's probably a vectorized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822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097279"/>
            <a:ext cx="5029200" cy="3025833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import </a:t>
            </a:r>
            <a:r>
              <a:rPr dirty="0" err="1"/>
              <a:t>numpy</a:t>
            </a:r>
            <a:r>
              <a:rPr dirty="0"/>
              <a:t> as np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Creating arrays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X = </a:t>
            </a:r>
            <a:r>
              <a:rPr dirty="0" err="1"/>
              <a:t>np.array</a:t>
            </a:r>
            <a:r>
              <a:rPr dirty="0"/>
              <a:t>([[1, 2], [3, 4], [5, 6]])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y = </a:t>
            </a:r>
            <a:r>
              <a:rPr dirty="0" err="1"/>
              <a:t>np.zeros</a:t>
            </a:r>
            <a:r>
              <a:rPr dirty="0"/>
              <a:t>((100, 10))     # 100 samples, 10 classes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weights = </a:t>
            </a:r>
            <a:r>
              <a:rPr dirty="0" err="1"/>
              <a:t>np.random.randn</a:t>
            </a:r>
            <a:r>
              <a:rPr dirty="0"/>
              <a:t>(784, 256)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Vectorized operations (no loops!)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X_normalized</a:t>
            </a:r>
            <a:r>
              <a:rPr dirty="0"/>
              <a:t> = X / 255.0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X_centered</a:t>
            </a:r>
            <a:r>
              <a:rPr dirty="0"/>
              <a:t> = X - </a:t>
            </a:r>
            <a:r>
              <a:rPr dirty="0" err="1"/>
              <a:t>X.mean</a:t>
            </a:r>
            <a:r>
              <a:rPr dirty="0"/>
              <a:t>(axis=0)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Reshaping for different layer types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X_flat</a:t>
            </a:r>
            <a:r>
              <a:rPr dirty="0"/>
              <a:t> = </a:t>
            </a:r>
            <a:r>
              <a:rPr dirty="0" err="1"/>
              <a:t>X.reshape</a:t>
            </a:r>
            <a:r>
              <a:rPr dirty="0"/>
              <a:t>(-1, 784)     # Dense layers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X_conv</a:t>
            </a:r>
            <a:r>
              <a:rPr dirty="0"/>
              <a:t> = </a:t>
            </a:r>
            <a:r>
              <a:rPr dirty="0" err="1"/>
              <a:t>X.reshape</a:t>
            </a:r>
            <a:r>
              <a:rPr dirty="0"/>
              <a:t>(-1, 28, 28, 1) # Conv2D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3891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C0D8"/>
                </a:solidFill>
                <a:latin typeface="Arial"/>
              </a:defRPr>
            </a:pPr>
            <a:r>
              <a:t>-1 in reshape means "infer this dimension automatically"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Array Shapes and Broadcasting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Arial"/>
              </a:defRPr>
            </a:pPr>
            <a:r>
              <a:t>Shape mismatches are the #1 source of Keras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CHECKING SHAPES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1148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Always check shapes when debugging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print(</a:t>
            </a:r>
            <a:r>
              <a:rPr dirty="0" err="1"/>
              <a:t>X.shape</a:t>
            </a:r>
            <a:r>
              <a:rPr dirty="0"/>
              <a:t>)   # (1000, 28, 28)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print(</a:t>
            </a:r>
            <a:r>
              <a:rPr dirty="0" err="1"/>
              <a:t>X.ndim</a:t>
            </a:r>
            <a:r>
              <a:rPr dirty="0"/>
              <a:t>)    # 3 dimensions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Reshape for different layers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X_flat</a:t>
            </a:r>
            <a:r>
              <a:rPr dirty="0"/>
              <a:t> = </a:t>
            </a:r>
            <a:r>
              <a:rPr dirty="0" err="1"/>
              <a:t>X.reshape</a:t>
            </a:r>
            <a:r>
              <a:rPr dirty="0"/>
              <a:t>(-1, 784)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(1000, 784) for Dense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X_conv</a:t>
            </a:r>
            <a:r>
              <a:rPr dirty="0"/>
              <a:t> = </a:t>
            </a:r>
            <a:r>
              <a:rPr dirty="0" err="1"/>
              <a:t>X.reshape</a:t>
            </a:r>
            <a:r>
              <a:rPr dirty="0"/>
              <a:t>(-1, 28, 28, 1)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(1000, 28, 28, 1) for Conv2D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200400"/>
            <a:ext cx="4114800" cy="548640"/>
          </a:xfrm>
          <a:prstGeom prst="round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1C24"/>
                </a:solidFill>
                <a:latin typeface="Arial"/>
              </a:defRPr>
            </a:pPr>
            <a:r>
              <a:t>Debug tip: Print shapes at each step. When you get a shape error, check X.shape and y.shape before every transformation.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BROADCASTING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Arrays of different shapes can work together when dimensions are equal or one is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45920"/>
            <a:ext cx="4114800" cy="24917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Subtract mean from each feature (column)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X = </a:t>
            </a:r>
            <a:r>
              <a:rPr dirty="0" err="1"/>
              <a:t>np.random.randn</a:t>
            </a:r>
            <a:r>
              <a:rPr dirty="0"/>
              <a:t>(1000, 10)  # (1000, 10)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means = </a:t>
            </a:r>
            <a:r>
              <a:rPr dirty="0" err="1"/>
              <a:t>X.mean</a:t>
            </a:r>
            <a:r>
              <a:rPr dirty="0"/>
              <a:t>(axis=0)         # (10,)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X_centered</a:t>
            </a:r>
            <a:r>
              <a:rPr dirty="0"/>
              <a:t> = X - means          # works!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(1000, 10) - (10,) broadcasts to (1000, 10)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Add bias to each sample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bias = </a:t>
            </a:r>
            <a:r>
              <a:rPr dirty="0" err="1"/>
              <a:t>np.array</a:t>
            </a:r>
            <a:r>
              <a:rPr dirty="0"/>
              <a:t>([0.1, 0.2, 0.3])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output = predictions + bias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Conditionals: Branching Logic in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WHERE THEY APPEAR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926080" cy="12801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13E"/>
                </a:solidFill>
                <a:latin typeface="Arial"/>
              </a:defRPr>
            </a:pPr>
            <a:r>
              <a:t>• Augmentation only for training data</a:t>
            </a:r>
            <a:br/>
            <a:r>
              <a:t>• Selecting model variants</a:t>
            </a:r>
            <a:br/>
            <a:r>
              <a:t>• Handling different data formats</a:t>
            </a:r>
            <a:br/>
            <a:r>
              <a:t>• Early stopping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560320"/>
            <a:ext cx="2926080" cy="548640"/>
          </a:xfrm>
          <a:prstGeom prst="round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55160"/>
                </a:solidFill>
                <a:latin typeface="Arial"/>
              </a:defRPr>
            </a:pPr>
            <a:r>
              <a:t>Key pattern: Apply transformations only to training data, not test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19"/>
            <a:ext cx="5303520" cy="2917767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Different preprocessing for train vs test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if </a:t>
            </a:r>
            <a:r>
              <a:rPr dirty="0" err="1"/>
              <a:t>is_training</a:t>
            </a:r>
            <a:r>
              <a:rPr dirty="0"/>
              <a:t>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X = augment(X)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X = </a:t>
            </a:r>
            <a:r>
              <a:rPr dirty="0" err="1"/>
              <a:t>add_noise</a:t>
            </a:r>
            <a:r>
              <a:rPr dirty="0"/>
              <a:t>(X, sigma=0.1)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else: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X = X  # no augmentation at test time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Model selection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if </a:t>
            </a:r>
            <a:r>
              <a:rPr dirty="0" err="1"/>
              <a:t>model_type</a:t>
            </a:r>
            <a:r>
              <a:rPr dirty="0"/>
              <a:t> == '</a:t>
            </a:r>
            <a:r>
              <a:rPr dirty="0" err="1"/>
              <a:t>cnn</a:t>
            </a:r>
            <a:r>
              <a:rPr dirty="0"/>
              <a:t>':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model = </a:t>
            </a:r>
            <a:r>
              <a:rPr dirty="0" err="1"/>
              <a:t>build_cnn</a:t>
            </a:r>
            <a:r>
              <a:rPr dirty="0"/>
              <a:t>(</a:t>
            </a:r>
            <a:r>
              <a:rPr dirty="0" err="1"/>
              <a:t>input_shape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elif</a:t>
            </a:r>
            <a:r>
              <a:rPr dirty="0"/>
              <a:t> </a:t>
            </a:r>
            <a:r>
              <a:rPr dirty="0" err="1"/>
              <a:t>model_type</a:t>
            </a:r>
            <a:r>
              <a:rPr dirty="0"/>
              <a:t> == '</a:t>
            </a:r>
            <a:r>
              <a:rPr dirty="0" err="1"/>
              <a:t>rnn</a:t>
            </a:r>
            <a:r>
              <a:rPr dirty="0"/>
              <a:t>':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model = </a:t>
            </a:r>
            <a:r>
              <a:rPr dirty="0" err="1"/>
              <a:t>build_rnn</a:t>
            </a:r>
            <a:r>
              <a:rPr dirty="0"/>
              <a:t>(</a:t>
            </a:r>
            <a:r>
              <a:rPr dirty="0" err="1"/>
              <a:t>input_shape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else: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raise </a:t>
            </a:r>
            <a:r>
              <a:rPr dirty="0" err="1"/>
              <a:t>ValueError</a:t>
            </a:r>
            <a:r>
              <a:rPr dirty="0"/>
              <a:t>(</a:t>
            </a:r>
            <a:r>
              <a:rPr dirty="0" err="1"/>
              <a:t>f"Unknown</a:t>
            </a:r>
            <a:r>
              <a:rPr dirty="0"/>
              <a:t>: {</a:t>
            </a:r>
            <a:r>
              <a:rPr dirty="0" err="1"/>
              <a:t>model_type</a:t>
            </a:r>
            <a:r>
              <a:rPr dirty="0"/>
              <a:t>}")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For Loops: Iteration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WHERE THEY APPEAR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926080" cy="11887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13E"/>
                </a:solidFill>
                <a:latin typeface="Arial"/>
              </a:defRPr>
            </a:pPr>
            <a:r>
              <a:t>• Hyperparameter grid search</a:t>
            </a:r>
            <a:br/>
            <a:r>
              <a:t>• Cross-validation folds</a:t>
            </a:r>
            <a:br/>
            <a:r>
              <a:t>• Iterating over layers</a:t>
            </a:r>
            <a:br/>
            <a:r>
              <a:t>• Batch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468880"/>
            <a:ext cx="2926080" cy="45720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5724"/>
                </a:solidFill>
                <a:latin typeface="Arial"/>
              </a:defRPr>
            </a:pPr>
            <a:r>
              <a:t>Tip: Use enumerate() when you need both index and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53035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Hyperparameter search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learning_rates</a:t>
            </a:r>
            <a:r>
              <a:rPr dirty="0"/>
              <a:t> = [0.001, 0.01, 0.1]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results = {}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for </a:t>
            </a:r>
            <a:r>
              <a:rPr dirty="0" err="1"/>
              <a:t>lr</a:t>
            </a:r>
            <a:r>
              <a:rPr dirty="0"/>
              <a:t> in </a:t>
            </a:r>
            <a:r>
              <a:rPr dirty="0" err="1"/>
              <a:t>learning_rates</a:t>
            </a:r>
            <a:r>
              <a:rPr dirty="0"/>
              <a:t>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model = </a:t>
            </a:r>
            <a:r>
              <a:rPr dirty="0" err="1"/>
              <a:t>build_model</a:t>
            </a:r>
            <a:r>
              <a:rPr dirty="0"/>
              <a:t>(</a:t>
            </a:r>
            <a:r>
              <a:rPr dirty="0" err="1"/>
              <a:t>lr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history = </a:t>
            </a:r>
            <a:r>
              <a:rPr dirty="0" err="1"/>
              <a:t>model.fit</a:t>
            </a:r>
            <a:r>
              <a:rPr dirty="0"/>
              <a:t>(X, y, epochs=10, verbose=0)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results[</a:t>
            </a:r>
            <a:r>
              <a:rPr dirty="0" err="1"/>
              <a:t>lr</a:t>
            </a:r>
            <a:r>
              <a:rPr dirty="0"/>
              <a:t>] = </a:t>
            </a:r>
            <a:r>
              <a:rPr dirty="0" err="1"/>
              <a:t>history.history</a:t>
            </a:r>
            <a:r>
              <a:rPr dirty="0"/>
              <a:t>['</a:t>
            </a:r>
            <a:r>
              <a:rPr dirty="0" err="1"/>
              <a:t>val_accuracy</a:t>
            </a:r>
            <a:r>
              <a:rPr dirty="0"/>
              <a:t>'][-1]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Inspect model layers with enumerate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, layer in enumerate(</a:t>
            </a:r>
            <a:r>
              <a:rPr dirty="0" err="1"/>
              <a:t>model.layers</a:t>
            </a:r>
            <a:r>
              <a:rPr dirty="0"/>
              <a:t>):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print(</a:t>
            </a:r>
            <a:r>
              <a:rPr dirty="0" err="1"/>
              <a:t>f"Layer</a:t>
            </a:r>
            <a:r>
              <a:rPr dirty="0"/>
              <a:t> {</a:t>
            </a:r>
            <a:r>
              <a:rPr dirty="0" err="1"/>
              <a:t>i</a:t>
            </a:r>
            <a:r>
              <a:rPr dirty="0"/>
              <a:t>}: {</a:t>
            </a:r>
            <a:r>
              <a:rPr dirty="0" err="1"/>
              <a:t>layer.name</a:t>
            </a:r>
            <a:r>
              <a:rPr dirty="0"/>
              <a:t>}")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rPr dirty="0"/>
              <a:t>List Comprehension: Concise Collection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A"/>
                </a:solidFill>
                <a:latin typeface="Arial"/>
              </a:defRPr>
            </a:pPr>
            <a:r>
              <a:t>Read them fluently — you'll see them everywhere in ML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365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[expression for item in iterable if condition]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420624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Filter layers by type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dense_layers</a:t>
            </a:r>
            <a:r>
              <a:rPr dirty="0"/>
              <a:t> = [l for l in </a:t>
            </a:r>
            <a:r>
              <a:rPr dirty="0" err="1"/>
              <a:t>model.layers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       if 'dense' in </a:t>
            </a:r>
            <a:r>
              <a:rPr dirty="0" err="1"/>
              <a:t>l.name</a:t>
            </a:r>
            <a:r>
              <a:rPr dirty="0"/>
              <a:t>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420624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Extract metrics from histories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val_accs</a:t>
            </a:r>
            <a:r>
              <a:rPr dirty="0"/>
              <a:t> = [h['</a:t>
            </a:r>
            <a:r>
              <a:rPr dirty="0" err="1"/>
              <a:t>val_accuracy</a:t>
            </a:r>
            <a:r>
              <a:rPr dirty="0"/>
              <a:t>'][-1]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   for h in </a:t>
            </a:r>
            <a:r>
              <a:rPr dirty="0" err="1"/>
              <a:t>all_histories</a:t>
            </a:r>
            <a:r>
              <a:rPr dirty="0"/>
              <a:t>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468880"/>
            <a:ext cx="420624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Build layers dynamically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sizes = [256, 128, 64]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layers = [Dense(s, activation='relu')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     for s in sizes]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420624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Nested: flatten lists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all_weights</a:t>
            </a:r>
            <a:r>
              <a:rPr dirty="0"/>
              <a:t> = [w for layer in </a:t>
            </a:r>
            <a:r>
              <a:rPr dirty="0" err="1"/>
              <a:t>model.layers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      for w in </a:t>
            </a:r>
            <a:r>
              <a:rPr dirty="0" err="1"/>
              <a:t>layer.get_weights</a:t>
            </a:r>
            <a:r>
              <a:rPr dirty="0"/>
              <a:t>()]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520440"/>
            <a:ext cx="8595360" cy="411480"/>
          </a:xfrm>
          <a:prstGeom prst="round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566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55160"/>
                </a:solidFill>
                <a:latin typeface="Arial"/>
              </a:defRPr>
            </a:pPr>
            <a:r>
              <a:t>Readability tip: If a comprehension spans multiple lines or has complex logic, use a regular for loop instead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Try/Except: Graceful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A"/>
                </a:solidFill>
                <a:latin typeface="Arial"/>
              </a:defRPr>
            </a:pPr>
            <a:r>
              <a:t>Keras errors can be opaque — wrapping risky code helps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BASIC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206240" cy="1965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Catch shape mismatches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try: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model.add</a:t>
            </a:r>
            <a:r>
              <a:rPr dirty="0"/>
              <a:t>(Dense(64, </a:t>
            </a:r>
            <a:r>
              <a:rPr dirty="0" err="1"/>
              <a:t>input_shape</a:t>
            </a:r>
            <a:r>
              <a:rPr dirty="0"/>
              <a:t>=(784,)))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model.compile</a:t>
            </a:r>
            <a:r>
              <a:rPr dirty="0"/>
              <a:t>(optimizer='</a:t>
            </a:r>
            <a:r>
              <a:rPr dirty="0" err="1"/>
              <a:t>adam</a:t>
            </a:r>
            <a:r>
              <a:rPr dirty="0"/>
              <a:t>',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          loss='</a:t>
            </a:r>
            <a:r>
              <a:rPr dirty="0" err="1"/>
              <a:t>categorical_crossentropy</a:t>
            </a:r>
            <a:r>
              <a:rPr dirty="0"/>
              <a:t>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except </a:t>
            </a:r>
            <a:r>
              <a:rPr dirty="0" err="1"/>
              <a:t>ValueError</a:t>
            </a:r>
            <a:r>
              <a:rPr dirty="0"/>
              <a:t> as 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print(</a:t>
            </a:r>
            <a:r>
              <a:rPr dirty="0" err="1"/>
              <a:t>f"Config</a:t>
            </a:r>
            <a:r>
              <a:rPr dirty="0"/>
              <a:t> error: {e}")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print("Check input shape and layer dims")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316778"/>
            <a:ext cx="4206240" cy="50292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5724"/>
                </a:solidFill>
                <a:latin typeface="Arial"/>
              </a:defRPr>
            </a:pPr>
            <a:r>
              <a:rPr dirty="0"/>
              <a:t>Best practice: Catch specific exceptions, not bare except:. This prevents hiding unexpected bugs.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COMMON KERAS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80159"/>
            <a:ext cx="4023360" cy="2685011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Shape mismatch (very common!)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try: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model.fit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except </a:t>
            </a:r>
            <a:r>
              <a:rPr dirty="0" err="1"/>
              <a:t>ValueError</a:t>
            </a:r>
            <a:r>
              <a:rPr dirty="0"/>
              <a:t> as 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if 'shape' in str(e).lower():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print(</a:t>
            </a:r>
            <a:r>
              <a:rPr dirty="0" err="1"/>
              <a:t>f"X</a:t>
            </a:r>
            <a:r>
              <a:rPr dirty="0"/>
              <a:t>: {</a:t>
            </a:r>
            <a:r>
              <a:rPr dirty="0" err="1"/>
              <a:t>X_train.shape</a:t>
            </a:r>
            <a:r>
              <a:rPr dirty="0"/>
              <a:t>}")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print(</a:t>
            </a:r>
            <a:r>
              <a:rPr dirty="0" err="1"/>
              <a:t>f"y</a:t>
            </a:r>
            <a:r>
              <a:rPr dirty="0"/>
              <a:t>: {</a:t>
            </a:r>
            <a:r>
              <a:rPr dirty="0" err="1"/>
              <a:t>y_train.shape</a:t>
            </a:r>
            <a:r>
              <a:rPr dirty="0"/>
              <a:t>}")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Safe data loading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try: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data = </a:t>
            </a:r>
            <a:r>
              <a:rPr dirty="0" err="1"/>
              <a:t>np.load</a:t>
            </a:r>
            <a:r>
              <a:rPr dirty="0"/>
              <a:t>('</a:t>
            </a:r>
            <a:r>
              <a:rPr dirty="0" err="1"/>
              <a:t>data.npy</a:t>
            </a:r>
            <a:r>
              <a:rPr dirty="0"/>
              <a:t>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except </a:t>
            </a:r>
            <a:r>
              <a:rPr dirty="0" err="1"/>
              <a:t>FileNotFoundError</a:t>
            </a:r>
            <a:r>
              <a:rPr dirty="0"/>
              <a:t>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data = </a:t>
            </a:r>
            <a:r>
              <a:rPr dirty="0" err="1"/>
              <a:t>np.random.randn</a:t>
            </a:r>
            <a:r>
              <a:rPr dirty="0"/>
              <a:t>(1000, 784)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Matplotlib: Plotting Training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Arial"/>
              </a:defRPr>
            </a:pPr>
            <a:r>
              <a:t>The essential diagnostic tool for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BASIC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572000" cy="295101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import </a:t>
            </a:r>
            <a:r>
              <a:rPr dirty="0" err="1"/>
              <a:t>matplotlib.pyplot</a:t>
            </a:r>
            <a:r>
              <a:rPr dirty="0"/>
              <a:t> as </a:t>
            </a:r>
            <a:r>
              <a:rPr dirty="0" err="1"/>
              <a:t>plt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Extract data from history </a:t>
            </a:r>
            <a:r>
              <a:rPr dirty="0" err="1"/>
              <a:t>dict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train_loss</a:t>
            </a:r>
            <a:r>
              <a:rPr dirty="0"/>
              <a:t> = </a:t>
            </a:r>
            <a:r>
              <a:rPr dirty="0" err="1"/>
              <a:t>history.history</a:t>
            </a:r>
            <a:r>
              <a:rPr dirty="0"/>
              <a:t>['loss']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val_loss</a:t>
            </a:r>
            <a:r>
              <a:rPr dirty="0"/>
              <a:t> = </a:t>
            </a:r>
            <a:r>
              <a:rPr dirty="0" err="1"/>
              <a:t>history.history</a:t>
            </a:r>
            <a:r>
              <a:rPr dirty="0"/>
              <a:t>['</a:t>
            </a:r>
            <a:r>
              <a:rPr dirty="0" err="1"/>
              <a:t>val_loss</a:t>
            </a:r>
            <a:r>
              <a:rPr dirty="0"/>
              <a:t>']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Plot loss curves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 4))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plt.plot</a:t>
            </a:r>
            <a:r>
              <a:rPr dirty="0"/>
              <a:t>(</a:t>
            </a:r>
            <a:r>
              <a:rPr dirty="0" err="1"/>
              <a:t>train_loss</a:t>
            </a:r>
            <a:r>
              <a:rPr dirty="0"/>
              <a:t>, label='Training')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plt.plot</a:t>
            </a:r>
            <a:r>
              <a:rPr dirty="0"/>
              <a:t>(</a:t>
            </a:r>
            <a:r>
              <a:rPr dirty="0" err="1"/>
              <a:t>val_loss</a:t>
            </a:r>
            <a:r>
              <a:rPr dirty="0"/>
              <a:t>, label='Validation')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plt.xlabel</a:t>
            </a:r>
            <a:r>
              <a:rPr dirty="0"/>
              <a:t>('Epoch')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plt.ylabel</a:t>
            </a:r>
            <a:r>
              <a:rPr dirty="0"/>
              <a:t>('Loss')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plt.legend</a:t>
            </a:r>
            <a:r>
              <a:rPr dirty="0"/>
              <a:t>()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WHAT TO LOOK FOR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36576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13258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213E"/>
                </a:solidFill>
                <a:latin typeface="Arial"/>
              </a:defRPr>
            </a:pPr>
            <a:r>
              <a:t>Healthy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Arial"/>
              </a:defRPr>
            </a:pPr>
            <a:r>
              <a:t>• Both curves decrease together</a:t>
            </a:r>
            <a:br/>
            <a:r>
              <a:t>• Gap stays small and 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03120"/>
            <a:ext cx="3657600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4D03"/>
                </a:solidFill>
                <a:latin typeface="Arial"/>
              </a:defRPr>
            </a:pPr>
            <a:r>
              <a:t>Overfitting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4D03"/>
                </a:solidFill>
                <a:latin typeface="Arial"/>
              </a:defRPr>
            </a:pPr>
            <a:r>
              <a:t>• Train loss ↓, val loss ↑</a:t>
            </a:r>
            <a:br/>
            <a:r>
              <a:t>• Fix: dropout, regularization, early stop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926080"/>
            <a:ext cx="3657600" cy="731520"/>
          </a:xfrm>
          <a:prstGeom prst="round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2971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21C24"/>
                </a:solidFill>
                <a:latin typeface="Arial"/>
              </a:defRPr>
            </a:pPr>
            <a:r>
              <a:t>Underfitting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1C24"/>
                </a:solidFill>
                <a:latin typeface="Arial"/>
              </a:defRPr>
            </a:pPr>
            <a:r>
              <a:t>• Both losses remain high</a:t>
            </a:r>
            <a:br/>
            <a:r>
              <a:t>• Fix: larger model, more epochs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Putting It All Together: Complete Mini-Workflow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31520"/>
            <a:ext cx="8595360" cy="41376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import </a:t>
            </a:r>
            <a:r>
              <a:rPr sz="1000" dirty="0" err="1"/>
              <a:t>numpy</a:t>
            </a:r>
            <a:r>
              <a:rPr sz="1000" dirty="0"/>
              <a:t> as np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from </a:t>
            </a:r>
            <a:r>
              <a:rPr sz="1000" dirty="0" err="1"/>
              <a:t>tensorflow</a:t>
            </a:r>
            <a:r>
              <a:rPr sz="1000" dirty="0"/>
              <a:t> import </a:t>
            </a:r>
            <a:r>
              <a:rPr sz="1000" dirty="0" err="1"/>
              <a:t>keras</a:t>
            </a: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from </a:t>
            </a:r>
            <a:r>
              <a:rPr sz="1000" dirty="0" err="1"/>
              <a:t>tensorflow.keras.layers</a:t>
            </a:r>
            <a:r>
              <a:rPr sz="1000" dirty="0"/>
              <a:t> import Dense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import </a:t>
            </a:r>
            <a:r>
              <a:rPr sz="1000" dirty="0" err="1"/>
              <a:t>matplotlib.pyplot</a:t>
            </a:r>
            <a:r>
              <a:rPr sz="1000" dirty="0"/>
              <a:t> as </a:t>
            </a:r>
            <a:r>
              <a:rPr sz="1000" dirty="0" err="1"/>
              <a:t>plt</a:t>
            </a: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# Load data (arrays, shapes, normalization)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(</a:t>
            </a:r>
            <a:r>
              <a:rPr sz="1000" dirty="0" err="1"/>
              <a:t>X_train</a:t>
            </a:r>
            <a:r>
              <a:rPr sz="1000" dirty="0"/>
              <a:t>, </a:t>
            </a:r>
            <a:r>
              <a:rPr sz="1000" dirty="0" err="1"/>
              <a:t>y_train</a:t>
            </a:r>
            <a:r>
              <a:rPr sz="1000" dirty="0"/>
              <a:t>), (</a:t>
            </a:r>
            <a:r>
              <a:rPr sz="1000" dirty="0" err="1"/>
              <a:t>X_test</a:t>
            </a:r>
            <a:r>
              <a:rPr sz="1000" dirty="0"/>
              <a:t>, </a:t>
            </a:r>
            <a:r>
              <a:rPr sz="1000" dirty="0" err="1"/>
              <a:t>y_test</a:t>
            </a:r>
            <a:r>
              <a:rPr sz="1000" dirty="0"/>
              <a:t>) = </a:t>
            </a:r>
            <a:r>
              <a:rPr sz="1000" dirty="0" err="1"/>
              <a:t>keras.datasets.mnist.load_data</a:t>
            </a:r>
            <a:r>
              <a:rPr sz="1000" dirty="0"/>
              <a:t>()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 err="1"/>
              <a:t>X_train</a:t>
            </a:r>
            <a:r>
              <a:rPr sz="1000" dirty="0"/>
              <a:t> = </a:t>
            </a:r>
            <a:r>
              <a:rPr sz="1000" dirty="0" err="1"/>
              <a:t>X_train.reshape</a:t>
            </a:r>
            <a:r>
              <a:rPr sz="1000" dirty="0"/>
              <a:t>(-1, 784).</a:t>
            </a:r>
            <a:r>
              <a:rPr sz="1000" dirty="0" err="1"/>
              <a:t>astype</a:t>
            </a:r>
            <a:r>
              <a:rPr sz="1000" dirty="0"/>
              <a:t>('float32') / 255.0  # reshape + normalize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 err="1"/>
              <a:t>y_train</a:t>
            </a:r>
            <a:r>
              <a:rPr sz="1000" dirty="0"/>
              <a:t> = </a:t>
            </a:r>
            <a:r>
              <a:rPr sz="1000" dirty="0" err="1"/>
              <a:t>keras.utils.to_categorical</a:t>
            </a:r>
            <a:r>
              <a:rPr sz="1000" dirty="0"/>
              <a:t>(</a:t>
            </a:r>
            <a:r>
              <a:rPr sz="1000" dirty="0" err="1"/>
              <a:t>y_train</a:t>
            </a:r>
            <a:r>
              <a:rPr sz="1000" dirty="0"/>
              <a:t>, 10)  # one-hot encode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# Build model (lists of layers, tuples for shapes)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model = </a:t>
            </a:r>
            <a:r>
              <a:rPr sz="1000" dirty="0" err="1"/>
              <a:t>keras.Sequential</a:t>
            </a:r>
            <a:r>
              <a:rPr sz="1000" dirty="0"/>
              <a:t>([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Dense(128, activation='</a:t>
            </a:r>
            <a:r>
              <a:rPr sz="1000" dirty="0" err="1"/>
              <a:t>relu</a:t>
            </a:r>
            <a:r>
              <a:rPr sz="1000" dirty="0"/>
              <a:t>', </a:t>
            </a:r>
            <a:r>
              <a:rPr sz="1000" dirty="0" err="1"/>
              <a:t>input_shape</a:t>
            </a:r>
            <a:r>
              <a:rPr sz="1000" dirty="0"/>
              <a:t>=(784,)),  # tuple!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Dense(10, activation='</a:t>
            </a:r>
            <a:r>
              <a:rPr sz="1000" dirty="0" err="1"/>
              <a:t>softmax</a:t>
            </a:r>
            <a:r>
              <a:rPr sz="1000" dirty="0"/>
              <a:t>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])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 err="1"/>
              <a:t>model.compile</a:t>
            </a:r>
            <a:r>
              <a:rPr sz="1000" dirty="0"/>
              <a:t>(optimizer='</a:t>
            </a:r>
            <a:r>
              <a:rPr sz="1000" dirty="0" err="1"/>
              <a:t>adam</a:t>
            </a:r>
            <a:r>
              <a:rPr sz="1000" dirty="0"/>
              <a:t>', loss='</a:t>
            </a:r>
            <a:r>
              <a:rPr sz="1000" dirty="0" err="1"/>
              <a:t>categorical_crossentropy</a:t>
            </a:r>
            <a:r>
              <a:rPr sz="1000" dirty="0"/>
              <a:t>', metrics=['accuracy'])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# Train (integers, floats, </a:t>
            </a:r>
            <a:r>
              <a:rPr sz="1000" dirty="0" err="1"/>
              <a:t>booleans</a:t>
            </a:r>
            <a:r>
              <a:rPr sz="1000" dirty="0"/>
              <a:t> as arguments)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history = </a:t>
            </a:r>
            <a:r>
              <a:rPr sz="1000" dirty="0" err="1"/>
              <a:t>model.fit</a:t>
            </a:r>
            <a:r>
              <a:rPr sz="1000" dirty="0"/>
              <a:t>(</a:t>
            </a:r>
            <a:r>
              <a:rPr sz="1000" dirty="0" err="1"/>
              <a:t>X_train</a:t>
            </a:r>
            <a:r>
              <a:rPr sz="1000" dirty="0"/>
              <a:t>, </a:t>
            </a:r>
            <a:r>
              <a:rPr sz="1000" dirty="0" err="1"/>
              <a:t>y_train</a:t>
            </a:r>
            <a:r>
              <a:rPr sz="1000" dirty="0"/>
              <a:t>, epochs=10, </a:t>
            </a:r>
            <a:r>
              <a:rPr sz="1000" dirty="0" err="1"/>
              <a:t>batch_size</a:t>
            </a:r>
            <a:r>
              <a:rPr sz="1000" dirty="0"/>
              <a:t>=32, </a:t>
            </a:r>
            <a:r>
              <a:rPr sz="1000" dirty="0" err="1"/>
              <a:t>validation_split</a:t>
            </a:r>
            <a:r>
              <a:rPr sz="1000" dirty="0"/>
              <a:t>=0.2)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# Visualize (dictionary access, plotting)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 err="1"/>
              <a:t>plt.plot</a:t>
            </a:r>
            <a:r>
              <a:rPr sz="1000" dirty="0"/>
              <a:t>(</a:t>
            </a:r>
            <a:r>
              <a:rPr sz="1000" dirty="0" err="1"/>
              <a:t>history.history</a:t>
            </a:r>
            <a:r>
              <a:rPr sz="1000" dirty="0"/>
              <a:t>['loss'], label='train')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000" dirty="0" err="1"/>
              <a:t>plt.plot</a:t>
            </a:r>
            <a:r>
              <a:rPr sz="1000" dirty="0"/>
              <a:t>(</a:t>
            </a:r>
            <a:r>
              <a:rPr sz="1000" dirty="0" err="1"/>
              <a:t>history.history</a:t>
            </a:r>
            <a:r>
              <a:rPr sz="1000" dirty="0"/>
              <a:t>['</a:t>
            </a:r>
            <a:r>
              <a:rPr sz="1000" dirty="0" err="1"/>
              <a:t>val_loss</a:t>
            </a:r>
            <a:r>
              <a:rPr sz="1000" dirty="0"/>
              <a:t>'], label='</a:t>
            </a:r>
            <a:r>
              <a:rPr sz="1000" dirty="0" err="1"/>
              <a:t>val</a:t>
            </a:r>
            <a:r>
              <a:rPr sz="1000" dirty="0"/>
              <a:t>'); </a:t>
            </a:r>
            <a:r>
              <a:rPr sz="1000" dirty="0" err="1"/>
              <a:t>plt.legend</a:t>
            </a:r>
            <a:r>
              <a:rPr sz="1000" dirty="0"/>
              <a:t>(); </a:t>
            </a:r>
            <a:r>
              <a:rPr sz="1000" dirty="0" err="1"/>
              <a:t>plt.show</a:t>
            </a:r>
            <a:r>
              <a:rPr sz="1000" dirty="0"/>
              <a:t>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Quick Reference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Keras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868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Key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Integers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234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epochs=50, batch_size=32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Arial"/>
              </a:defRPr>
            </a:pPr>
            <a:r>
              <a:t>Hyperparameters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Floats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learning_rate=0.001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Arial"/>
              </a:defRPr>
            </a:pPr>
            <a:r>
              <a:t>Rates, thresholds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28800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874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Strings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optimizer='adam'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745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Arial"/>
              </a:defRPr>
            </a:pPr>
            <a:r>
              <a:t>Config by 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48840"/>
            <a:ext cx="8595360" cy="3200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194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Booleans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194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shuffle=True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9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Arial"/>
              </a:defRPr>
            </a:pPr>
            <a:r>
              <a:t>Flags, switches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514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Lists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514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metrics=['accuracy']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Arial"/>
              </a:defRPr>
            </a:pPr>
            <a:r>
              <a:t>Ordered collections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788920"/>
            <a:ext cx="8595360" cy="3200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2834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Arial"/>
              </a:defRPr>
            </a:pPr>
            <a:r>
              <a:t>Tuples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2834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input_shape=(784,)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834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Arial"/>
              </a:defRPr>
            </a:pPr>
            <a:r>
              <a:t>Shapes! Immutable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08960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154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Arial"/>
              </a:defRPr>
            </a:pPr>
            <a:r>
              <a:t>Dicts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154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history.history['loss']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154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Arial"/>
              </a:defRPr>
            </a:pPr>
            <a:r>
              <a:t>Key-value access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429000"/>
            <a:ext cx="8595360" cy="3200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474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Arial"/>
              </a:defRPr>
            </a:pPr>
            <a:r>
              <a:t>Arrays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347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X.reshape(-1, 784)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474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Arial"/>
              </a:defRPr>
            </a:pPr>
            <a:r>
              <a:t>Vectorized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49040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794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Try/except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Courier New"/>
              </a:defRPr>
            </a:pPr>
            <a:r>
              <a:t>try: model.fit()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794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  <a:latin typeface="Arial"/>
              </a:defRPr>
            </a:pPr>
            <a:r>
              <a:t>Error handling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B4E4F42-7025-9B72-98B3-70AF089ABA34}"/>
              </a:ext>
            </a:extLst>
          </p:cNvPr>
          <p:cNvGrpSpPr/>
          <p:nvPr/>
        </p:nvGrpSpPr>
        <p:grpSpPr>
          <a:xfrm>
            <a:off x="274320" y="1165860"/>
            <a:ext cx="8412480" cy="2606040"/>
            <a:chOff x="274320" y="914400"/>
            <a:chExt cx="8412480" cy="2606040"/>
          </a:xfrm>
        </p:grpSpPr>
        <p:sp>
          <p:nvSpPr>
            <p:cNvPr id="4" name="Oval 3"/>
            <p:cNvSpPr/>
            <p:nvPr/>
          </p:nvSpPr>
          <p:spPr>
            <a:xfrm>
              <a:off x="274320" y="9144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20040" y="941832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1520" y="9144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Know your types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12344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Integers for counts, floats for rates, strings for config, booleans for flags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74320" y="18288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" y="1856231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18288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rPr dirty="0"/>
                <a:t>Master dictionaries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1520" y="21488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history.history is your window into training — learn to access and plot it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274320" y="27432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" y="2770632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1520" y="27432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Think in shapes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1520" y="30632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Most Keras errors are shape mismatches. Print .shape early and often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4572000" y="9144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17720" y="941832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29200" y="9144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Vectorize with NumPy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9200" y="12344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Avoid Python loops over array elements — use built-in array operations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4572000" y="18288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17720" y="1856231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29200" y="18288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Plot everything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29200" y="21488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Training curves reveal overfitting/underfitting immediately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4572000" y="27432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17720" y="2770632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9200" y="27432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Wrap risky code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29200" y="30632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try/except turns cryptic errors into useful messages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8C0D8"/>
                </a:solidFill>
                <a:latin typeface="Arial"/>
              </a:defRPr>
            </a:pPr>
            <a:r>
              <a:t>These patterns will become automatic with practice. Start training models and refer back as needed!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2477</Words>
  <Application>Microsoft Macintosh PowerPoint</Application>
  <PresentationFormat>On-screen Show (16:9)</PresentationFormat>
  <Paragraphs>310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Burtch, Gordon</cp:lastModifiedBy>
  <cp:revision>2</cp:revision>
  <dcterms:created xsi:type="dcterms:W3CDTF">2013-01-27T09:14:16Z</dcterms:created>
  <dcterms:modified xsi:type="dcterms:W3CDTF">2026-01-22T14:25:44Z</dcterms:modified>
  <cp:category/>
</cp:coreProperties>
</file>