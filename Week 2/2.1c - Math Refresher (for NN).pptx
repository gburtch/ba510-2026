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54" d="100"/>
          <a:sy n="154" d="100"/>
        </p:scale>
        <p:origin x="8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255901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94560"/>
                </a:solidFill>
                <a:latin typeface="Arial"/>
              </a:defRPr>
            </a:pPr>
            <a:r>
              <a:t>MATHEMATICAL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21661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Math for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5318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8C0D8"/>
                </a:solidFill>
                <a:latin typeface="Arial"/>
              </a:defRPr>
            </a:pPr>
            <a:r>
              <a:t>The Essential Concepts Behind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C0D8"/>
                </a:solidFill>
                <a:latin typeface="Arial"/>
              </a:defRPr>
            </a:pPr>
            <a:r>
              <a:t>Linear algebra, calculus, and optimization — demystified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575A5-D31A-FB15-3E61-C4B1945414BD}"/>
              </a:ext>
            </a:extLst>
          </p:cNvPr>
          <p:cNvSpPr txBox="1"/>
          <p:nvPr/>
        </p:nvSpPr>
        <p:spPr>
          <a:xfrm>
            <a:off x="3528753" y="3736211"/>
            <a:ext cx="208649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Claude Opus 4.5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(minor formatting edits by Gord)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Vectors: Ordered Lists of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The fundamental data structure of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WHAT IS A VECTOR?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114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A vector is an ordered array of numbers: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x = [x₁, x₂, x₃, ..., xₙ]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Example: a 3D vector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v = [3, 1, 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NEURAL NETWORKS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063240"/>
            <a:ext cx="4114800" cy="914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• Input features (pixels, words, measurements)</a:t>
            </a:r>
            <a:br/>
            <a:r>
              <a:t>• Layer activations (neuron outputs)</a:t>
            </a:r>
            <a:br/>
            <a:r>
              <a:t>• Weight vectors (learned parameters)</a:t>
            </a:r>
            <a:br/>
            <a:r>
              <a:t>• Gradients (direction of steepest change)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325880"/>
            <a:ext cx="41148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import numpy as np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A vector is a 1D array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v = np.array([3, 1, 4])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print(v.shape)  # (3,)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Input to a neural network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x = np.array([0.5, 0.2, 0.8, 0.1])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Weights for one neuron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w = np.array([0.4, -0.2, 0.6, 0.1])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Matrices: 2D Arrays of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How neural networks store and transform data in batches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WHAT IS A MATRIX?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114800" cy="1988820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A matrix is a 2D array (rows × columns):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</a:t>
            </a:r>
            <a:r>
              <a:rPr lang="en-US" dirty="0"/>
              <a:t>  </a:t>
            </a:r>
            <a:r>
              <a:rPr dirty="0"/>
              <a:t> </a:t>
            </a:r>
            <a:r>
              <a:rPr lang="en-US" dirty="0"/>
              <a:t> ----------</a:t>
            </a: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A = </a:t>
            </a:r>
            <a:r>
              <a:rPr lang="en-US" dirty="0"/>
              <a:t>│</a:t>
            </a:r>
            <a:r>
              <a:rPr dirty="0"/>
              <a:t> </a:t>
            </a:r>
            <a:r>
              <a:rPr lang="en-US" dirty="0"/>
              <a:t>1  2  3</a:t>
            </a:r>
            <a:r>
              <a:rPr dirty="0"/>
              <a:t> │   Shape: (2, 3)</a:t>
            </a:r>
            <a:endParaRPr lang="en-US" dirty="0"/>
          </a:p>
          <a:p>
            <a:pPr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lang="en-US" dirty="0"/>
              <a:t>      │ 4  5  6 │</a:t>
            </a: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</a:t>
            </a:r>
            <a:r>
              <a:rPr lang="en-US" dirty="0"/>
              <a:t>   ----------- </a:t>
            </a:r>
            <a:r>
              <a:rPr dirty="0"/>
              <a:t>   2 rows, 3 columns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Element Aᵢⱼ = value at row </a:t>
            </a:r>
            <a:r>
              <a:rPr dirty="0" err="1"/>
              <a:t>i</a:t>
            </a:r>
            <a:r>
              <a:rPr dirty="0"/>
              <a:t>, column 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3604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NEURAL NETWORKS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634740"/>
            <a:ext cx="4114800" cy="822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6804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• Weight matrices (connections between layers)</a:t>
            </a:r>
            <a:br/>
            <a:r>
              <a:t>• Batch of inputs (samples × features)</a:t>
            </a:r>
            <a:br/>
            <a:r>
              <a:t>• Batch of activations (samples × neurons)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325880"/>
            <a:ext cx="41148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A matrix is a 2D array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W = np.array([[1, 2, 3],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          [4, 5, 6]])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print(W.shape)  # (2, 3)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Weight matrix: 4 inputs → 3 neurons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W = np.random.randn(4, 3)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Batch of 32 samples, 4 features each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X_batch = np.random.randn(32,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Dot Product: Core Neuron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rPr lang="en-US" dirty="0"/>
              <a:t>In MLP, each</a:t>
            </a:r>
            <a:r>
              <a:rPr dirty="0"/>
              <a:t> neuron computes a weighted sum — </a:t>
            </a:r>
            <a:r>
              <a:rPr lang="en-US" dirty="0"/>
              <a:t>the weighting is implemented via </a:t>
            </a:r>
            <a:r>
              <a:rPr dirty="0"/>
              <a:t>dot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297680" cy="1588770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Dot product of vectors a and b: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a · b = </a:t>
            </a:r>
            <a:r>
              <a:rPr dirty="0" err="1"/>
              <a:t>a₁b</a:t>
            </a:r>
            <a:r>
              <a:rPr dirty="0"/>
              <a:t>₁ + </a:t>
            </a:r>
            <a:r>
              <a:rPr dirty="0" err="1"/>
              <a:t>a₂b</a:t>
            </a:r>
            <a:r>
              <a:rPr dirty="0"/>
              <a:t>₂ + ... + </a:t>
            </a:r>
            <a:r>
              <a:rPr dirty="0" err="1"/>
              <a:t>aₙb</a:t>
            </a:r>
            <a:r>
              <a:rPr dirty="0"/>
              <a:t>ₙ = </a:t>
            </a:r>
            <a:r>
              <a:rPr dirty="0" err="1"/>
              <a:t>Σ</a:t>
            </a:r>
            <a:r>
              <a:rPr dirty="0"/>
              <a:t> </a:t>
            </a:r>
            <a:r>
              <a:rPr dirty="0" err="1"/>
              <a:t>aᵢb</a:t>
            </a:r>
            <a:r>
              <a:rPr dirty="0"/>
              <a:t>ᵢ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Example: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[1, 2, 3] · [4, 5, 6] = 1×4 + 2×5 + 3×6 =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96037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THIS IS WHAT A NEURON DOES!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34690"/>
            <a:ext cx="4297680" cy="122301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280410"/>
            <a:ext cx="4114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rPr dirty="0"/>
              <a:t>neuron output = activation(</a:t>
            </a:r>
            <a:r>
              <a:rPr b="1" dirty="0">
                <a:solidFill>
                  <a:srgbClr val="FF0000"/>
                </a:solidFill>
              </a:rPr>
              <a:t>x · w </a:t>
            </a:r>
            <a:r>
              <a:rPr dirty="0"/>
              <a:t>+ b)</a:t>
            </a:r>
            <a:br>
              <a:rPr dirty="0"/>
            </a:br>
            <a:br>
              <a:rPr dirty="0"/>
            </a:br>
            <a:r>
              <a:rPr dirty="0"/>
              <a:t>where:</a:t>
            </a:r>
            <a:br>
              <a:rPr dirty="0"/>
            </a:br>
            <a:r>
              <a:rPr dirty="0"/>
              <a:t>  x = input vector</a:t>
            </a:r>
            <a:br>
              <a:rPr dirty="0"/>
            </a:br>
            <a:r>
              <a:rPr dirty="0"/>
              <a:t>  w = weight vector</a:t>
            </a:r>
            <a:br>
              <a:rPr dirty="0"/>
            </a:br>
            <a:r>
              <a:rPr dirty="0"/>
              <a:t>  b = bias (scalar)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25880"/>
            <a:ext cx="39319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x = np.array([0.5, 0.3, 0.8])  # input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w = np.array([0.4, 0.6, 0.2])  # weights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b = 0.1                         # bias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Dot product (weighted sum)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z = np.dot(x, w) + b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= 0.5*0.4 + 0.3*0.6 + 0.8*0.2 + 0.1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= 0.20 + 0.18 + 0.16 + 0.1 = 0.64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Apply activation (e.g., ReLU)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output = max(0, z)  # 0.64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Matrix Multiplication: Processing Batches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How an entire layer processes all samples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79"/>
            <a:ext cx="4754880" cy="1974273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For A (</a:t>
            </a:r>
            <a:r>
              <a:rPr dirty="0" err="1"/>
              <a:t>m×n</a:t>
            </a:r>
            <a:r>
              <a:rPr dirty="0"/>
              <a:t>) and B (</a:t>
            </a:r>
            <a:r>
              <a:rPr dirty="0" err="1"/>
              <a:t>n×p</a:t>
            </a:r>
            <a:r>
              <a:rPr dirty="0"/>
              <a:t>), result C = A @ B is (</a:t>
            </a:r>
            <a:r>
              <a:rPr dirty="0" err="1"/>
              <a:t>m×p</a:t>
            </a:r>
            <a:r>
              <a:rPr dirty="0"/>
              <a:t>)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Each element: Cᵢⱼ = row </a:t>
            </a:r>
            <a:r>
              <a:rPr dirty="0" err="1"/>
              <a:t>i</a:t>
            </a:r>
            <a:r>
              <a:rPr dirty="0"/>
              <a:t> of A · column j of B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Shape rule: (m, n) @ (n, p) → (m, p)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         ↑  ↑    ↑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      inner dimensions must match!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A LAYER IS JUST MATRIX MULTIPLICATION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749040"/>
            <a:ext cx="475488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Output = activation(X @ W + b)</a:t>
            </a:r>
            <a:br/>
            <a:br/>
            <a:r>
              <a:t>X: (batch_size, input_features)</a:t>
            </a:r>
            <a:br/>
            <a:r>
              <a:t>W: (input_features, output_neurons)  →  Output: (batch_size, output_neurons)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325880"/>
            <a:ext cx="3474720" cy="27660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Batch: 32 samples, 4 features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X = </a:t>
            </a:r>
            <a:r>
              <a:rPr dirty="0" err="1"/>
              <a:t>np.random.randn</a:t>
            </a:r>
            <a:r>
              <a:rPr dirty="0"/>
              <a:t>(32, 4)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Weights: 4 inputs → 8 neurons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W = </a:t>
            </a:r>
            <a:r>
              <a:rPr dirty="0" err="1"/>
              <a:t>np.random.randn</a:t>
            </a:r>
            <a:r>
              <a:rPr dirty="0"/>
              <a:t>(4, 8)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b = </a:t>
            </a:r>
            <a:r>
              <a:rPr dirty="0" err="1"/>
              <a:t>np.zeros</a:t>
            </a:r>
            <a:r>
              <a:rPr dirty="0"/>
              <a:t>(8)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Forward pass</a:t>
            </a:r>
            <a:r>
              <a:rPr lang="en-US" dirty="0"/>
              <a:t>-</a:t>
            </a:r>
            <a:r>
              <a:rPr dirty="0"/>
              <a:t>through layer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Z = X @ W + b  # (32, 8)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or: Z = </a:t>
            </a:r>
            <a:r>
              <a:rPr dirty="0" err="1"/>
              <a:t>np.matmul</a:t>
            </a:r>
            <a:r>
              <a:rPr dirty="0"/>
              <a:t>(X, W) + b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ReLU</a:t>
            </a:r>
            <a:r>
              <a:rPr dirty="0"/>
              <a:t> activation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A = </a:t>
            </a:r>
            <a:r>
              <a:rPr dirty="0" err="1"/>
              <a:t>np.maximum</a:t>
            </a:r>
            <a:r>
              <a:rPr dirty="0"/>
              <a:t>(0, Z)  # (32, 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Transpose: Flipping Rows and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Essential for making matrix dimensions align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114800" cy="1824644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Transpose swaps rows ↔ columns: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</a:t>
            </a:r>
            <a:r>
              <a:rPr lang="en-US" dirty="0"/>
              <a:t>  </a:t>
            </a:r>
            <a:r>
              <a:rPr dirty="0"/>
              <a:t>┌ </a:t>
            </a:r>
            <a:r>
              <a:rPr lang="en-US" dirty="0"/>
              <a:t>	         </a:t>
            </a:r>
            <a:r>
              <a:rPr dirty="0"/>
              <a:t>┐ᵀ   </a:t>
            </a:r>
            <a:r>
              <a:rPr lang="en-US" dirty="0"/>
              <a:t> </a:t>
            </a:r>
            <a:r>
              <a:rPr dirty="0"/>
              <a:t>┌ 1  4 ┐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A = │ 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2</a:t>
            </a:r>
            <a:r>
              <a:rPr dirty="0"/>
              <a:t>  </a:t>
            </a:r>
            <a:r>
              <a:rPr lang="en-US" dirty="0"/>
              <a:t>3</a:t>
            </a:r>
            <a:r>
              <a:rPr dirty="0"/>
              <a:t> │  =  │ 2  5 │ = Aᵀ</a:t>
            </a:r>
            <a:endParaRPr lang="en-US" dirty="0"/>
          </a:p>
          <a:p>
            <a:pPr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lang="en-US" dirty="0"/>
              <a:t>      │ 4  5  6 │      │ 3  6 │</a:t>
            </a: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</a:t>
            </a:r>
            <a:r>
              <a:rPr lang="en-US" dirty="0"/>
              <a:t>  └</a:t>
            </a:r>
            <a:r>
              <a:rPr dirty="0"/>
              <a:t>  </a:t>
            </a:r>
            <a:r>
              <a:rPr lang="en-US" dirty="0"/>
              <a:t>   </a:t>
            </a:r>
            <a:r>
              <a:rPr dirty="0"/>
              <a:t>      ┘ </a:t>
            </a:r>
            <a:r>
              <a:rPr lang="en-US" dirty="0"/>
              <a:t>     └</a:t>
            </a:r>
            <a:r>
              <a:rPr dirty="0"/>
              <a:t>      </a:t>
            </a:r>
            <a:r>
              <a:rPr lang="en-US" dirty="0"/>
              <a:t> </a:t>
            </a:r>
            <a:r>
              <a:rPr dirty="0"/>
              <a:t>┘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Shape: (2, 3)  →  (3,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876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562004"/>
            <a:ext cx="4114800" cy="7772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60772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• Align dimensions for matrix multiplication</a:t>
            </a:r>
            <a:br/>
            <a:r>
              <a:t>• Backpropagation requires transposed weights</a:t>
            </a:r>
            <a:br/>
            <a:r>
              <a:t>• Computing gradients: ∂L/∂W = Xᵀ @ ∂L/∂Z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325880"/>
            <a:ext cx="4114800" cy="27660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A = np.array([[1, 2, 3],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          [4, 5, 6]])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print(A.shape)    # (2, 3)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Transpose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A_T = A.T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print(A_T.shape)  # (3, 2)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In backpropagation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dW = X.T @ dZ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dZ = np.random.randn(32, 8)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X = np.random.randn(32, 4)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dW = X.T @ dZ  # (4, 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Derivatives: Measuring Rate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rPr dirty="0"/>
              <a:t>The foundation of </a:t>
            </a:r>
            <a:r>
              <a:rPr lang="en-US" dirty="0"/>
              <a:t>‘learning’ </a:t>
            </a:r>
            <a:r>
              <a:rPr dirty="0"/>
              <a:t>— how much does output change when input changes?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114800" cy="2198716"/>
          </a:xfrm>
          <a:prstGeom prst="roundRect">
            <a:avLst/>
          </a:prstGeom>
          <a:solidFill>
            <a:srgbClr val="1F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Derivative = slope = rate of change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>
              <a:solidFill>
                <a:schemeClr val="bg1"/>
              </a:solidFill>
            </a:endParaRP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f'(x) = </a:t>
            </a:r>
            <a:r>
              <a:rPr dirty="0" err="1">
                <a:solidFill>
                  <a:schemeClr val="bg1"/>
                </a:solidFill>
              </a:rPr>
              <a:t>df</a:t>
            </a:r>
            <a:r>
              <a:rPr dirty="0">
                <a:solidFill>
                  <a:schemeClr val="bg1"/>
                </a:solidFill>
              </a:rPr>
              <a:t>/dx = </a:t>
            </a:r>
            <a:r>
              <a:rPr dirty="0" err="1">
                <a:solidFill>
                  <a:schemeClr val="bg1"/>
                </a:solidFill>
              </a:rPr>
              <a:t>lim</a:t>
            </a:r>
            <a:r>
              <a:rPr dirty="0">
                <a:solidFill>
                  <a:schemeClr val="bg1"/>
                </a:solidFill>
              </a:rPr>
              <a:t>   f(</a:t>
            </a:r>
            <a:r>
              <a:rPr dirty="0" err="1">
                <a:solidFill>
                  <a:schemeClr val="bg1"/>
                </a:solidFill>
              </a:rPr>
              <a:t>x+h</a:t>
            </a:r>
            <a:r>
              <a:rPr dirty="0">
                <a:solidFill>
                  <a:schemeClr val="bg1"/>
                </a:solidFill>
              </a:rPr>
              <a:t>) - f(x)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               h→0  ─────────────────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                          h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>
              <a:solidFill>
                <a:schemeClr val="bg1"/>
              </a:solidFill>
            </a:endParaRP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Example: f(x) = x²  →  f'(x) = 2x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At x=3: slope = 6 (steep!)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5703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WHY IT MATTERS FOR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44636"/>
            <a:ext cx="4114800" cy="73152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890356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The derivative tells us HOW to adjust weights:</a:t>
            </a:r>
            <a:br/>
            <a:r>
              <a:t>• If ∂Loss/∂w &gt; 0: decrease w (loss goes up with w)</a:t>
            </a:r>
            <a:br/>
            <a:r>
              <a:t>• If ∂Loss/∂w &lt; 0: increase w (loss goes down with 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COMMON DERIVATIVES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325880"/>
            <a:ext cx="4114800" cy="23774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Rules you'll see in neural networks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Power rule: d/dx[xⁿ] = n·xⁿ⁻¹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x²  →  2x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x³  →  3x²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Chain rule: d/dx[f(g(x))] = f'(g(x))·g'(x)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This is the heart of backpropagation!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Example: d/dx[(2x+1)²]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# = 2(2x+1) · 2 = 4(2x+1)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Partial Derivatives: Multiple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When loss depends on MANY weights, we need partial derivatives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79"/>
            <a:ext cx="4297680" cy="2194559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For f(x, y, z) with multiple inputs: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∂f/∂x = derivative treating y, z as constants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∂f/∂y = derivative treating x, z as constants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Example: f(x, y) = x²y + 3y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∂f/∂x = 2xy    (</a:t>
            </a:r>
            <a:r>
              <a:rPr lang="en-US" dirty="0"/>
              <a:t>treat </a:t>
            </a:r>
            <a:r>
              <a:rPr dirty="0"/>
              <a:t>y </a:t>
            </a:r>
            <a:r>
              <a:rPr lang="en-US" dirty="0"/>
              <a:t>a</a:t>
            </a:r>
            <a:r>
              <a:rPr dirty="0"/>
              <a:t>s constant)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∂f/∂y = x² + 3  (</a:t>
            </a:r>
            <a:r>
              <a:rPr lang="en-US" dirty="0"/>
              <a:t>treat </a:t>
            </a:r>
            <a:r>
              <a:rPr dirty="0"/>
              <a:t>x </a:t>
            </a:r>
            <a:r>
              <a:rPr lang="en-US" dirty="0"/>
              <a:t>a</a:t>
            </a:r>
            <a:r>
              <a:rPr dirty="0"/>
              <a:t>s constant)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0356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GRADIENT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77887"/>
            <a:ext cx="429768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23607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Gradient = vector of all partial derivatives</a:t>
            </a:r>
            <a:br/>
            <a:r>
              <a:t>∇f = [∂f/∂x, ∂f/∂y, ∂f/∂z, ...]</a:t>
            </a:r>
            <a:br/>
            <a:br/>
            <a:r>
              <a:t>Points in direction of steepest increase!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FOR NEURAL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25880"/>
            <a:ext cx="3931920" cy="27660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Loss depends on ALL weights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L = f(w₁, w₂, w₃, ..., wₙ)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We need gradient </a:t>
            </a:r>
            <a:r>
              <a:rPr dirty="0" err="1"/>
              <a:t>w.r.t.</a:t>
            </a:r>
            <a:r>
              <a:rPr dirty="0"/>
              <a:t> each weight: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∇L = [∂L/∂w₁, ∂L/∂w₂, ..., ∂L/∂wₙ]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This tells us how to update each weight!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w_new</a:t>
            </a:r>
            <a:r>
              <a:rPr dirty="0"/>
              <a:t> = </a:t>
            </a:r>
            <a:r>
              <a:rPr dirty="0" err="1"/>
              <a:t>w_old</a:t>
            </a:r>
            <a:r>
              <a:rPr dirty="0"/>
              <a:t> - </a:t>
            </a:r>
            <a:r>
              <a:rPr dirty="0" err="1"/>
              <a:t>learning_rate</a:t>
            </a:r>
            <a:r>
              <a:rPr dirty="0"/>
              <a:t> * ∂L/∂w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Keras</a:t>
            </a:r>
            <a:r>
              <a:rPr dirty="0"/>
              <a:t>/TensorFlow compute this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automatically via </a:t>
            </a:r>
            <a:r>
              <a:rPr dirty="0" err="1"/>
              <a:t>autograd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Chain Rule: Heart of 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How gradients flow backwards through composed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79"/>
            <a:ext cx="4572000" cy="2157153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If y = f(u) and u = g(x), then: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dy/dx = dy/du · du/dx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"Derivative of outer × derivative of inner"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Example: y = (3x + 2)²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t>  dy/dx = 2(3x+2) · 3 = 6(3x + 2)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A NEURAL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86200"/>
            <a:ext cx="45720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∂Loss/∂w₁ = ∂Loss/∂output · ∂output/∂hidden · ∂hidden/∂w₁</a:t>
            </a:r>
            <a:br/>
            <a:br/>
            <a:r>
              <a:t>Gradients multiply as they flow backward through layers!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EXAMPLE: ONE NEURON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25880"/>
            <a:ext cx="3657600" cy="32918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Forward: z = </a:t>
            </a:r>
            <a:r>
              <a:rPr dirty="0" err="1"/>
              <a:t>wx</a:t>
            </a:r>
            <a:r>
              <a:rPr dirty="0"/>
              <a:t> + b, a = </a:t>
            </a:r>
            <a:r>
              <a:rPr dirty="0" err="1"/>
              <a:t>relu</a:t>
            </a:r>
            <a:r>
              <a:rPr dirty="0"/>
              <a:t>(z)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x, w, b = 2.0, 0.5, 0.1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z = w * x + b        # z = 1.1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a = max(0, z)        # a = 1.1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Backward (chain rule):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dL_da</a:t>
            </a:r>
            <a:r>
              <a:rPr dirty="0"/>
              <a:t> = 1.0          # from next layer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da_dz</a:t>
            </a:r>
            <a:r>
              <a:rPr dirty="0"/>
              <a:t> = 1 if z &gt; 0 else 0  # </a:t>
            </a:r>
            <a:r>
              <a:rPr dirty="0" err="1"/>
              <a:t>relu</a:t>
            </a:r>
            <a:r>
              <a:rPr dirty="0"/>
              <a:t> </a:t>
            </a:r>
            <a:r>
              <a:rPr dirty="0" err="1"/>
              <a:t>deriv</a:t>
            </a: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dz_dw</a:t>
            </a:r>
            <a:r>
              <a:rPr dirty="0"/>
              <a:t> = x            # = 2.0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Chain them together: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dL_dw</a:t>
            </a:r>
            <a:r>
              <a:rPr dirty="0"/>
              <a:t> = </a:t>
            </a:r>
            <a:r>
              <a:rPr dirty="0" err="1"/>
              <a:t>dL_da</a:t>
            </a:r>
            <a:r>
              <a:rPr dirty="0"/>
              <a:t> * </a:t>
            </a:r>
            <a:r>
              <a:rPr dirty="0" err="1"/>
              <a:t>da_dz</a:t>
            </a:r>
            <a:r>
              <a:rPr dirty="0"/>
              <a:t> * </a:t>
            </a:r>
            <a:r>
              <a:rPr dirty="0" err="1"/>
              <a:t>dz_dw</a:t>
            </a: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    = 1.0 * 1 * 2.0 = 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Gradient Descent: How Networks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Iteratively adjust weights to minimize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297680" cy="2491740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Repeat until converged: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1. Forward pass: compute predictions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2. Compute loss: how wrong are we?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3. Backward pass: compute gradients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4. Update weights: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w_new</a:t>
            </a:r>
            <a:r>
              <a:rPr dirty="0"/>
              <a:t> = </a:t>
            </a:r>
            <a:r>
              <a:rPr dirty="0" err="1"/>
              <a:t>w_old</a:t>
            </a:r>
            <a:r>
              <a:rPr dirty="0"/>
              <a:t> - α · ∂Loss/∂w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α = learning rate (step size)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9547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INTUITION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229100"/>
            <a:ext cx="4297680" cy="45720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42748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5724"/>
                </a:solidFill>
                <a:latin typeface="Arial"/>
              </a:defRPr>
            </a:pPr>
            <a:r>
              <a:t>Like rolling a ball downhill — the gradient tells us which direction is "down" (decreasing loss)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25879"/>
            <a:ext cx="3931920" cy="3395749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Simple gradient descent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learning_rate</a:t>
            </a:r>
            <a:r>
              <a:rPr dirty="0"/>
              <a:t> = 0.01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for epoch in range(100):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# Forward pass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y_pred</a:t>
            </a:r>
            <a:r>
              <a:rPr dirty="0"/>
              <a:t> = model(X)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loss = </a:t>
            </a:r>
            <a:r>
              <a:rPr dirty="0" err="1"/>
              <a:t>compute_loss</a:t>
            </a:r>
            <a:r>
              <a:rPr dirty="0"/>
              <a:t>(</a:t>
            </a:r>
            <a:r>
              <a:rPr dirty="0" err="1"/>
              <a:t>y_pred</a:t>
            </a:r>
            <a:r>
              <a:rPr dirty="0"/>
              <a:t>, </a:t>
            </a:r>
            <a:r>
              <a:rPr dirty="0" err="1"/>
              <a:t>y_true</a:t>
            </a:r>
            <a:r>
              <a:rPr dirty="0"/>
              <a:t>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# Backward pass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gradients = </a:t>
            </a:r>
            <a:r>
              <a:rPr dirty="0" err="1"/>
              <a:t>compute_gradients</a:t>
            </a:r>
            <a:r>
              <a:rPr dirty="0"/>
              <a:t>(loss)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# Update weights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for w, grad in zip(weights, gradients):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w -= </a:t>
            </a:r>
            <a:r>
              <a:rPr dirty="0" err="1"/>
              <a:t>learning_rate</a:t>
            </a:r>
            <a:r>
              <a:rPr dirty="0"/>
              <a:t> * grad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Loss Functions: Measuring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The objective we minimize during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MSE (Regression)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114800" cy="914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MSE = (1/n) Σ (yᵢ - ŷᵢ)²</a:t>
            </a:r>
            <a:br/>
            <a:br/>
            <a:r>
              <a:t>Penalizes large errors more (squared)</a:t>
            </a:r>
            <a:br/>
            <a:r>
              <a:t>Used when predicting continuous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Cross-Entropy (Classification)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25880"/>
            <a:ext cx="4114800" cy="914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CE = -Σ yᵢ log(ŷᵢ)</a:t>
            </a:r>
            <a:br/>
            <a:br/>
            <a:r>
              <a:t>Penalizes confident wrong predictions</a:t>
            </a:r>
            <a:br/>
            <a:r>
              <a:t>Used with softmax for multi-class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651759"/>
            <a:ext cx="8595360" cy="1953491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Mean Squared Error                          # Cross-Entropy Loss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def </a:t>
            </a:r>
            <a:r>
              <a:rPr dirty="0" err="1"/>
              <a:t>mse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):                      def </a:t>
            </a:r>
            <a:r>
              <a:rPr dirty="0" err="1"/>
              <a:t>cross_entropy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return </a:t>
            </a:r>
            <a:r>
              <a:rPr dirty="0" err="1"/>
              <a:t>np.mean</a:t>
            </a:r>
            <a:r>
              <a:rPr dirty="0"/>
              <a:t>((</a:t>
            </a:r>
            <a:r>
              <a:rPr dirty="0" err="1"/>
              <a:t>y_true</a:t>
            </a:r>
            <a:r>
              <a:rPr dirty="0"/>
              <a:t> - </a:t>
            </a:r>
            <a:r>
              <a:rPr dirty="0" err="1"/>
              <a:t>y_pred</a:t>
            </a:r>
            <a:r>
              <a:rPr dirty="0"/>
              <a:t>)**2)          return -</a:t>
            </a:r>
            <a:r>
              <a:rPr dirty="0" err="1"/>
              <a:t>np.sum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 * </a:t>
            </a:r>
            <a:r>
              <a:rPr dirty="0" err="1"/>
              <a:t>np.log</a:t>
            </a:r>
            <a:r>
              <a:rPr dirty="0"/>
              <a:t>(</a:t>
            </a:r>
            <a:r>
              <a:rPr dirty="0" err="1"/>
              <a:t>y_pred</a:t>
            </a:r>
            <a:r>
              <a:rPr dirty="0"/>
              <a:t> + 1e-8))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In </a:t>
            </a:r>
            <a:r>
              <a:rPr dirty="0" err="1"/>
              <a:t>Keras</a:t>
            </a:r>
            <a:r>
              <a:rPr dirty="0"/>
              <a:t>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model.compile</a:t>
            </a:r>
            <a:r>
              <a:rPr dirty="0"/>
              <a:t>(loss='</a:t>
            </a:r>
            <a:r>
              <a:rPr dirty="0" err="1"/>
              <a:t>mse</a:t>
            </a:r>
            <a:r>
              <a:rPr dirty="0"/>
              <a:t>', ...)               # Regression: predicting house prices, temperatures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model.compile</a:t>
            </a:r>
            <a:r>
              <a:rPr dirty="0"/>
              <a:t>(loss='</a:t>
            </a:r>
            <a:r>
              <a:rPr dirty="0" err="1"/>
              <a:t>categorical_crossentropy</a:t>
            </a:r>
            <a:r>
              <a:rPr dirty="0"/>
              <a:t>', ...)  # Classification: cat vs dog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Cosine Similarity: Comparing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Measure how similar two vectors are, ignoring magnitude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297680" cy="2265218"/>
          </a:xfrm>
          <a:prstGeom prst="roundRect">
            <a:avLst/>
          </a:prstGeom>
          <a:solidFill>
            <a:srgbClr val="FFFFFF"/>
          </a:solidFill>
          <a:ln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        a · b          </a:t>
            </a:r>
            <a:r>
              <a:rPr dirty="0" err="1"/>
              <a:t>Σ</a:t>
            </a:r>
            <a:r>
              <a:rPr dirty="0"/>
              <a:t> </a:t>
            </a:r>
            <a:r>
              <a:rPr dirty="0" err="1"/>
              <a:t>aᵢb</a:t>
            </a:r>
            <a:r>
              <a:rPr dirty="0"/>
              <a:t>ᵢ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cos(</a:t>
            </a:r>
            <a:r>
              <a:rPr dirty="0" err="1"/>
              <a:t>θ</a:t>
            </a:r>
            <a:r>
              <a:rPr dirty="0"/>
              <a:t>) = ───────── = ─────────────────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       ||a|| ||b||   √(Σaᵢ²) √(Σbᵢ²)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Range: -1 to +1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+1 = identical direction (most similar)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 0 = perpendicular (unrelated)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/>
              <a:t>  -1 = opposite direction (most different)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49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COSINE 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023360"/>
            <a:ext cx="429768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4069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cosine_distance = 1 - cosine_similarity</a:t>
            </a:r>
            <a:br/>
            <a:br/>
            <a:r>
              <a:t>0 = identical, 2 = opposite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WHERE IT'S 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25880"/>
            <a:ext cx="3931920" cy="822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3716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rPr dirty="0"/>
              <a:t>• </a:t>
            </a:r>
            <a:r>
              <a:rPr lang="en-US" dirty="0"/>
              <a:t>E</a:t>
            </a:r>
            <a:r>
              <a:rPr dirty="0"/>
              <a:t>mbeddings (word2vec, </a:t>
            </a:r>
            <a:r>
              <a:rPr dirty="0" err="1"/>
              <a:t>GloVe</a:t>
            </a:r>
            <a:r>
              <a:rPr dirty="0"/>
              <a:t>)</a:t>
            </a:r>
            <a:br>
              <a:rPr dirty="0"/>
            </a:br>
            <a:r>
              <a:rPr dirty="0"/>
              <a:t>• Sentence similarity (transformers)</a:t>
            </a:r>
            <a:br>
              <a:rPr dirty="0"/>
            </a:br>
            <a:r>
              <a:rPr dirty="0"/>
              <a:t>• Recommendation systems</a:t>
            </a:r>
            <a:br>
              <a:rPr dirty="0"/>
            </a:br>
            <a:r>
              <a:rPr dirty="0"/>
              <a:t>• Image similarity (embedding space)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240280"/>
            <a:ext cx="3931920" cy="2838796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def </a:t>
            </a:r>
            <a:r>
              <a:rPr dirty="0" err="1"/>
              <a:t>cosine_similarity</a:t>
            </a:r>
            <a:r>
              <a:rPr dirty="0"/>
              <a:t>(a, b):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dot = </a:t>
            </a:r>
            <a:r>
              <a:rPr dirty="0" err="1"/>
              <a:t>np.dot</a:t>
            </a:r>
            <a:r>
              <a:rPr dirty="0"/>
              <a:t>(a, b)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norm_a</a:t>
            </a:r>
            <a:r>
              <a:rPr dirty="0"/>
              <a:t> = </a:t>
            </a:r>
            <a:r>
              <a:rPr dirty="0" err="1"/>
              <a:t>np.linalg.norm</a:t>
            </a:r>
            <a:r>
              <a:rPr dirty="0"/>
              <a:t>(a)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norm_b</a:t>
            </a:r>
            <a:r>
              <a:rPr dirty="0"/>
              <a:t> = </a:t>
            </a:r>
            <a:r>
              <a:rPr dirty="0" err="1"/>
              <a:t>np.linalg.norm</a:t>
            </a:r>
            <a:r>
              <a:rPr dirty="0"/>
              <a:t>(b)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return dot / (</a:t>
            </a:r>
            <a:r>
              <a:rPr dirty="0" err="1"/>
              <a:t>norm_a</a:t>
            </a:r>
            <a:r>
              <a:rPr dirty="0"/>
              <a:t> * </a:t>
            </a:r>
            <a:r>
              <a:rPr dirty="0" err="1"/>
              <a:t>norm_b</a:t>
            </a:r>
            <a:r>
              <a:rPr dirty="0"/>
              <a:t>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Example: word embeddings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king = model['king']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queen = model['queen']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apple = model['apple']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cosine_similarity</a:t>
            </a:r>
            <a:r>
              <a:rPr dirty="0"/>
              <a:t>(king, queen))  # ~0.7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cosine_similarity</a:t>
            </a:r>
            <a:r>
              <a:rPr dirty="0"/>
              <a:t>(king, apple))  # ~0.1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t>Normalization: Scaling for Stable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Neural networks train better when features are on similar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Min-Max (0 to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2743200" cy="822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x' = (x - min) / (max - min)</a:t>
            </a:r>
            <a:br/>
            <a:br/>
            <a:r>
              <a:t>Scales to [0, 1]</a:t>
            </a:r>
            <a:br/>
            <a:r>
              <a:t>Good for images: x / 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Z-Score (Standardization)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743200" cy="822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x' = (x - μ) / σ</a:t>
            </a:r>
            <a:br/>
            <a:br/>
            <a:r>
              <a:t>Mean=0, Std=1</a:t>
            </a:r>
            <a:br/>
            <a:r>
              <a:t>Most common for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051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Batch Normalization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60320" cy="822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213E"/>
                </a:solidFill>
                <a:latin typeface="Arial"/>
              </a:defRPr>
            </a:pPr>
            <a:r>
              <a:t>Normalize activations</a:t>
            </a:r>
            <a:br/>
            <a:r>
              <a:t>within each mini-batch</a:t>
            </a:r>
            <a:br/>
            <a:br/>
            <a:r>
              <a:t>Speeds up training!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560320"/>
            <a:ext cx="8595360" cy="23088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Min-Max normalization                        # Z-score standardization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X_norm</a:t>
            </a:r>
            <a:r>
              <a:rPr dirty="0"/>
              <a:t> = (X - </a:t>
            </a:r>
            <a:r>
              <a:rPr dirty="0" err="1"/>
              <a:t>X.min</a:t>
            </a:r>
            <a:r>
              <a:rPr dirty="0"/>
              <a:t>()) / (</a:t>
            </a:r>
            <a:r>
              <a:rPr dirty="0" err="1"/>
              <a:t>X.max</a:t>
            </a:r>
            <a:r>
              <a:rPr dirty="0"/>
              <a:t>() - </a:t>
            </a:r>
            <a:r>
              <a:rPr dirty="0" err="1"/>
              <a:t>X.min</a:t>
            </a:r>
            <a:r>
              <a:rPr dirty="0"/>
              <a:t>())   </a:t>
            </a:r>
            <a:r>
              <a:rPr dirty="0" err="1"/>
              <a:t>X_std</a:t>
            </a:r>
            <a:r>
              <a:rPr dirty="0"/>
              <a:t> = (X - </a:t>
            </a:r>
            <a:r>
              <a:rPr dirty="0" err="1"/>
              <a:t>X.mean</a:t>
            </a:r>
            <a:r>
              <a:rPr dirty="0"/>
              <a:t>()) / </a:t>
            </a:r>
            <a:r>
              <a:rPr dirty="0" err="1"/>
              <a:t>X.std</a:t>
            </a:r>
            <a:r>
              <a:rPr dirty="0"/>
              <a:t>()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For images (pixel values 0-255)              # Using </a:t>
            </a:r>
            <a:r>
              <a:rPr dirty="0" err="1"/>
              <a:t>sklearn</a:t>
            </a: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X_images = X_images / 255.0                    from </a:t>
            </a:r>
            <a:r>
              <a:rPr dirty="0" err="1"/>
              <a:t>sklearn.preprocessing</a:t>
            </a:r>
            <a:r>
              <a:rPr dirty="0"/>
              <a:t> import </a:t>
            </a:r>
            <a:r>
              <a:rPr dirty="0" err="1"/>
              <a:t>StandardScaler</a:t>
            </a: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                                       scaler = </a:t>
            </a:r>
            <a:r>
              <a:rPr dirty="0" err="1"/>
              <a:t>StandardScaler</a:t>
            </a:r>
            <a:r>
              <a:rPr dirty="0"/>
              <a:t>()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In </a:t>
            </a:r>
            <a:r>
              <a:rPr dirty="0" err="1"/>
              <a:t>Keras</a:t>
            </a:r>
            <a:r>
              <a:rPr dirty="0"/>
              <a:t>                                     </a:t>
            </a:r>
            <a:r>
              <a:rPr dirty="0" err="1"/>
              <a:t>X_scaled</a:t>
            </a:r>
            <a:r>
              <a:rPr dirty="0"/>
              <a:t> = </a:t>
            </a:r>
            <a:r>
              <a:rPr dirty="0" err="1"/>
              <a:t>scaler.fit_transform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keras.layers</a:t>
            </a:r>
            <a:r>
              <a:rPr dirty="0"/>
              <a:t> import </a:t>
            </a:r>
            <a:r>
              <a:rPr dirty="0" err="1"/>
              <a:t>BatchNormalization</a:t>
            </a: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model.add</a:t>
            </a:r>
            <a:r>
              <a:rPr dirty="0"/>
              <a:t>(Dense(64, activation='</a:t>
            </a:r>
            <a:r>
              <a:rPr dirty="0" err="1"/>
              <a:t>relu</a:t>
            </a:r>
            <a:r>
              <a:rPr dirty="0"/>
              <a:t>'))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model.add</a:t>
            </a:r>
            <a:r>
              <a:rPr dirty="0"/>
              <a:t>(</a:t>
            </a:r>
            <a:r>
              <a:rPr dirty="0" err="1"/>
              <a:t>BatchNormalization</a:t>
            </a:r>
            <a:r>
              <a:rPr dirty="0"/>
              <a:t>())  # After activation or before - both 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Softmax: Scores to Probabilities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4560"/>
                </a:solidFill>
                <a:latin typeface="Arial"/>
              </a:defRPr>
            </a:pPr>
            <a:r>
              <a:t>The final step in classification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THE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297680" cy="2190404"/>
          </a:xfrm>
          <a:prstGeom prst="roundRect">
            <a:avLst/>
          </a:prstGeom>
          <a:solidFill>
            <a:srgbClr val="1F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          </a:t>
            </a:r>
            <a:r>
              <a:rPr lang="en-US" dirty="0">
                <a:solidFill>
                  <a:schemeClr val="bg1"/>
                </a:solidFill>
              </a:rPr>
              <a:t>			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eˣ</a:t>
            </a:r>
            <a:r>
              <a:rPr dirty="0">
                <a:solidFill>
                  <a:schemeClr val="bg1"/>
                </a:solidFill>
              </a:rPr>
              <a:t>ⁱ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 err="1">
                <a:solidFill>
                  <a:schemeClr val="bg1"/>
                </a:solidFill>
              </a:rPr>
              <a:t>softmax</a:t>
            </a:r>
            <a:r>
              <a:rPr dirty="0">
                <a:solidFill>
                  <a:schemeClr val="bg1"/>
                </a:solidFill>
              </a:rPr>
              <a:t>(xᵢ) = ─────────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            </a:t>
            </a:r>
            <a:r>
              <a:rPr lang="en-US" dirty="0">
                <a:solidFill>
                  <a:schemeClr val="bg1"/>
                </a:solidFill>
              </a:rPr>
              <a:t>		</a:t>
            </a:r>
            <a:r>
              <a:rPr dirty="0" err="1">
                <a:solidFill>
                  <a:schemeClr val="bg1"/>
                </a:solidFill>
              </a:rPr>
              <a:t>Σ</a:t>
            </a:r>
            <a:r>
              <a:rPr dirty="0">
                <a:solidFill>
                  <a:schemeClr val="bg1"/>
                </a:solidFill>
              </a:rPr>
              <a:t>ⱼ </a:t>
            </a:r>
            <a:r>
              <a:rPr dirty="0" err="1">
                <a:solidFill>
                  <a:schemeClr val="bg1"/>
                </a:solidFill>
              </a:rPr>
              <a:t>eˣʲ</a:t>
            </a:r>
            <a:endParaRPr dirty="0">
              <a:solidFill>
                <a:schemeClr val="bg1"/>
              </a:solidFill>
            </a:endParaRP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endParaRPr dirty="0">
              <a:solidFill>
                <a:schemeClr val="bg1"/>
              </a:solidFill>
            </a:endParaRP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Properties: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• All outputs between 0 and 1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• All outputs sum to exactly 1</a:t>
            </a:r>
          </a:p>
          <a:p>
            <a:pPr algn="l">
              <a:spcAft>
                <a:spcPts val="400"/>
              </a:spcAft>
              <a:defRPr sz="1200">
                <a:solidFill>
                  <a:srgbClr val="16213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• Larger inputs → larger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6804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3954780"/>
            <a:ext cx="4297680" cy="82296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40005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Raw scores: [2.0, 1.0, 0.1]</a:t>
            </a:r>
            <a:br/>
            <a:r>
              <a:t>                  ↓ softmax</a:t>
            </a:r>
            <a:br/>
            <a:r>
              <a:t>Probabilities: [0.659, 0.242, 0.099] → sum =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Arial"/>
              </a:defRPr>
            </a:pPr>
            <a:r>
              <a:t>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25880"/>
            <a:ext cx="3931920" cy="35433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def </a:t>
            </a:r>
            <a:r>
              <a:rPr dirty="0" err="1"/>
              <a:t>softmax</a:t>
            </a:r>
            <a:r>
              <a:rPr dirty="0"/>
              <a:t>(x):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# Subtract max for numerical stability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exp_x</a:t>
            </a:r>
            <a:r>
              <a:rPr dirty="0"/>
              <a:t> = </a:t>
            </a:r>
            <a:r>
              <a:rPr dirty="0" err="1"/>
              <a:t>np.exp</a:t>
            </a:r>
            <a:r>
              <a:rPr dirty="0"/>
              <a:t>(x - </a:t>
            </a:r>
            <a:r>
              <a:rPr dirty="0" err="1"/>
              <a:t>np.max</a:t>
            </a:r>
            <a:r>
              <a:rPr dirty="0"/>
              <a:t>(x))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return </a:t>
            </a:r>
            <a:r>
              <a:rPr dirty="0" err="1"/>
              <a:t>exp_x</a:t>
            </a:r>
            <a:r>
              <a:rPr dirty="0"/>
              <a:t> / </a:t>
            </a:r>
            <a:r>
              <a:rPr dirty="0" err="1"/>
              <a:t>exp_x.sum</a:t>
            </a:r>
            <a:r>
              <a:rPr dirty="0"/>
              <a:t>()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scores = </a:t>
            </a:r>
            <a:r>
              <a:rPr dirty="0" err="1"/>
              <a:t>np.array</a:t>
            </a:r>
            <a:r>
              <a:rPr dirty="0"/>
              <a:t>([2.0, 1.0, 0.1])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probs = </a:t>
            </a:r>
            <a:r>
              <a:rPr dirty="0" err="1"/>
              <a:t>softmax</a:t>
            </a:r>
            <a:r>
              <a:rPr dirty="0"/>
              <a:t>(scores)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[0.659, 0.242, 0.099]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In </a:t>
            </a:r>
            <a:r>
              <a:rPr dirty="0" err="1"/>
              <a:t>Keras</a:t>
            </a:r>
            <a:r>
              <a:rPr dirty="0"/>
              <a:t> (final layer for 10 classes):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model.add</a:t>
            </a:r>
            <a:r>
              <a:rPr dirty="0"/>
              <a:t>(Dense(10, activation='</a:t>
            </a:r>
            <a:r>
              <a:rPr dirty="0" err="1"/>
              <a:t>softmax</a:t>
            </a:r>
            <a:r>
              <a:rPr dirty="0"/>
              <a:t>'))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# Prediction = class with highest prob</a:t>
            </a:r>
          </a:p>
          <a:p>
            <a:pPr algn="l">
              <a:spcAft>
                <a:spcPts val="2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 err="1"/>
              <a:t>predicted_class</a:t>
            </a:r>
            <a:r>
              <a:rPr dirty="0"/>
              <a:t> = </a:t>
            </a:r>
            <a:r>
              <a:rPr dirty="0" err="1"/>
              <a:t>np.argmax</a:t>
            </a:r>
            <a:r>
              <a:rPr dirty="0"/>
              <a:t>(probs)  #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  <a:latin typeface="Arial"/>
              </a:defRPr>
            </a:pPr>
            <a:r>
              <a:rPr dirty="0"/>
              <a:t>Quick Reference: Math </a:t>
            </a:r>
            <a:r>
              <a:rPr lang="en-US" dirty="0"/>
              <a:t>of</a:t>
            </a:r>
            <a:r>
              <a:rPr dirty="0"/>
              <a:t>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17814"/>
            <a:ext cx="8595360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6353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Math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26353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In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6353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65286"/>
            <a:ext cx="8595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8357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Dot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8357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Single neuron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8357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np.dot(x, w) +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57894"/>
            <a:ext cx="8595360" cy="29260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87618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Matrix multiply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87618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Layer forward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618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X @ W +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50502"/>
            <a:ext cx="8595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16879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Transpose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879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Backprop gradient computation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6879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X.T @ dZ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43110"/>
            <a:ext cx="8595360" cy="29260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46139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Derivative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46139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Rate of change of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46139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∂L/∂w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35718"/>
            <a:ext cx="8595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75400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Partial derivative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75400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Gradient w.r.t. one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75400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∂L/∂wᵢ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28325"/>
            <a:ext cx="8595360" cy="29260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046613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Chain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304661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Backpropagation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046613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∂L/∂a · ∂a/∂z · ∂z/∂w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320933"/>
            <a:ext cx="8595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33922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Gradient descent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33922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Weight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339221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w -= lr * grad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613541"/>
            <a:ext cx="8595360" cy="29260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63182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Softmax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363182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Output probabilities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63182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activation='softmax'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06149"/>
            <a:ext cx="8595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92443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Cross-entropy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392443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Classification loss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392443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loss='categorical_crossentropy'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98757"/>
            <a:ext cx="8595360" cy="29260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21704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3E"/>
                </a:solidFill>
                <a:latin typeface="Arial"/>
              </a:defRPr>
            </a:pPr>
            <a:r>
              <a:t>Cosine similarity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421704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Arial"/>
              </a:defRPr>
            </a:pPr>
            <a:r>
              <a:t>Embedding comparison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217045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B7A"/>
                </a:solidFill>
                <a:latin typeface="Courier New"/>
              </a:defRPr>
            </a:pPr>
            <a:r>
              <a:t>dot / (norm_a * norm_b)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F4A8AA-1103-25A7-681C-56A6AE0B7E9B}"/>
              </a:ext>
            </a:extLst>
          </p:cNvPr>
          <p:cNvGrpSpPr/>
          <p:nvPr/>
        </p:nvGrpSpPr>
        <p:grpSpPr>
          <a:xfrm>
            <a:off x="274320" y="1268730"/>
            <a:ext cx="8412480" cy="2606040"/>
            <a:chOff x="274320" y="914400"/>
            <a:chExt cx="8412480" cy="2606040"/>
          </a:xfrm>
        </p:grpSpPr>
        <p:sp>
          <p:nvSpPr>
            <p:cNvPr id="4" name="Oval 3"/>
            <p:cNvSpPr/>
            <p:nvPr/>
          </p:nvSpPr>
          <p:spPr>
            <a:xfrm>
              <a:off x="274320" y="9144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20040" y="9418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9144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A neuron = dot product + activation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12344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Weighted sum of inputs, then non-linearity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74320" y="18288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" y="1856231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18288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A layer = matrix multiplication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21488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Process entire batches at once with X @ W + b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274320" y="27432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" y="27706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1520" y="27432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Learning = gradient descent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1520" y="30632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Adjust weights opposite to gradient direction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572000" y="9144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17720" y="9418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29200" y="9144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Backprop = chain rule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9200" y="12344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Gradients flow backward by multiplying local derivatives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4572000" y="18288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17720" y="1856231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29200" y="18288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Loss functions measure error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29200" y="21488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MSE for regression, cross-entropy for classification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572000" y="2743200"/>
              <a:ext cx="320040" cy="320040"/>
            </a:xfrm>
            <a:prstGeom prst="ellipse">
              <a:avLst/>
            </a:prstGeom>
            <a:solidFill>
              <a:srgbClr val="E945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17720" y="2770632"/>
              <a:ext cx="228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9200" y="2743200"/>
              <a:ext cx="3657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Arial"/>
                </a:defRPr>
              </a:pPr>
              <a:r>
                <a:t>Normalize your data!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29200" y="3063240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8C0D8"/>
                  </a:solidFill>
                  <a:latin typeface="Arial"/>
                </a:defRPr>
              </a:pPr>
              <a:r>
                <a:t>Similar scales → stable training → faster convergence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8C0D8"/>
                </a:solidFill>
                <a:latin typeface="Arial"/>
              </a:defRPr>
            </a:pPr>
            <a:r>
              <a:t>You don't need to derive these by hand — but understanding them helps you debug and design better models!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3001</Words>
  <Application>Microsoft Macintosh PowerPoint</Application>
  <PresentationFormat>On-screen Show (16:9)</PresentationFormat>
  <Paragraphs>377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Burtch, Gordon</cp:lastModifiedBy>
  <cp:revision>4</cp:revision>
  <dcterms:created xsi:type="dcterms:W3CDTF">2013-01-27T09:14:16Z</dcterms:created>
  <dcterms:modified xsi:type="dcterms:W3CDTF">2026-01-24T22:39:12Z</dcterms:modified>
  <cp:category/>
</cp:coreProperties>
</file>