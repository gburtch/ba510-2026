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7" r:id="rId4"/>
    <p:sldId id="312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82" r:id="rId13"/>
    <p:sldId id="283" r:id="rId14"/>
    <p:sldId id="269" r:id="rId15"/>
  </p:sldIdLst>
  <p:sldSz cx="12192000" cy="6858000"/>
  <p:notesSz cx="6858000" cy="9144000"/>
  <p:embeddedFontLst>
    <p:embeddedFont>
      <p:font typeface="Economica" panose="02000506040000020004" pitchFamily="2" charset="77"/>
      <p:regular r:id="rId17"/>
      <p:bold r:id="rId18"/>
      <p:italic r:id="rId19"/>
      <p:boldItalic r:id="rId20"/>
    </p:embeddedFont>
    <p:embeddedFont>
      <p:font typeface="Quicksand" pitchFamily="2" charset="77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6" roundtripDataSignature="AMtx7mijyj9g5Q2gUYSpHilbXARuoz9V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A01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B5EAB8A9-4BE5-7C31-2C2E-51E27F17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56747D83-14CE-B3EC-5540-3B917B4D0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9A3D3A72-8E0C-C006-3A71-B6141E3300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1476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60183314-3B03-7669-1BB5-6DEB48520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3:notes">
            <a:extLst>
              <a:ext uri="{FF2B5EF4-FFF2-40B4-BE49-F238E27FC236}">
                <a16:creationId xmlns:a16="http://schemas.microsoft.com/office/drawing/2014/main" id="{3AFD3840-E6C2-86EF-99DE-E72732601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p13:notes">
            <a:extLst>
              <a:ext uri="{FF2B5EF4-FFF2-40B4-BE49-F238E27FC236}">
                <a16:creationId xmlns:a16="http://schemas.microsoft.com/office/drawing/2014/main" id="{A609DAF2-01AA-005B-D4C4-B732C633A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 that I don’t expect you to implement a neural network from scratch. This is just to give you an understanding of how they work. </a:t>
            </a:r>
            <a:endParaRPr/>
          </a:p>
        </p:txBody>
      </p:sp>
      <p:sp>
        <p:nvSpPr>
          <p:cNvPr id="179" name="Google Shape;179;p13:notes">
            <a:extLst>
              <a:ext uri="{FF2B5EF4-FFF2-40B4-BE49-F238E27FC236}">
                <a16:creationId xmlns:a16="http://schemas.microsoft.com/office/drawing/2014/main" id="{8BF0F1D4-35D9-D4F3-0974-8DAF331453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87134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 that I don’t expect you to implement a neural network from scratch. This is just to give you an understanding of how they work. </a:t>
            </a:r>
            <a:endParaRPr/>
          </a:p>
        </p:txBody>
      </p:sp>
      <p:sp>
        <p:nvSpPr>
          <p:cNvPr id="187" name="Google Shape;18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18" name="Google Shape;18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6"/>
          <p:cNvSpPr txBox="1"/>
          <p:nvPr/>
        </p:nvSpPr>
        <p:spPr>
          <a:xfrm>
            <a:off x="168440" y="6349018"/>
            <a:ext cx="16950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© Gordon Burtch, 2026</a:t>
            </a: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17"/>
          <p:cNvSpPr txBox="1"/>
          <p:nvPr/>
        </p:nvSpPr>
        <p:spPr>
          <a:xfrm>
            <a:off x="168440" y="6349018"/>
            <a:ext cx="16950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© Gordon Burtch, 2026</a:t>
            </a: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/>
          <p:nvPr/>
        </p:nvSpPr>
        <p:spPr>
          <a:xfrm>
            <a:off x="3598446" y="3429000"/>
            <a:ext cx="4995106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Model Fitting &amp; First Examples</a:t>
            </a:r>
            <a:endParaRPr dirty="0"/>
          </a:p>
        </p:txBody>
      </p:sp>
      <p:sp>
        <p:nvSpPr>
          <p:cNvPr id="2" name="Google Shape;90;p1">
            <a:extLst>
              <a:ext uri="{FF2B5EF4-FFF2-40B4-BE49-F238E27FC236}">
                <a16:creationId xmlns:a16="http://schemas.microsoft.com/office/drawing/2014/main" id="{9B6608FE-C7CF-CCC1-19B2-4763E34C1DCB}"/>
              </a:ext>
            </a:extLst>
          </p:cNvPr>
          <p:cNvSpPr txBox="1"/>
          <p:nvPr/>
        </p:nvSpPr>
        <p:spPr>
          <a:xfrm>
            <a:off x="1140684" y="949272"/>
            <a:ext cx="9630881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Neural Networks: </a:t>
            </a:r>
            <a:br>
              <a:rPr lang="en-US" sz="72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</a:br>
            <a:r>
              <a:rPr lang="en-US" sz="72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Foundations to Generative AI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What’s In the News?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CE53AC-8259-1D3C-E59B-161C735C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799" y="1907698"/>
            <a:ext cx="7772400" cy="3527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This Week’s Agenda</a:t>
            </a:r>
            <a:endParaRPr dirty="0"/>
          </a:p>
        </p:txBody>
      </p:sp>
      <p:sp>
        <p:nvSpPr>
          <p:cNvPr id="103" name="Google Shape;103;p2"/>
          <p:cNvSpPr txBox="1"/>
          <p:nvPr/>
        </p:nvSpPr>
        <p:spPr>
          <a:xfrm>
            <a:off x="877084" y="1510268"/>
            <a:ext cx="10016400" cy="4185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News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lvl="0"/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First Hands-on Examples</a:t>
            </a:r>
            <a:endParaRPr lang="en-US"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Predicting labels in synthetic data and f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itting pure noise. </a:t>
            </a: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Boston Housing home-value prediction.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Predicting review valence / stars from text.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Detecting fake reviews. </a:t>
            </a:r>
            <a:endParaRPr lang="en-US" dirty="0">
              <a:ea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Dealing with Overfitting</a:t>
            </a:r>
            <a:endParaRPr lang="en-US"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Introducing the Individual Coding Assignment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More on the Final Project Proposal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255B1D6F-B212-6E42-EB2E-95FFFC3A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>
            <a:extLst>
              <a:ext uri="{FF2B5EF4-FFF2-40B4-BE49-F238E27FC236}">
                <a16:creationId xmlns:a16="http://schemas.microsoft.com/office/drawing/2014/main" id="{26C70B6E-B714-C5B7-B7FE-71E74667C149}"/>
              </a:ext>
            </a:extLst>
          </p:cNvPr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Early Stopping</a:t>
            </a:r>
            <a:endParaRPr/>
          </a:p>
        </p:txBody>
      </p:sp>
      <p:sp>
        <p:nvSpPr>
          <p:cNvPr id="109" name="Google Shape;109;p3">
            <a:extLst>
              <a:ext uri="{FF2B5EF4-FFF2-40B4-BE49-F238E27FC236}">
                <a16:creationId xmlns:a16="http://schemas.microsoft.com/office/drawing/2014/main" id="{D7687EC5-23FE-198B-96E7-0D7C97A45578}"/>
              </a:ext>
            </a:extLst>
          </p:cNvPr>
          <p:cNvSpPr txBox="1"/>
          <p:nvPr/>
        </p:nvSpPr>
        <p:spPr>
          <a:xfrm>
            <a:off x="890337" y="1940249"/>
            <a:ext cx="10016362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Monitoring Validation Performance and then Manually Limiting Epoch Count</a:t>
            </a:r>
            <a:endParaRPr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This is the sole approach we have been taking thus far.</a:t>
            </a:r>
            <a:endParaRPr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10" name="Google Shape;110;p3">
            <a:extLst>
              <a:ext uri="{FF2B5EF4-FFF2-40B4-BE49-F238E27FC236}">
                <a16:creationId xmlns:a16="http://schemas.microsoft.com/office/drawing/2014/main" id="{0BDEA9E3-BFA9-C3C1-3CCD-A604CE6CB91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7762" y="3109800"/>
            <a:ext cx="4956473" cy="329735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1" name="Google Shape;111;p3">
            <a:extLst>
              <a:ext uri="{FF2B5EF4-FFF2-40B4-BE49-F238E27FC236}">
                <a16:creationId xmlns:a16="http://schemas.microsoft.com/office/drawing/2014/main" id="{05872CCC-D1EB-CE91-27C5-7F6E96B6EE98}"/>
              </a:ext>
            </a:extLst>
          </p:cNvPr>
          <p:cNvCxnSpPr/>
          <p:nvPr/>
        </p:nvCxnSpPr>
        <p:spPr>
          <a:xfrm>
            <a:off x="5883965" y="3109800"/>
            <a:ext cx="0" cy="2880183"/>
          </a:xfrm>
          <a:prstGeom prst="straightConnector1">
            <a:avLst/>
          </a:prstGeom>
          <a:noFill/>
          <a:ln w="5715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255848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Overfitting</a:t>
            </a:r>
            <a:endParaRPr/>
          </a:p>
        </p:txBody>
      </p:sp>
      <p:sp>
        <p:nvSpPr>
          <p:cNvPr id="117" name="Google Shape;117;p4"/>
          <p:cNvSpPr txBox="1"/>
          <p:nvPr/>
        </p:nvSpPr>
        <p:spPr>
          <a:xfrm>
            <a:off x="890337" y="1940249"/>
            <a:ext cx="1001636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 Neural Network Can Easily Overfit…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Let’s look at an extreme case… </a:t>
            </a:r>
            <a:endParaRPr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18" name="Google Shape;118;p4" descr="Overfitting - Wikiped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41070" y="2214461"/>
            <a:ext cx="4025199" cy="4025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78155" y="3570387"/>
            <a:ext cx="2167081" cy="21411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 txBox="1"/>
          <p:nvPr/>
        </p:nvSpPr>
        <p:spPr>
          <a:xfrm>
            <a:off x="1842053" y="586938"/>
            <a:ext cx="850789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Regularizing Weights</a:t>
            </a:r>
            <a:endParaRPr/>
          </a:p>
        </p:txBody>
      </p:sp>
      <p:sp>
        <p:nvSpPr>
          <p:cNvPr id="125" name="Google Shape;125;p5"/>
          <p:cNvSpPr txBox="1"/>
          <p:nvPr/>
        </p:nvSpPr>
        <p:spPr>
          <a:xfrm>
            <a:off x="890337" y="1940249"/>
            <a:ext cx="10016362" cy="172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Regularization via Weight Constraints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Regularizing a layer’s weights means the weights are updated less as their collective magnitude (e.g., sum) gets larger. Both L1 or L2 norms can be used here applied. </a:t>
            </a:r>
            <a:endParaRPr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This approach is typically used to improve the validation performance of smaller networks. </a:t>
            </a:r>
            <a:endParaRPr dirty="0"/>
          </a:p>
        </p:txBody>
      </p:sp>
      <p:pic>
        <p:nvPicPr>
          <p:cNvPr id="126" name="Google Shape;12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13125" y="3597538"/>
            <a:ext cx="5365750" cy="2899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Dropout</a:t>
            </a:r>
            <a:endParaRPr/>
          </a:p>
        </p:txBody>
      </p:sp>
      <p:sp>
        <p:nvSpPr>
          <p:cNvPr id="132" name="Google Shape;132;p6"/>
          <p:cNvSpPr txBox="1"/>
          <p:nvPr/>
        </p:nvSpPr>
        <p:spPr>
          <a:xfrm>
            <a:off x="890337" y="1940249"/>
            <a:ext cx="10016362" cy="2277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Adding Dropout Layers to the Network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Dropout layers set a random proportion of edge weights to 0 in a given training iteration. Typically, between 20% and 50% of edges. </a:t>
            </a:r>
            <a:endParaRPr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When the final model is obtained, the 0’s are removed, and the output values are scaled down uniformly to account for the change in the number of edges. </a:t>
            </a:r>
            <a:endParaRPr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This approach is more commonly used with large / deep networks. </a:t>
            </a:r>
            <a:endParaRPr dirty="0"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33" name="Google Shape;13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04911" y="3998991"/>
            <a:ext cx="7582175" cy="22720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Adjust Batch Size</a:t>
            </a:r>
            <a:endParaRPr/>
          </a:p>
        </p:txBody>
      </p:sp>
      <p:pic>
        <p:nvPicPr>
          <p:cNvPr id="139" name="Google Shape;13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77948" y="1892150"/>
            <a:ext cx="5185464" cy="4484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04831" y="2873513"/>
            <a:ext cx="2057400" cy="187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Inject Noise</a:t>
            </a:r>
            <a:endParaRPr/>
          </a:p>
        </p:txBody>
      </p:sp>
      <p:sp>
        <p:nvSpPr>
          <p:cNvPr id="146" name="Google Shape;146;p8"/>
          <p:cNvSpPr txBox="1"/>
          <p:nvPr/>
        </p:nvSpPr>
        <p:spPr>
          <a:xfrm>
            <a:off x="890337" y="1940249"/>
            <a:ext cx="10016362" cy="144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Just Like Smaller Batch Size, but Purposeful</a:t>
            </a:r>
            <a:endParaRPr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One can manually jitter model weights at each iteration by ‘adding’ random noise.</a:t>
            </a:r>
            <a:endParaRPr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 can add noise to any model component, including the inputs, activations and outcome labels. </a:t>
            </a:r>
            <a:endParaRPr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47" name="Google Shape;147;p8" descr="Noise Vector Art, Icons, and Graphics for Free Downloa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86199" y="3603486"/>
            <a:ext cx="4419600" cy="2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Get More Data!</a:t>
            </a:r>
            <a:endParaRPr/>
          </a:p>
        </p:txBody>
      </p:sp>
      <p:sp>
        <p:nvSpPr>
          <p:cNvPr id="153" name="Google Shape;153;p9"/>
          <p:cNvSpPr txBox="1"/>
          <p:nvPr/>
        </p:nvSpPr>
        <p:spPr>
          <a:xfrm>
            <a:off x="890337" y="1940249"/>
            <a:ext cx="10016362" cy="1923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More Training Examples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Means you can have a bigger training data-set, which will presumably contain more information for the model to extract. </a:t>
            </a:r>
            <a:endParaRPr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This is the approach that often yields the best marginal returns, though it can also be most costly. </a:t>
            </a:r>
            <a:endParaRPr/>
          </a:p>
          <a:p>
            <a:pPr marL="7429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54" name="Google Shape;154;p9" descr="How the Data That Internet Companies Collect Can Be Used for the Public Goo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78170" y="3863853"/>
            <a:ext cx="4240696" cy="238539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Some Rules of Thumb</a:t>
            </a:r>
            <a:endParaRPr/>
          </a:p>
        </p:txBody>
      </p:sp>
      <p:sp>
        <p:nvSpPr>
          <p:cNvPr id="160" name="Google Shape;160;p10"/>
          <p:cNvSpPr txBox="1"/>
          <p:nvPr/>
        </p:nvSpPr>
        <p:spPr>
          <a:xfrm>
            <a:off x="890336" y="1754719"/>
            <a:ext cx="10820593" cy="4693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These Are Useful Guidelines for Your First Pass at a NN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Start with 2 hidden layers.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Give the first hidden layer (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num_inputs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/ 2) nodes and the next (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num_inputs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/ 4) nodes. If you add layers, decay the node count in this manner as you go along.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Use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ReLU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activations for hidden layers.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Add Dropout at every layer after the input, with a rate of 0.5 (don’t push beyond 0.5).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If learning is flat, then add more nodes in each layer.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Whiten continuous input data (de-mean, divide by standard deviation).</a:t>
            </a:r>
            <a:endParaRPr dirty="0"/>
          </a:p>
          <a:p>
            <a:pPr marL="742950" lvl="1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Ensure that you are performing cross-validation or evaluating against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a test set holdout.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For classification problems, apply class weights to balance labels (in the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model.fit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() function).</a:t>
            </a:r>
            <a:endParaRPr dirty="0"/>
          </a:p>
          <a:p>
            <a:pPr marL="742950" lvl="1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Use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RMSprop or Adam as your first optimizer.</a:t>
            </a:r>
            <a:endParaRPr dirty="0"/>
          </a:p>
          <a:p>
            <a:pPr marL="742950" lvl="1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Check that your loss function makes sense given your label value ranges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. Also, check that your output layer activation makes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sense!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Monitor accuracy as a metric for classification problems, MSE or MAE for regression.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Start with 20 epochs, increase if the validation loss has not yet 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plateaued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Start with a batch size of 16 and then double it to see effect on model performance.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DECB2-95D7-168B-7039-95A1AEF47D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6" name="Google Shape;183;p13">
            <a:extLst>
              <a:ext uri="{FF2B5EF4-FFF2-40B4-BE49-F238E27FC236}">
                <a16:creationId xmlns:a16="http://schemas.microsoft.com/office/drawing/2014/main" id="{620BB1B6-4619-B82A-FF59-694AB1418347}"/>
              </a:ext>
            </a:extLst>
          </p:cNvPr>
          <p:cNvSpPr txBox="1"/>
          <p:nvPr/>
        </p:nvSpPr>
        <p:spPr>
          <a:xfrm>
            <a:off x="539827" y="1335426"/>
            <a:ext cx="11023294" cy="4832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Examples of Past Student Projects That Had Some Success</a:t>
            </a: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Detect defects in images of leather samples (quality assurance).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Classify the ‘grade’ of a marble slab based on its photo (approximate value of the sample). 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Detect ‘out of control’ fires to notify emergency responders (based on CCTV images).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Label whether images of refuse contain recyclable materials or not. 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Recommend an appropriate ‘top’ for a pair of pants, or vice versa.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the calorie content from a recipe.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Detect whether a driver’s eyes are not on the road.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whether a review is likely to be ‘helpful’ to other consumers. </a:t>
            </a:r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Examples of Past Student Projects That Struggled</a:t>
            </a:r>
            <a:endParaRPr dirty="0"/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stock price movements using textual data from Reddit posts.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Forecast sales at Walmart locations.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engagement with a YouTube video based on its thumbnail and creator features.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Translating sign language into written text.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Classifying actions from sports video recordings.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Predicting pass success from professional hockey data. </a:t>
            </a:r>
          </a:p>
        </p:txBody>
      </p:sp>
      <p:sp>
        <p:nvSpPr>
          <p:cNvPr id="7" name="Google Shape;182;p13">
            <a:extLst>
              <a:ext uri="{FF2B5EF4-FFF2-40B4-BE49-F238E27FC236}">
                <a16:creationId xmlns:a16="http://schemas.microsoft.com/office/drawing/2014/main" id="{9549D814-774A-302B-93A4-9D9F5F790A93}"/>
              </a:ext>
            </a:extLst>
          </p:cNvPr>
          <p:cNvSpPr txBox="1"/>
          <p:nvPr/>
        </p:nvSpPr>
        <p:spPr>
          <a:xfrm>
            <a:off x="1267235" y="280722"/>
            <a:ext cx="965752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Past Project Examples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6846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>
          <a:extLst>
            <a:ext uri="{FF2B5EF4-FFF2-40B4-BE49-F238E27FC236}">
              <a16:creationId xmlns:a16="http://schemas.microsoft.com/office/drawing/2014/main" id="{8E375018-A404-C609-2825-8B6CC7A98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9A5B2445-10B4-3CA1-C1B4-E3D22E8F15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182" name="Google Shape;182;p13">
            <a:extLst>
              <a:ext uri="{FF2B5EF4-FFF2-40B4-BE49-F238E27FC236}">
                <a16:creationId xmlns:a16="http://schemas.microsoft.com/office/drawing/2014/main" id="{644AAE84-00ED-0BD1-C924-29D4C29E6089}"/>
              </a:ext>
            </a:extLst>
          </p:cNvPr>
          <p:cNvSpPr txBox="1"/>
          <p:nvPr/>
        </p:nvSpPr>
        <p:spPr>
          <a:xfrm>
            <a:off x="1267235" y="280722"/>
            <a:ext cx="965752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Coding Assignment</a:t>
            </a:r>
            <a:endParaRPr dirty="0"/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332C399E-105A-4C3A-0C76-148198E68082}"/>
              </a:ext>
            </a:extLst>
          </p:cNvPr>
          <p:cNvSpPr txBox="1"/>
          <p:nvPr/>
        </p:nvSpPr>
        <p:spPr>
          <a:xfrm>
            <a:off x="683046" y="1348800"/>
            <a:ext cx="10421130" cy="4493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Basic Prediction Exercise</a:t>
            </a: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 am providing you with a sample of real data from the Blue Bikeshare service (Boston bikeshare).</a:t>
            </a:r>
            <a:endParaRPr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Your goal is to use this data to predict how long an individual’s bike rental / trip will last (at the time they begin the rental). See instructions for the assignment on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Github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.</a:t>
            </a:r>
            <a:endParaRPr dirty="0"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Deliverable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Produce a </a:t>
            </a:r>
            <a:r>
              <a:rPr lang="en-US" sz="1800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Colab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notebook documenting your work. Submit the .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ipynb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file 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via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Blackboard before the assignment deadline.</a:t>
            </a:r>
            <a:endParaRPr dirty="0"/>
          </a:p>
          <a:p>
            <a:pPr marL="635000" lvl="1" indent="-173037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Make sure you comment your code well and follow the provided template so I am clear what you were trying to do! 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Answer conceptual questions laid out in the assignment document. 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Document your use of GenAI tools (include the prompts you used and screenshot output). 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State which other students you spoke to / interacted with when brainstorming how to solve the assignment.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1709059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90" name="Google Shape;190;p14"/>
          <p:cNvSpPr txBox="1"/>
          <p:nvPr/>
        </p:nvSpPr>
        <p:spPr>
          <a:xfrm>
            <a:off x="1267239" y="2967335"/>
            <a:ext cx="965752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Start Working Now… 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953</Words>
  <Application>Microsoft Macintosh PowerPoint</Application>
  <PresentationFormat>Widescreen</PresentationFormat>
  <Paragraphs>100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Economica</vt:lpstr>
      <vt:lpstr>Arial</vt:lpstr>
      <vt:lpstr>Calibri</vt:lpstr>
      <vt:lpstr>Quicksand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Gordon Burtch</dc:creator>
  <cp:lastModifiedBy>Burtch, Gordon</cp:lastModifiedBy>
  <cp:revision>9</cp:revision>
  <dcterms:created xsi:type="dcterms:W3CDTF">2019-12-28T13:51:56Z</dcterms:created>
  <dcterms:modified xsi:type="dcterms:W3CDTF">2026-02-09T00:40:38Z</dcterms:modified>
</cp:coreProperties>
</file>